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c:ser>
          <c:idx val="0"/>
          <c:order val="0"/>
          <c:tx>
            <c:strRef>
              <c:f>Sheet1!$B$1</c:f>
              <c:strCache>
                <c:ptCount val="1"/>
                <c:pt idx="0">
                  <c:v>문자</c:v>
                </c:pt>
              </c:strCache>
            </c:strRef>
          </c:tx>
          <c:dPt>
            <c:idx val="0"/>
            <c:spPr>
              <a:solidFill>
                <a:srgbClr val="C9D6E3"/>
              </a:solidFill>
            </c:spPr>
          </c:dPt>
          <c:dPt>
            <c:idx val="1"/>
            <c:spPr>
              <a:solidFill>
                <a:srgbClr val="0A7E85"/>
              </a:solidFill>
            </c:spPr>
          </c:dPt>
          <c:cat>
            <c:strRef>
              <c:f>Sheet1!$A$2:$A$3</c:f>
              <c:strCache>
                <c:ptCount val="2"/>
                <c:pt idx="0">
                  <c:v>Tiny C</c:v>
                </c:pt>
                <c:pt idx="1">
                  <c:v>KURE</c:v>
                </c:pt>
              </c:strCache>
            </c:strRef>
          </c:cat>
          <c:val>
            <c:numRef>
              <c:f>Sheet1!$B$2:$B$3</c:f>
              <c:numCache>
                <c:formatCode>General</c:formatCode>
                <c:ptCount val="2"/>
                <c:pt idx="0">
                  <c:v>35740</c:v>
                </c:pt>
                <c:pt idx="1">
                  <c:v>6404</c:v>
                </c:pt>
              </c:numCache>
            </c:numRef>
          </c:val>
        </c:ser>
        <c:dLbls>
          <c:numFmt formatCode="#,##0" sourceLinked="0"/>
          <c:txPr>
            <a:bodyPr/>
            <a:lstStyle/>
            <a:p>
              <a:pPr>
                <a:defRPr sz="1400" b="1">
                  <a:solidFill>
                    <a:srgbClr val="1B2A3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E2E8EE"/>
            </a:solidFill>
          </a:ln>
        </c:spPr>
        <c:txPr>
          <a:bodyPr/>
          <a:lstStyle/>
          <a:p>
            <a:pPr>
              <a:defRPr sz="1400"/>
            </a:pPr>
          </a:p>
        </c:txPr>
        <c:crossAx val="-2113994440"/>
        <c:crosses val="autoZero"/>
        <c:auto val="1"/>
        <c:lblAlgn val="ctr"/>
        <c:lblOffset val="100"/>
        <c:noMultiLvlLbl val="0"/>
      </c:catAx>
      <c:valAx>
        <c:axId val="-2113994440"/>
        <c:scaling>
          <c:max val="47000.0"/>
          <c:min val="0.0"/>
        </c:scaling>
        <c:delete/>
        <c:axPos val="b"/>
        <c:majorTickMark val="out"/>
        <c:minorTickMark val="none"/>
        <c:tickLblPos val="nextTo"/>
        <c:crossAx val="-2068027336"/>
        <c:crosses val="autoZero"/>
      </c:valAx>
    </c:plotArea>
    <c:dispBlanksAs val="gap"/>
  </c:chart>
  <c:txPr>
    <a:bodyPr/>
    <a:lstStyle/>
    <a:p>
      <a:pPr>
        <a:defRPr sz="1400">
          <a:solidFill>
            <a:srgbClr val="1B2A3A"/>
          </a:solidFill>
          <a:latin typeface="Malgun Gothic"/>
          <a:ea typeface="Malgun Gothi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통과</c:v>
                </c:pt>
              </c:strCache>
            </c:strRef>
          </c:tx>
          <c:spPr>
            <a:solidFill>
              <a:srgbClr val="0A7E85"/>
            </a:solidFill>
          </c:spPr>
          <c:cat>
            <c:strRef>
              <c:f>Sheet1!$A$2:$A$3</c:f>
              <c:strCache>
                <c:ptCount val="2"/>
                <c:pt idx="0">
                  <c:v>Qwen</c:v>
                </c:pt>
                <c:pt idx="1">
                  <c:v>Luna</c:v>
                </c:pt>
              </c:strCache>
            </c:strRef>
          </c:cat>
          <c:val>
            <c:numRef>
              <c:f>Sheet1!$B$2:$B$3</c:f>
              <c:numCache>
                <c:formatCode>General</c:formatCode>
                <c:ptCount val="2"/>
                <c:pt idx="1">
                  <c:v>25</c:v>
                </c:pt>
              </c:numCache>
            </c:numRef>
          </c:val>
        </c:ser>
        <c:ser>
          <c:idx val="1"/>
          <c:order val="1"/>
          <c:tx>
            <c:strRef>
              <c:f>Sheet1!$C$1</c:f>
              <c:strCache>
                <c:ptCount val="1"/>
                <c:pt idx="0">
                  <c:v>부분 충족</c:v>
                </c:pt>
              </c:strCache>
            </c:strRef>
          </c:tx>
          <c:spPr>
            <a:solidFill>
              <a:srgbClr val="B9822A"/>
            </a:solidFill>
          </c:spPr>
          <c:cat>
            <c:strRef>
              <c:f>Sheet1!$A$2:$A$3</c:f>
              <c:strCache>
                <c:ptCount val="2"/>
                <c:pt idx="0">
                  <c:v>Qwen</c:v>
                </c:pt>
                <c:pt idx="1">
                  <c:v>Luna</c:v>
                </c:pt>
              </c:strCache>
            </c:strRef>
          </c:cat>
          <c:val>
            <c:numRef>
              <c:f>Sheet1!$C$2:$C$3</c:f>
              <c:numCache>
                <c:formatCode>General</c:formatCode>
                <c:ptCount val="2"/>
                <c:pt idx="0">
                  <c:v>26</c:v>
                </c:pt>
                <c:pt idx="1">
                  <c:v>15</c:v>
                </c:pt>
              </c:numCache>
            </c:numRef>
          </c:val>
        </c:ser>
        <c:ser>
          <c:idx val="2"/>
          <c:order val="2"/>
          <c:tx>
            <c:strRef>
              <c:f>Sheet1!$D$1</c:f>
              <c:strCache>
                <c:ptCount val="1"/>
                <c:pt idx="0">
                  <c:v>실패</c:v>
                </c:pt>
              </c:strCache>
            </c:strRef>
          </c:tx>
          <c:spPr>
            <a:solidFill>
              <a:srgbClr val="C2553F"/>
            </a:solidFill>
          </c:spPr>
          <c:cat>
            <c:strRef>
              <c:f>Sheet1!$A$2:$A$3</c:f>
              <c:strCache>
                <c:ptCount val="2"/>
                <c:pt idx="0">
                  <c:v>Qwen</c:v>
                </c:pt>
                <c:pt idx="1">
                  <c:v>Luna</c:v>
                </c:pt>
              </c:strCache>
            </c:strRef>
          </c:cat>
          <c:val>
            <c:numRef>
              <c:f>Sheet1!$D$2:$D$3</c:f>
              <c:numCache>
                <c:formatCode>General</c:formatCode>
                <c:ptCount val="2"/>
                <c:pt idx="0">
                  <c:v>14</c:v>
                </c:pt>
              </c:numCache>
            </c:numRef>
          </c:val>
        </c:ser>
        <c:dLbls>
          <c:numFmt formatCode="#,##0" sourceLinked="0"/>
          <c:txPr>
            <a:bodyPr/>
            <a:lstStyle/>
            <a:p>
              <a:pPr>
                <a:defRPr sz="1300" b="1">
                  <a:solidFill>
                    <a:srgbClr val="FFFFFF"/>
                  </a:solidFill>
                </a:defRPr>
              </a:pPr>
            </a:p>
          </c:txPr>
          <c:dLblPos val="ctr"/>
          <c:showLegendKey val="0"/>
          <c:showVal val="1"/>
          <c:showCatName val="0"/>
          <c:showSerName val="0"/>
          <c:showPercent val="0"/>
          <c:showBubbleSize val="0"/>
          <c:showLeaderLines val="1"/>
        </c:dLbls>
        <c:gapWidth val="45"/>
        <c:overlap val="100"/>
        <c:axId val="-2068027336"/>
        <c:axId val="-2113994440"/>
      </c:barChart>
      <c:catAx>
        <c:axId val="-2068027336"/>
        <c:scaling>
          <c:orientation val="maxMin"/>
        </c:scaling>
        <c:delete val="0"/>
        <c:axPos val="l"/>
        <c:majorTickMark val="out"/>
        <c:minorTickMark val="none"/>
        <c:tickLblPos val="nextTo"/>
        <c:spPr>
          <a:ln>
            <a:solidFill>
              <a:srgbClr val="E2E8EE"/>
            </a:solidFill>
          </a:ln>
        </c:spPr>
        <c:txPr>
          <a:bodyPr/>
          <a:lstStyle/>
          <a:p>
            <a:pPr>
              <a:defRPr sz="1300"/>
            </a:pPr>
          </a:p>
        </c:txPr>
        <c:crossAx val="-2113994440"/>
        <c:crosses val="autoZero"/>
        <c:auto val="1"/>
        <c:lblAlgn val="ctr"/>
        <c:lblOffset val="100"/>
        <c:noMultiLvlLbl val="0"/>
      </c:catAx>
      <c:valAx>
        <c:axId val="-2113994440"/>
        <c:scaling>
          <c:max val="40.0"/>
          <c:min val="0.0"/>
        </c:scaling>
        <c:delete/>
        <c:axPos val="b"/>
        <c:majorTickMark val="out"/>
        <c:minorTickMark val="none"/>
        <c:tickLblPos val="nextTo"/>
        <c:crossAx val="-2068027336"/>
        <c:crosses val="autoZero"/>
      </c:valAx>
    </c:plotArea>
    <c:legend>
      <c:legendPos val="b"/>
      <c:overlay val="0"/>
      <c:txPr>
        <a:bodyPr/>
        <a:lstStyle/>
        <a:p>
          <a:pPr>
            <a:defRPr sz="1200"/>
          </a:pPr>
        </a:p>
      </c:txPr>
    </c:legend>
    <c:dispBlanksAs val="gap"/>
  </c:chart>
  <c:txPr>
    <a:bodyPr/>
    <a:lstStyle/>
    <a:p>
      <a:pPr>
        <a:defRPr sz="1300">
          <a:solidFill>
            <a:srgbClr val="1B2A3A"/>
          </a:solidFill>
          <a:latin typeface="Malgun Gothic"/>
          <a:ea typeface="Malgun Gothic"/>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a:t>
            </a:r>
          </a:p>
          <a:p/>
          <a:p>
            <a:r>
              <a:t>안녕하세요. 사내비 프로젝트를 소개할 LinkUp 팀 최재선입니다. 저희는 가상 회사 이음웍스에 업무 도우미를 도입하는 상황을 설정했습니다. 지금부터 개발 담당자의 관점에서 사내비를 만들며 고민한 문제와 선택 과정을 소개하겠습니다.</a:t>
            </a:r>
          </a:p>
          <a:p/>
          <a:p>
            <a:r>
              <a:t>진행 메모: 발표자의 개인 소개는 저, 팀이 진행한 개발과 검증은 저희로 표현합니다.</a:t>
            </a:r>
          </a:p>
          <a:p/>
          <a:p>
            <a:r>
              <a:t>조건·해석: 가상 회사 설정이며 실제 기업의 도입 실적을 주장하지 않는다. 오른쪽 답변은 10/16 질문 서비스 경로 진단 실행의 실제 응답 일부다.</a:t>
            </a:r>
          </a:p>
          <a:p/>
          <a:p>
            <a:r>
              <a:t>근거:</a:t>
            </a:r>
          </a:p>
          <a:p>
            <a:r>
              <a:t>서비스 아키텍처·참고 설계: https://github.com/KANT-2nd-project/sanaebi/blob/38d2f4c74e6a6127fe16c9e39379358db36e2db9/docs/service-architecture.md</a:t>
            </a:r>
          </a:p>
          <a:p>
            <a:r>
              <a:t>개발 중 RAG 4문항 진단·실제 답변: https://github.com/KANT-2nd-project/sanaebi/blob/38d2f4c74e6a6127fe16c9e39379358db36e2db9/retrieval/reports/2026-10-16-rag-minimal/README.md</a:t>
            </a:r>
          </a:p>
          <a:p>
            <a:r>
              <a:t>Notion 팀 역할·운영 규칙: https://www.notion.so/3f805a3cdadc81aa9f48d8445d372b80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0:20–0:50</a:t>
            </a:r>
          </a:p>
          <a:p/>
          <a:p>
            <a:r>
              <a:t>저는 프로젝트를 총괄하며 데이터·분류와 서비스 통합 등 개발 전반에 참여하고 일정을 조율했습니다. 윤승환님은 FastAPI 서버 API와 분류기를 맡았습니다. LangChain은 두 분이 협업했습니다. 유원호님은 LLM 연동을, 전항록님은 프롬프트 설계와 입력 전처리를 담당했습니다.</a:t>
            </a:r>
          </a:p>
          <a:p/>
          <a:p>
            <a:r>
              <a:t>진행 메모: 개인별 상세 기여는 Notion 개인 일지와 작업 기록으로 답합니다.</a:t>
            </a:r>
          </a:p>
          <a:p/>
          <a:p>
            <a:r>
              <a:t>조건·해석: 이번 사용자 정정을 우선해 역할을 수정했다. 최재선의 검증·제출 조율은 일정 조율로 정정하고 프로젝트 전반 기여는 유지했다. 윤승환은 FastAPI 서버 API·분류기, 유원호는 LangChain의 LLM 연동, 전항록은 LangChain의 프롬프트·입력 전처리를 담당했다. 기존 Notion 링크는 협업 기록의 참고이며 이번 정정이 Notion에 게시되었다는 뜻은 아니다. 투입 비율이나 단독 작성 비율을 주장하지 않는다.</a:t>
            </a:r>
          </a:p>
          <a:p/>
          <a:p>
            <a:r>
              <a:t>근거:</a:t>
            </a:r>
          </a:p>
          <a:p>
            <a:r>
              <a:t>Notion 팀 역할·운영 규칙: https://www.notion.so/3f805a3cdadc81aa9f48d8445d372b80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0:50–1:25</a:t>
            </a:r>
          </a:p>
          <a:p/>
          <a:p>
            <a:r>
              <a:t>연차를 처음 신청하는 상황을 생각해 보겠습니다. 자료가 있어도 어느 문서를 찾아야 하는지, 그 안에서 무엇을 확인해야 하는지부터 알아야 합니다. 기한과 경로를 읽고도 담당자에게 다시 물을 수 있습니다. 저희는 이 과정의 출발점을 바꾸고 싶었습니다. 구성원이 자연스럽게 질문하면 회사 문서를 근거로 안내하고, 할 수 없는 일은 분명하게 말하는 서비스가 사내비입니다.</a:t>
            </a:r>
          </a:p>
          <a:p/>
          <a:p>
            <a:r>
              <a:t>진행 메모: 세 단계는 상황 예시로 설명합니다.</a:t>
            </a:r>
          </a:p>
          <a:p/>
          <a:p>
            <a:r>
              <a:t>조건·해석: 설계 동기를 설명하는 상황 예시다. 직원 설문·실제 문의 빈도·시간 절감 실측이 아니다.</a:t>
            </a:r>
          </a:p>
          <a:p/>
          <a:p>
            <a:r>
              <a:t>근거:</a:t>
            </a:r>
          </a:p>
          <a:p>
            <a:r>
              <a:t>회사 지식 원문: https://github.com/KANT-2nd-project/sanaebi/blob/38d2f4c74e6a6127fe16c9e39379358db36e2db9/data/company-knowledge/documents.jsonl</a:t>
            </a:r>
          </a:p>
          <a:p>
            <a:r>
              <a:t>서비스 아키텍처·참고 설계: https://github.com/KANT-2nd-project/sanaebi/blob/38d2f4c74e6a6127fe16c9e39379358db36e2db9/docs/service-architecture.md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1:25–1:55</a:t>
            </a:r>
          </a:p>
          <a:p/>
          <a:p>
            <a:r>
              <a:t>실제로 연차 규정을 물었을 때의 답변입니다. 3영업일 전까지 이음 포털에서 신청하고, 접수 상태와 팀장의 회신을 확인하라고 안내했습니다. 개인의 잔여 일수를 조회하거나 신청을 대신하지는 않습니다. 연차뿐 아니라 비용 정산, IT와 보안 등 회사 문서에 있는 업무 절차를 안내하는 것이 이 프로젝트의 범위입니다.</a:t>
            </a:r>
          </a:p>
          <a:p/>
          <a:p>
            <a:r>
              <a:t>진행 메모: 왼쪽은 실제 응답의 일부이며 생략한 부분은 ‘…’로 표시했습니다.</a:t>
            </a:r>
          </a:p>
          <a:p/>
          <a:p>
            <a:r>
              <a:t>조건·해석: 10/16 질문 서비스 경로(분류→KURE→Luna) 진단 실행의 원응답 일부다. HTTP·브라우저 검사가 아니며 질문당 1회 AI 판정 기록이다.</a:t>
            </a:r>
          </a:p>
          <a:p/>
          <a:p>
            <a:r>
              <a:t>근거:</a:t>
            </a:r>
          </a:p>
          <a:p>
            <a:r>
              <a:t>개발 중 RAG 4문항 진단·실제 답변: https://github.com/KANT-2nd-project/sanaebi/blob/38d2f4c74e6a6127fe16c9e39379358db36e2db9/retrieval/reports/2026-10-16-rag-minimal/README.md</a:t>
            </a:r>
          </a:p>
          <a:p>
            <a:r>
              <a:t>회사 지식 원문: https://github.com/KANT-2nd-project/sanaebi/blob/38d2f4c74e6a6127fe16c9e39379358db36e2db9/data/company-knowledge/documents.jsonl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1:55–2:35</a:t>
            </a:r>
          </a:p>
          <a:p/>
          <a:p>
            <a:r>
              <a:t>전체 흐름을 먼저 보겠습니다. 위쪽은 질문이 들어오기 전의 준비입니다. 회사 문서를 작성하고 검수한 뒤, 검색할 수 있도록 작은 구간과 벡터로 준비합니다. 아래쪽이 질문 처리입니다. FastAPI가 질문을 받고 분류기가 요청 유형을 파악합니다. 관련 근거를 찾으면 LangChain이 입력을 묶어 Luna에 전달합니다. 마지막으로 응답을 확인해 전달하고, 실패하면 사용자에게 안내합니다. 분류 단계에는 Routing, 검색과 생성에는 RAG를 참고했습니다. 이제 이 순서대로 무엇을 선택했고 왜 그렇게 했는지 설명드리겠습니다.</a:t>
            </a:r>
          </a:p>
          <a:p/>
          <a:p>
            <a:r>
              <a:t>진행 메모: 위·아래 영역을 구분하고 화살표를 따라 설명합니다. 이후 장표의 오른쪽 위 단계 표시가 지금 설명하는 위치입니다.</a:t>
            </a:r>
          </a:p>
          <a:p/>
          <a:p>
            <a:r>
              <a:t>조건·해석: 발표 근거 커밋 38d2f4c 기준 advisory + KURE RAG·문맥 보충이다. 이전 개정본의 main d7f7ed1 운영 반영 표시는 이력으로만 보존한다. 세 라벨별 강제 차단이나 여러 생성 모델 선택을 뜻하지 않는다. 요청·오류 처리와 생성 응답 검사 근거는 서버 문서·코드에 연결하며 이번 개정에서 재실행하지 않았다.</a:t>
            </a:r>
          </a:p>
          <a:p/>
          <a:p>
            <a:r>
              <a:t>근거:</a:t>
            </a:r>
          </a:p>
          <a:p>
            <a:r>
              <a:t>서비스 아키텍처·참고 설계: https://github.com/KANT-2nd-project/sanaebi/blob/38d2f4c74e6a6127fe16c9e39379358db36e2db9/docs/service-architecture.md</a:t>
            </a:r>
          </a:p>
          <a:p>
            <a:r>
              <a:t>RAG 실행 기준: https://github.com/KANT-2nd-project/sanaebi/blob/38d2f4c74e6a6127fe16c9e39379358db36e2db9/docs/rag-runtime.md</a:t>
            </a:r>
          </a:p>
          <a:p>
            <a:r>
              <a:t>분류 참고 정보 후속 채택: https://github.com/KANT-2nd-project/sanaebi/blob/38d2f4c74e6a6127fe16c9e39379358db36e2db9/docs/worklogs/2026-10-16-adopt-advisory.md</a:t>
            </a:r>
          </a:p>
          <a:p>
            <a:r>
              <a:t>문맥 보충 후속 적용·운영 반영: https://github.com/KANT-2nd-project/sanaebi/blob/38d2f4c74e6a6127fe16c9e39379358db36e2db9/docs/worklogs/2026-10-16-rag-publication.md</a:t>
            </a:r>
          </a:p>
          <a:p>
            <a:r>
              <a:t>오류 응답 계약: https://github.com/KANT-2nd-project/sanaebi/blob/38d2f4c74e6a6127fe16c9e39379358db36e2db9/app/errors.py</a:t>
            </a:r>
          </a:p>
          <a:p>
            <a:r>
              <a:t>서버 구성 규약: https://github.com/KANT-2nd-project/sanaebi/blob/38d2f4c74e6a6127fe16c9e39379358db36e2db9/docs/server-conventions.md</a:t>
            </a:r>
          </a:p>
          <a:p>
            <a:r>
              <a:t>생성 응답 검사: https://github.com/KANT-2nd-project/sanaebi/blob/38d2f4c74e6a6127fe16c9e39379358db36e2db9/generation/validation.py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2:35–3:20</a:t>
            </a:r>
          </a:p>
          <a:p/>
          <a:p>
            <a:r>
              <a:t>먼저 가상 회사 이음웍스의 문서를 준비했습니다. GitLab에서는 휴가와 입퇴사의 역할·확인 절차를, PostHog에서는 온보딩과 고객 문의 인계 방식을 참고했습니다. 업무별로 필요한 절을 골라 절차와 담당 역할을 추출하고, 도구와 기한은 이음웍스 설정으로 따로 정했습니다. 이를 바탕으로 LLM이 한국어 초안을 작성했습니다. 별도 AI는 조건 누락과 문서 간 충돌을 확인했고, 보안 신고 링크가 잘못 연결된 부분 등을 고친 뒤 다시 검수했습니다. 초기 52개 문서를 보강하고 업무 안내 19개를 더해 총 71개로 정리했습니다.</a:t>
            </a:r>
          </a:p>
          <a:p/>
          <a:p>
            <a:r>
              <a:t>진행 메모: LLM 문서 작성은 사전 준비에만 해당합니다. 매 질문마다 새 회사 규정을 만들어 답하는 구조로 설명하지 않습니다. 이 작성 방식에 별도의 유명 패턴 이름을 붙이지 않습니다.</a:t>
            </a:r>
          </a:p>
          <a:p/>
          <a:p>
            <a:r>
              <a:t>조건·해석: sources.csv의 H01은 GitLab 휴가·온보딩·오프보딩 절, S01/S02는 PostHog 고객 문의·인계, S03은 온보딩이다. 업무 관련 구역과 활용 범위를 기록하고 회사 결정은 분리했다. 71개 최초 본문은 전량 검토했고 이후 수정 구역과 내부 링크를 재확인했다. 최종 71개 재전량 정독·외부 원문 전량 검증·사람 승인은 아니다. 원문을 일괄 복제·번역하거나 회사명만 바꾼 문서가 아니다.</a:t>
            </a:r>
          </a:p>
          <a:p/>
          <a:p>
            <a:r>
              <a:t>근거:</a:t>
            </a:r>
          </a:p>
          <a:p>
            <a:r>
              <a:t>회사 문서 구성과 작성·검수 계획: tmp/company-knowledge-sources-2026-10-14/construction-plan.md</a:t>
            </a:r>
          </a:p>
          <a:p>
            <a:r>
              <a:t>회사 문서 작성·검수 결과: tmp/company-knowledge-sources-2026-10-14/implementation-results.md</a:t>
            </a:r>
          </a:p>
          <a:p>
            <a:r>
              <a:t>71개 지식 보강 결과: tmp/knowledge-enrichment-implementation-2026-10-14/README.md</a:t>
            </a:r>
          </a:p>
          <a:p>
            <a:r>
              <a:t>공개 자료와 가상 회사 결정의 구분: data/local/company-knowledge-support-2026-10-14/current/SOURCE-NOTICES.md</a:t>
            </a:r>
          </a:p>
          <a:p>
            <a:r>
              <a:t>회사 문서 출처·확인 구역: data/local/company-knowledge-support-2026-10-14/current/sources.csv</a:t>
            </a:r>
          </a:p>
          <a:p>
            <a:r>
              <a:t>71개 문서 검수 범위와 수정 내역: data/local/company-knowledge-support-2026-10-14/current/reviews/current.json</a:t>
            </a:r>
          </a:p>
          <a:p>
            <a:r>
              <a:t>데이터 기준: https://github.com/KANT-2nd-project/sanaebi/blob/38d2f4c74e6a6127fe16c9e39379358db36e2db9/data/README.md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3:20–4:05</a:t>
            </a:r>
          </a:p>
          <a:p/>
          <a:p>
            <a:r>
              <a:t>질문 처리의 첫 단계는 분류입니다. 여기서 참고한 것이 Routing 패턴입니다. 요청을 먼저 분류하고 그에 맞는 후속 처리로 보내는 방식으로, Anthropic과 LangChain의 공개 자료를 참고했습니다. 처음에는 문서로 안내할 질문, 되물어야 할 질문, 지원 범위 밖 요청을 구분하면 각각에 맞는 안내를 할 수 있다고 생각했습니다. 그래서 세 유형을 정하고 분류 모델을 직접 학습했습니다. 다만 이 세 라벨과 처리 방향은 저희가 정한 초기 구상입니다. 실험을 해 보니 분류 결과를 어떻게 활용할지 다시 판단할 필요가 있었습니다.</a:t>
            </a:r>
          </a:p>
          <a:p/>
          <a:p>
            <a:r>
              <a:t>진행 메모: ‘대기업 공통 표준’이라고 하지 않고 ‘공개 자료에서 확인한 구성’으로 말합니다. 세 라벨은 사내비가 정한 기준입니다.</a:t>
            </a:r>
          </a:p>
          <a:p/>
          <a:p>
            <a:r>
              <a:t>조건·해석: 공개 자료 8곳(Anthropic·LangChain·Microsoft·AWS·Google·NVIDIA·NAVER Cloud·Snyk)은 입력 라우팅·근거 한정 답변·주제 가드레일을 서로 다른 책임으로 둔다. 이 3개 라벨과 사전 강제 차단을 업계 표준으로 볼 근거는 없다는 것이 재검토 결론이다.</a:t>
            </a:r>
          </a:p>
          <a:p/>
          <a:p>
            <a:r>
              <a:t>근거:</a:t>
            </a:r>
          </a:p>
          <a:p>
            <a:r>
              <a:t>Anthropic, Building Effective Agents (Routing): https://www.anthropic.com/engineering/building-effective-agents</a:t>
            </a:r>
          </a:p>
          <a:p>
            <a:r>
              <a:t>LangChain, Workflows and agents (Routing): https://docs.langchain.com/oss/python/langgraph/workflows-agents</a:t>
            </a:r>
          </a:p>
          <a:p>
            <a:r>
              <a:t>서비스 아키텍처·참고 설계: https://github.com/KANT-2nd-project/sanaebi/blob/38d2f4c74e6a6127fe16c9e39379358db36e2db9/docs/service-architecture.md</a:t>
            </a:r>
          </a:p>
          <a:p>
            <a:r>
              <a:t>분류기 책임과 기업 레퍼런스 검토: tmp/routing-architecture-reference-review-2026-10-15/README.md</a:t>
            </a:r>
          </a:p>
          <a:p>
            <a:r>
              <a:t>기업별 공개 자료 검토: tmp/routing-architecture-reference-review-2026-10-15/01-source-review.md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4:05–4:45</a:t>
            </a:r>
          </a:p>
          <a:p/>
          <a:p>
            <a:r>
              <a:t>처음에는 분류 결과로 답변 경로를 엄격히 나눴습니다. 그런데 개발 평가 점수는 높아도 정상적인 연차 질문을 범위 밖으로 예측했고, 문서가 있는데도 답변이 막혔습니다. 차단 없이 문서를 확인하게 하니 같은 연차 질문 두 종류가 두 번 모두 통과했습니다. 그래서 분류 하나에 답변 여부를 맡기지 않고, 라벨을 질문과 문서에 함께 전달하는 참고 정보로 바꿨습니다. 라벨이 틀릴 수 있다고 알리고 원질문과 근거를 우선하도록 했습니다. 라벨 전달의 일관된 품질 향상이 확인된 것은 아니며, 오분류의 영향을 줄이면서 분류 정보를 활용하려는 선택입니다.</a:t>
            </a:r>
          </a:p>
          <a:p/>
          <a:p>
            <a:r>
              <a:t>진행 메모: 현재 구조를 라벨별 차단이나 다중 LLM 라우팅으로 표현하지 않습니다.</a:t>
            </a:r>
          </a:p>
          <a:p/>
          <a:p>
            <a:r>
              <a:t>조건·해석: gate 25/40·shadow 30/40은 과거 full 조건의 두 반복 통과 문항 수다. 연차 RSH-001/002는 모두 UNSUPPORTED 예측이었다. 높은 개발 평가 점수와 별도 서비스 질문의 오류가 공존했음을 설명하며 학습 부족 등 미확인 원인은 단정하지 않는다. KURE 소규모 A/C 비교(4/5 대 3/5, 3/5 대 4/5)에서 일관된 우위는 없었고 사용자의 설계 결정으로 참고 전달을 채택했다. 라벨만으로 차단하지 않는다는 뜻이지 무관한 질문까지 자유롭게 답한다는 뜻은 아니다.</a:t>
            </a:r>
          </a:p>
          <a:p/>
          <a:p>
            <a:r>
              <a:t>근거:</a:t>
            </a:r>
          </a:p>
          <a:p>
            <a:r>
              <a:t>강제 차단과 관찰 경로 비교: https://github.com/KANT-2nd-project/sanaebi/blob/38d2f4c74e6a6127fe16c9e39379358db36e2db9/generation_evaluation/reports/2026-10-15-routing-shadow/README.md</a:t>
            </a:r>
          </a:p>
          <a:p>
            <a:r>
              <a:t>연차 질문의 차단 사례: https://github.com/KANT-2nd-project/sanaebi/blob/38d2f4c74e6a6127fe16c9e39379358db36e2db9/generation_evaluation/reports/2026-10-15-routing-shadow/case-results.md</a:t>
            </a:r>
          </a:p>
          <a:p>
            <a:r>
              <a:t>분류 참고 정보 후속 채택: https://github.com/KANT-2nd-project/sanaebi/blob/38d2f4c74e6a6127fe16c9e39379358db36e2db9/docs/worklogs/2026-10-16-adopt-advisory.md</a:t>
            </a:r>
          </a:p>
          <a:p>
            <a:r>
              <a:t>분류 참고 정보 A/C 비교: https://github.com/KANT-2nd-project/sanaebi/blob/38d2f4c74e6a6127fe16c9e39379358db36e2db9/generation_evaluation/reports/2026-10-16-advisory-adoption/README.md</a:t>
            </a:r>
          </a:p>
          <a:p>
            <a:r>
              <a:t>개발 중 RAG 4문항 진단·실제 답변: https://github.com/KANT-2nd-project/sanaebi/blob/38d2f4c74e6a6127fe16c9e39379358db36e2db9/retrieval/reports/2026-10-16-rag-minimal/README.md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4:45–5:55</a:t>
            </a:r>
          </a:p>
          <a:p/>
          <a:p>
            <a:r>
              <a:t>회사 문서 71개는 답변 근거이고, 질문 900개는 분류 학습과 평가 자료입니다. AI가 세 유형별 300개를 작성하고 별도로 라벨을 검수했습니다. 비슷한 상황의 질문은 같은 그룹으로 묶어 나눴습니다. 이 자료로 TF-IDF와 사전학습 모델 5종을 학습했습니다. Jev는 학습 예시 12개를 넣은 API 방식으로 추가 비교했습니다. 검증 점수는 RoBERTa가 가장 높았지만, 개발 test와 지연도 함께 보고 KoELECTRA를 선택했습니다. 135개 중 133개를 맞혀 BERT와 같았고 CPU 추론 시간은 더 짧았습니다. Jev는 130개를 맞혔으며, 검증과 test의 오류 9건 모두 추가 확인이 필요한 질문이었습니다. 합성 자료로 비교한 개발 결과라는 점은 남아 있습니다.</a:t>
            </a:r>
          </a:p>
          <a:p/>
          <a:p>
            <a:r>
              <a:t>진행 메모: Jev의 HTTP 시간은 CPU 연산 시간과 같은 조건의 속도 순위로 읽지 않습니다. 학습 과정과 전체 7종은 부록 A1에서 설명합니다.</a:t>
            </a:r>
          </a:p>
          <a:p/>
          <a:p>
            <a:r>
              <a:t>조건·해석: 학습632·검증133·개발 test135. 설정과 epoch는 검증 F1으로 선택했지만 후속 모델 선정에 개발 test도 참고했다. Jev는 가중치 학습 없이 train 예시12개 사용, 프롬프트 설계 시 전체 데이터 열람. 독립 최종 성능 평가가 아니다.</a:t>
            </a:r>
          </a:p>
          <a:p/>
          <a:p>
            <a:r>
              <a:t>근거:</a:t>
            </a:r>
          </a:p>
          <a:p>
            <a:r>
              <a:t>데이터 기준: https://github.com/KANT-2nd-project/sanaebi/blob/38d2f4c74e6a6127fe16c9e39379358db36e2db9/data/README.md</a:t>
            </a:r>
          </a:p>
          <a:p>
            <a:r>
              <a:t>분류 모델 비교: https://github.com/KANT-2nd-project/sanaebi/blob/38d2f4c74e6a6127fe16c9e39379358db36e2db9/classification/reports/2026-10-15-seven-model-comparison/README.md</a:t>
            </a:r>
          </a:p>
          <a:p>
            <a:r>
              <a:t>분류 모델 비교 CSV: https://github.com/KANT-2nd-project/sanaebi/blob/38d2f4c74e6a6127fe16c9e39379358db36e2db9/classification/reports/2026-10-15-seven-model-comparison/comparison.csv</a:t>
            </a:r>
          </a:p>
          <a:p>
            <a:r>
              <a:t>분류 학습 조건: https://github.com/KANT-2nd-project/sanaebi/blob/38d2f4c74e6a6127fe16c9e39379358db36e2db9/classification/reports/2026-10-15-learning-model-comparison/README.md</a:t>
            </a:r>
          </a:p>
          <a:p>
            <a:r>
              <a:t>KoELECTRA 선정: https://github.com/KANT-2nd-project/sanaebi/blob/38d2f4c74e6a6127fe16c9e39379358db36e2db9/docs/worklogs/2026-10-15-classifier-selection.md</a:t>
            </a:r>
          </a:p>
          <a:p>
            <a:r>
              <a:t>Jev API 분류 평가: https://github.com/KANT-2nd-project/sanaebi/blob/38d2f4c74e6a6127fe16c9e39379358db36e2db9/classification/reports/2026-10-15-jev-evaluation/README.md</a:t>
            </a:r>
          </a:p>
          <a:p>
            <a:r>
              <a:t>KoELECTRA 저장 학습 로그: artifacts/experiments/learning-comparison-2026-10-15/koelectra_base/model/metadata.json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5:55–6:40</a:t>
            </a:r>
          </a:p>
          <a:p/>
          <a:p>
            <a:r>
              <a:t>RAG를 도입한 목적은 세 가지입니다. 먼저 모델이 학습하지 않은 회사 규정을 답변에 활용하는 것입니다. 다음으로 질문에 필요한 문서와 조항을 찾아 전달합니다. 마지막으로 검색된 근거를 답변의 기준으로 삼아 사실 오류를 줄이려는 목적입니다. 전체 문서를 입력하던 방식도 회사 지식을 활용했습니다. RAG에서는 그중 질문에 맞는 근거를 찾는 단계를 더했습니다. 입력 토큰과 비용 부담을 줄일 수 있는 점은 부가적인 이점입니다. 저희가 실제로 확인한 검색 결과는 다음 비교에서 보여드리겠습니다.</a:t>
            </a:r>
          </a:p>
          <a:p/>
          <a:p>
            <a:r>
              <a:t>진행 메모: 세 핵심 목적을 먼저 설명하고, 비용은 마지막 한 문장으로만 다룹니다.</a:t>
            </a:r>
          </a:p>
          <a:p/>
          <a:p>
            <a:r>
              <a:t>조건·해석: 신뢰성 개선은 도입 목표와 설계 원리이며 사내비의 사실 오류 감소율을 측정했다는 주장이 아니다. 외부 지식의 최신성은 게시 문서와 색인에 반영된 범위에 달려 있다. 입력 절감 가능성과 임베딩·검색을 포함한 총비용 절감 실측은 별개다.</a:t>
            </a:r>
          </a:p>
          <a:p/>
          <a:p>
            <a:r>
              <a:t>근거:</a:t>
            </a:r>
          </a:p>
          <a:p>
            <a:r>
              <a:t>Anthropic, Contextual Retrieval (작은 지식 집합의 전체 입력): https://www.anthropic.com/engineering/contextual-retrieval</a:t>
            </a:r>
          </a:p>
          <a:p>
            <a:r>
              <a:t>Microsoft, RAG 프롬프트 설계 안내: https://learn.microsoft.com/en-us/azure/architecture/ai-ml/guide/rag/rag-prompt-engineering</a:t>
            </a:r>
          </a:p>
          <a:p>
            <a:r>
              <a:t>서비스 아키텍처·참고 설계: https://github.com/KANT-2nd-project/sanaebi/blob/38d2f4c74e6a6127fe16c9e39379358db36e2db9/docs/service-architecture.md</a:t>
            </a:r>
          </a:p>
          <a:p>
            <a:r>
              <a:t>RAG 실행 기준: https://github.com/KANT-2nd-project/sanaebi/blob/38d2f4c74e6a6127fe16c9e39379358db36e2db9/docs/rag-runtime.md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6:40–7:25</a:t>
            </a:r>
          </a:p>
          <a:p/>
          <a:p>
            <a:r>
              <a:t>처음에는 문서 71개를 매 질문에 모두 넣었습니다. 작은 지식 집합에서는 가능한 방식이지만, 로컬 실행에서 문맥 설정을 넘었고 설정을 늘려도 긴 입력의 처리 부담이 컸습니다. 그래서 질문을 벡터로 바꾸고 관련 문서 구간을 검색하는 방식을 도입했습니다. 검색된 구간은 겹친 부분을 합치고, 필요한 주변 절도 함께 전달합니다. 단순히 글을 적게 넣는 데 그치지 않고 답변에 필요한 조건과 절차가 남도록 문맥을 구성한 것입니다.</a:t>
            </a:r>
          </a:p>
          <a:p/>
          <a:p>
            <a:r>
              <a:t>진행 메모: 문서 준비와 색인은 앞의 전체 흐름에 연결합니다. 토큰 설정의 구체적인 숫자는 질문이 나오면 부록 A5에서 설명합니다.</a:t>
            </a:r>
          </a:p>
          <a:p/>
          <a:p>
            <a:r>
              <a:t>조건·해석: 약67k 토큰은 Qwen3 4B 로컬 실측. 초기 실행 문맥40,960을 넘었고98,304로 확대했다. 모델의 절대 최대 문맥이40,960이라는 뜻은 아니다. Lost in the Middle은 외부 연구이며 사내비 직접 실측이 아니다. 문맥 보충은 고정 검색 평가 이후 후속 적용이다.</a:t>
            </a:r>
          </a:p>
          <a:p/>
          <a:p>
            <a:r>
              <a:t>근거:</a:t>
            </a:r>
          </a:p>
          <a:p>
            <a:r>
              <a:t>Anthropic, Contextual Retrieval (작은 지식 집합의 전체 입력): https://www.anthropic.com/engineering/contextual-retrieval</a:t>
            </a:r>
          </a:p>
          <a:p>
            <a:r>
              <a:t>로컬 모델 문맥·속도 실측: https://github.com/KANT-2nd-project/sanaebi/blob/38d2f4c74e6a6127fe16c9e39379358db36e2db9/docs/worklogs/2026-10-15-generation-tps-quality.md</a:t>
            </a:r>
          </a:p>
          <a:p>
            <a:r>
              <a:t>Liu et al., Lost in the Middle (TACL 2024): https://aclanthology.org/2024.tacl-1.9/</a:t>
            </a:r>
          </a:p>
          <a:p>
            <a:r>
              <a:t>서비스 아키텍처·참고 설계: https://github.com/KANT-2nd-project/sanaebi/blob/38d2f4c74e6a6127fe16c9e39379358db36e2db9/docs/service-architecture.md</a:t>
            </a:r>
          </a:p>
          <a:p>
            <a:r>
              <a:t>RAG 실행 기준: https://github.com/KANT-2nd-project/sanaebi/blob/38d2f4c74e6a6127fe16c9e39379358db36e2db9/docs/rag-runtime.md</a:t>
            </a:r>
          </a:p>
          <a:p>
            <a:r>
              <a:t>문맥 보충과 근거 없는 요청 진단: https://github.com/KANT-2nd-project/sanaebi/blob/38d2f4c74e6a6127fe16c9e39379358db36e2db9/retrieval/reports/2026-10-16-rag-context-empty/README.md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7:25–8:10</a:t>
            </a:r>
          </a:p>
          <a:p/>
          <a:p>
            <a:r>
              <a:t>검색 모델은 두 구성 중 근거와 효율성을 함께 보고 선택했습니다. 필수 근거가 있는 25문항에서 Tiny C와 KURE 모두 필요한 근거를 포함했습니다. 그 상태에서 평균 전달 문자는 약 3만 6천 자에서 6천 4백 자로 줄었습니다. 관련 질문의 오차단은 둘 다 없었고, 무관한 질문의 차단은 둘 다 10개 중 4개였습니다. 근거를 유지하면서 전달량을 줄인 점을 우선해 KURE를 선택했습니다. 이후 필요한 절을 더 잘 전달하도록 문맥 보충을 추가했습니다.</a:t>
            </a:r>
          </a:p>
          <a:p/>
          <a:p>
            <a:r>
              <a:t>진행 메모: 25/25를 먼저 짚고 전달량 그래프로 이동합니다. 약82%를 비용이나 답변 정확도의 개선으로 설명하지 않습니다.</a:t>
            </a:r>
          </a:p>
          <a:p/>
          <a:p>
            <a:r>
              <a:t>조건·해석: Tiny C=KoEn-E5-Tiny 구성. 확인40문항, 필수 근거25, 관련 질문30, 무관10. 모델과 검색 정책이 함께 다른 구성 비교다. 당시 adopted=false와 후속 사용자 채택을 구분한다. 82%는 문맥 보충 전 전달 문자 비교이며 전체71문서 입력 대비도 아니다. 답변 생성 평가를 수행한 결과가 아니다.</a:t>
            </a:r>
          </a:p>
          <a:p/>
          <a:p>
            <a:r>
              <a:t>근거:</a:t>
            </a:r>
          </a:p>
          <a:p>
            <a:r>
              <a:t>KURE 고정 검색 평가: https://github.com/KANT-2nd-project/sanaebi/blob/38d2f4c74e6a6127fe16c9e39379358db36e2db9/retrieval/reports/2026-10-16-kure-gate/README.md</a:t>
            </a:r>
          </a:p>
          <a:p>
            <a:r>
              <a:t>KURE 평가 집계: https://github.com/KANT-2nd-project/sanaebi/blob/38d2f4c74e6a6127fe16c9e39379358db36e2db9/retrieval/reports/2026-10-16-kure-gate/summary.json</a:t>
            </a:r>
          </a:p>
          <a:p>
            <a:r>
              <a:t>KURE 후속 채택: https://github.com/KANT-2nd-project/sanaebi/blob/38d2f4c74e6a6127fe16c9e39379358db36e2db9/retrieval/reports/2026-10-16-kure-adoption/README.md</a:t>
            </a:r>
          </a:p>
          <a:p>
            <a:r>
              <a:t>개발 중 RAG 4문항 진단·실제 답변: https://github.com/KANT-2nd-project/sanaebi/blob/38d2f4c74e6a6127fe16c9e39379358db36e2db9/retrieval/reports/2026-10-16-rag-minimal/README.md</a:t>
            </a:r>
          </a:p>
          <a:p>
            <a:r>
              <a:t>문맥 보충과 근거 없는 요청 진단: https://github.com/KANT-2nd-project/sanaebi/blob/38d2f4c74e6a6127fe16c9e39379358db36e2db9/retrieval/reports/2026-10-16-rag-context-empty/README.md</a:t>
            </a:r>
          </a:p>
          <a:p>
            <a:r>
              <a:t>문맥 보충 후속 적용·운영 반영: https://github.com/KANT-2nd-project/sanaebi/blob/38d2f4c74e6a6127fe16c9e39379358db36e2db9/docs/worklogs/2026-10-16-rag-publication.md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8:10–9:10</a:t>
            </a:r>
          </a:p>
          <a:p/>
          <a:p>
            <a:r>
              <a:t>LangChain은 원질문, 검색한 문서, 분류 라벨을 하나의 생성 입력으로 묶습니다. 여기에 문서에 근거해 답하고 조회나 실행을 한 것처럼 말하지 않도록 공통 규칙을 적용했습니다. 다만 규칙을 넣는 것만으로 답변이 좋아지지는 않았습니다. 처음에는 ‘제공된 문서에는’처럼 내부 작성 규칙을 설명하는 말투가 나와, 질문에 바로 답하는 예시로 바꿨습니다. 그런데 말투를 다듬은 중간 후보는 담당자 인수에 관한 안내를 ‘15분 기다린다’는 지시로 바꿔 답했습니다. 그래서 시간과 선택 조건을 그대로 유지하도록 명시했습니다. 이후에는 긴 안내를 요약과 불릿, 실제 절차 번호로 나눴습니다. 읽기 편해져도 후속 인계나 기한이 빠질 수 있어, 문장 모양과 내용 누락을 함께 비교했습니다.</a:t>
            </a:r>
          </a:p>
          <a:p/>
          <a:p>
            <a:r>
              <a:t>진행 메모: 위 그림으로 입력 조립을 설명한 뒤 아래 세 사례를 짚습니다. 프롬프트의 상세 비교와 현재 선택은 부록 A9에 있습니다.</a:t>
            </a:r>
          </a:p>
          <a:p/>
          <a:p>
            <a:r>
              <a:t>조건·해석: v4의 15분 대기·OR→AND 왜곡은 미채택 중간 후보의 사례이며 현재도 같은 답을 한다는 주장이 아니다. v5는 직접 답변 예시·시간/선택 조건 보존을 반영했다. 후속 RAG v7은 사용자 선택으로 채택됐지만 사고 대응 인계 누락이 남았다. 이 부분만 근거 20dd130의 후속 일지를 추가하며, 기존 모델 선정·검색 수치를 최신 프롬프트 점수와 합산하지 않는다.</a:t>
            </a:r>
          </a:p>
          <a:p/>
          <a:p>
            <a:r>
              <a:t>근거:</a:t>
            </a:r>
          </a:p>
          <a:p>
            <a:r>
              <a:t>서비스 아키텍처·참고 설계: https://github.com/KANT-2nd-project/sanaebi/blob/38d2f4c74e6a6127fe16c9e39379358db36e2db9/docs/service-architecture.md</a:t>
            </a:r>
          </a:p>
          <a:p>
            <a:r>
              <a:t>분류 참고 정보 후속 채택: https://github.com/KANT-2nd-project/sanaebi/blob/38d2f4c74e6a6127fe16c9e39379358db36e2db9/docs/worklogs/2026-10-16-adopt-advisory.md</a:t>
            </a:r>
          </a:p>
          <a:p>
            <a:r>
              <a:t>생성 프롬프트 기준: https://github.com/KANT-2nd-project/sanaebi/blob/38d2f4c74e6a6127fe16c9e39379358db36e2db9/docs/generation-final-prompt.md</a:t>
            </a:r>
          </a:p>
          <a:p>
            <a:r>
              <a:t>Microsoft, RAG 프롬프트 설계 안내: https://learn.microsoft.com/en-us/azure/architecture/ai-ml/guide/rag/rag-prompt-engineering</a:t>
            </a:r>
          </a:p>
          <a:p>
            <a:r>
              <a:t>공개 프롬프트 비교와 적용 검토: tmp/prompt-reference-review-2026-10-15/03-comparison.md</a:t>
            </a:r>
          </a:p>
          <a:p>
            <a:r>
              <a:t>사용자용 말투·조건 보존 수정 일지: https://github.com/KANT-2nd-project/sanaebi/blob/38d2f4c74e6a6127fe16c9e39379358db36e2db9/docs/worklogs/2026-10-15-user-facing-prompt.md</a:t>
            </a:r>
          </a:p>
          <a:p>
            <a:r>
              <a:t>필수 안내 점검 프롬프트 비교 일지: https://github.com/KANT-2nd-project/sanaebi/blob/38d2f4c74e6a6127fe16c9e39379358db36e2db9/docs/worklogs/2026-10-15-generation-luna-prompt-experiment.md</a:t>
            </a:r>
          </a:p>
          <a:p>
            <a:r>
              <a:t>RAG 가독성 후보 비교 일지: https://github.com/KANT-2nd-project/sanaebi/blob/20dd130008569f058df4cdac24d02d0dd93baaaa/docs/worklogs/2026-10-16-rag-readability.md</a:t>
            </a:r>
          </a:p>
          <a:p>
            <a:r>
              <a:t>후속 v7 RAG 선택 기록: https://github.com/KANT-2nd-project/sanaebi/blob/20dd130008569f058df4cdac24d02d0dd93baaaa/docs/worklogs/2026-10-16-rag-v7-adoption.md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9:10–10:30</a:t>
            </a:r>
          </a:p>
          <a:p/>
          <a:p>
            <a:r>
              <a:t>답변 모델은 로컬 Qwen과 상용 API Luna 중 상대적으로 나은 쪽을 선택하기 위해 비교했습니다. 모델 선정 당시 문서 71개 전체를 넣고, 같은 20문항을 두 번씩 실행했습니다. 모델명을 가린 AI 검토로 문서 일치, 필수 안내, 없는 내용 추가 여부 등을 판정했습니다. Luna는 40응답 중 25개가 통과했고 15개는 부분 충족이었습니다. Qwen은 부분 충족 26개, 실패 14개였습니다. 통과가 없다는 것이 모든 내용이 틀렸다는 뜻은 아닙니다. 필요한 안내가 빠진 답변은 부분 충족으로 보았습니다. 문서에 없는 중요한 내용을 추가한 문항은 Qwen 5개, Luna 0개였습니다. 두 번 모두 통과한 문항과 응답 시간에서도 Luna가 나아 선택했습니다. Luna에도 필수 안내 누락 15응답은 남아 있습니다. 다음 장에서 실제로 어떤 기준으로 판정했는지 보겠습니다.</a:t>
            </a:r>
          </a:p>
          <a:p/>
          <a:p>
            <a:r>
              <a:t>진행 메모: 차트의 전체 판정에서 오른쪽 항목별 차이로 이동합니다. 시간은 이 실행 환경에서의 관측이며 모델 자체의 보편적 속도 순위가 아닙니다.</a:t>
            </a:r>
          </a:p>
          <a:p/>
          <a:p>
            <a:r>
              <a:t>조건·해석: 80응답·최종판정80건·경계재판정10건. full71문서·20문항×2회. Qwen 출력1024/GPU35/37층, Luna xhigh/출력4096으로 실행 설정이 다르다. 필수 누락 이슈33/40은 완전성 차원의 미충족35/40과 다른 집계다. Qwen 생성·형식 실패5응답은 내용 차원 평가 불가로 보존한다. 중대 오류는 문항 수5/20이며 오류 응답9/40과 구분한다. 항목별 이슈를 합산하지 않는다. 비용은 부록 A8에 보존한다.</a:t>
            </a:r>
          </a:p>
          <a:p/>
          <a:p>
            <a:r>
              <a:t>근거:</a:t>
            </a:r>
          </a:p>
          <a:p>
            <a:r>
              <a:t>로컬·상용 생성 모델 선정: https://github.com/KANT-2nd-project/sanaebi/blob/38d2f4c74e6a6127fe16c9e39379358db36e2db9/generation_evaluation/reports/2026-10-15-model-selection/reasoning-extension/README.md</a:t>
            </a:r>
          </a:p>
          <a:p>
            <a:r>
              <a:t>생성 비교 원집계: https://github.com/KANT-2nd-project/sanaebi/blob/38d2f4c74e6a6127fe16c9e39379358db36e2db9/generation_evaluation/reports/2026-10-15-model-selection/reasoning-extension/summary.json</a:t>
            </a:r>
          </a:p>
          <a:p>
            <a:r>
              <a:t>두 모델 원응답: https://github.com/KANT-2nd-project/sanaebi/blob/38d2f4c74e6a6127fe16c9e39379358db36e2db9/generation_evaluation/reports/2026-10-15-model-selection/reasoning-extension/comparison.md</a:t>
            </a:r>
          </a:p>
          <a:p>
            <a:r>
              <a:t>생성 모델 최종 판정: https://github.com/KANT-2nd-project/sanaebi/blob/38d2f4c74e6a6127fe16c9e39379358db36e2db9/generation_evaluation/reports/2026-10-15-model-selection/reasoning-extension/judgments.json</a:t>
            </a:r>
          </a:p>
          <a:p>
            <a:r>
              <a:t>생성 모델 실행 응답: https://github.com/KANT-2nd-project/sanaebi/blob/38d2f4c74e6a6127fe16c9e39379358db36e2db9/generation_evaluation/reports/2026-10-15-model-selection/reasoning-extension/responses.json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10:30–11:45</a:t>
            </a:r>
          </a:p>
          <a:p/>
          <a:p>
            <a:r>
              <a:t>답변은 세 가지를 중심으로 문서와 대조했습니다. 첫째, 누가 무엇을 하는지와 절차의 순서, 적용 조건이 원문과 같은지 봤습니다. 둘째, 질문 해결에 필요한 기한과 예외, 확인 절차가 빠지지 않았는지 확인했습니다. 셋째, 문서에 없는 승인 관계나 권한, 정책을 추가했는지 살폈습니다. 출입 카드 문서에는 People팀이 총무 요청을 만들고 총무 담당자가 본인에게 카드를 발급한다고 되어 있습니다. Qwen은 팀장의 확인과 승인한 계정을 발급 절차에 연결해 문서에 없는 승인 관계를 만들었으므로 실패였습니다. Luna는 문서의 주체와 순서를 반영해 통과했습니다. 반면 출장 변경 답변은 승인 총액이 20퍼센트를 넘게 늘면 재승인이 필요하다는 조건을 빠뜨려 부분 충족이었습니다. 이렇게 필요한 내용이 빠진 답변과 중요한 내용을 잘못 만든 답변을 구분했습니다. 전체 평가는 형식과 말투 등을 포함한 여덟 차원으로 했고, 상세 기준은 부록에 정리했습니다.</a:t>
            </a:r>
          </a:p>
          <a:p/>
          <a:p>
            <a:r>
              <a:t>진행 메모: 왼쪽의 기준을 설명한 뒤 오른쪽 세 판정 이유에 연결합니다. 개별 응답 시간을 평균처럼 소개하지 않습니다. 전체 8개 평가 차원과 절차는 부록 A7·A10에 있습니다.</a:t>
            </a:r>
          </a:p>
          <a:p/>
          <a:p>
            <a:r>
              <a:t>조건·해석: 전체 문서 입력 비교 EXT-N01 반복1: Qwen134.71초 fail, Luna14.12초 pass. EXT-N09 반복1 Luna19.21초 partial. 인용문은 원응답의 연속된 문장을 그대로 사용했고 판정 이유는 최종 판정 요약이다. 출입 문서 ieum-013, 출장 문서 ieum-016. 현재 RAG 새 실행이 아니다.</a:t>
            </a:r>
          </a:p>
          <a:p/>
          <a:p>
            <a:r>
              <a:t>근거:</a:t>
            </a:r>
          </a:p>
          <a:p>
            <a:r>
              <a:t>두 모델 원응답: https://github.com/KANT-2nd-project/sanaebi/blob/38d2f4c74e6a6127fe16c9e39379358db36e2db9/generation_evaluation/reports/2026-10-15-model-selection/reasoning-extension/comparison.md</a:t>
            </a:r>
          </a:p>
          <a:p>
            <a:r>
              <a:t>생성 모델 실행 응답: https://github.com/KANT-2nd-project/sanaebi/blob/38d2f4c74e6a6127fe16c9e39379358db36e2db9/generation_evaluation/reports/2026-10-15-model-selection/reasoning-extension/responses.json</a:t>
            </a:r>
          </a:p>
          <a:p>
            <a:r>
              <a:t>생성 모델 최종 판정: https://github.com/KANT-2nd-project/sanaebi/blob/38d2f4c74e6a6127fe16c9e39379358db36e2db9/generation_evaluation/reports/2026-10-15-model-selection/reasoning-extension/judgments.json</a:t>
            </a:r>
          </a:p>
          <a:p>
            <a:r>
              <a:t>회사 지식 원문: https://github.com/KANT-2nd-project/sanaebi/blob/38d2f4c74e6a6127fe16c9e39379358db36e2db9/data/company-knowledge/documents.jsonl</a:t>
            </a:r>
          </a:p>
          <a:p>
            <a:r>
              <a:t>로컬·상용 생성 모델 선정: https://github.com/KANT-2nd-project/sanaebi/blob/38d2f4c74e6a6127fe16c9e39379358db36e2db9/generation_evaluation/reports/2026-10-15-model-selection/reasoning-extension/README.md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11:45–13:45</a:t>
            </a:r>
          </a:p>
          <a:p/>
          <a:p>
            <a:r>
              <a:t>이제 사내비에서 직접 확인하겠습니다. 먼저 연차 규정을 질문하겠습니다. 답변이 나오면 신청 기한과 경로, 신청 뒤 확인할 내용이 문서와 맞는지 보겠습니다. 다음으로 회사 업무와 관계없는 질문을 보내 보겠습니다. 이때 어떤 범위까지 안내할 수 있다고 설명하는지 확인하겠습니다. 저희가 연결한 분류와 검색, 생성의 흐름이 실제 질문에서 어떻게 나타나는지 보는 과정입니다.</a:t>
            </a:r>
          </a:p>
          <a:p/>
          <a:p>
            <a:r>
              <a:t>진행 메모: 0–10초 서비스 진입, 10–55초 연차 질문·응답 확인, 55–100초 범위 밖 질문·응답 확인, 100–120초 설명 후 장표 복귀. 연차 질문은 ‘우리 회사 연차 규정에 대해 알려줘’, 범위 밖 질문은 ‘세그먼트 트리에 대해 설명해줘’를 사용합니다. 지연이 길면 개발 과정에서 확인한 자료임을 밝히고 부록 A11로 이동합니다. 발표자료 제작 중 새 질문 호출은 하지 않습니다.</a:t>
            </a:r>
          </a:p>
          <a:p/>
          <a:p>
            <a:r>
              <a:t>조건·해석: 두 질문은 독립 입력이다. 현재 응답의 성공이나 문구를 사전에 확정하지 않는다. 공개 데모의 가상 문서 이용 조건은 서비스 안내를 따른다. 자료 제작 중 새 유료 호출·녹화·운영 문서 쓰기는 하지 않았다.</a:t>
            </a:r>
          </a:p>
          <a:p/>
          <a:p>
            <a:r>
              <a:t>근거:</a:t>
            </a:r>
          </a:p>
          <a:p>
            <a:r>
              <a:t>공개 서비스: https://sanaebi.29232923.xyz/chat</a:t>
            </a:r>
          </a:p>
          <a:p>
            <a:r>
              <a:t>프로젝트 코드와 실험 기록: https://github.com/KANT-2nd-project/sanaebi</a:t>
            </a:r>
          </a:p>
          <a:p>
            <a:r>
              <a:t>문맥 보충 8회 실제 답변: https://github.com/KANT-2nd-project/sanaebi/blob/38d2f4c74e6a6127fe16c9e39379358db36e2db9/retrieval/reports/2026-10-16-rag-context-empty/case-results.md</a:t>
            </a:r>
          </a:p>
          <a:p>
            <a:r>
              <a:t>개발 중 RAG 4문항 진단·실제 답변: https://github.com/KANT-2nd-project/sanaebi/blob/38d2f4c74e6a6127fe16c9e39379358db36e2db9/retrieval/reports/2026-10-16-rag-minimal/README.md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13:45–14:00</a:t>
            </a:r>
          </a:p>
          <a:p/>
          <a:p>
            <a:r>
              <a:t>이상으로 사내비 프로젝트 발표를 마치겠습니다. 문서를 준비하고 분류와 검색, 답변 생성을 연결하며 어떤 선택을 했는지 말씀드렸습니다. 들어 주셔서 감사합니다. 질문을 받겠습니다.</a:t>
            </a:r>
          </a:p>
          <a:p/>
          <a:p>
            <a:r>
              <a:t>진행 메모: 본문 14분, 시연 2분 포함. 전환 여유 1분과 Q&amp;A 3분은 별도입니다. 예상 질문별 부록은 아래에 이어집니다.</a:t>
            </a:r>
          </a:p>
          <a:p/>
          <a:p>
            <a:r>
              <a:t>조건·해석: 가상 회사의 서비스 출시 설정을 활용한 프로젝트 결과 발표다.</a:t>
            </a:r>
          </a:p>
          <a:p/>
          <a:p>
            <a:r>
              <a:t>근거:</a:t>
            </a:r>
          </a:p>
          <a:p>
            <a:r>
              <a:t>프로젝트 코드와 실험 기록: https://github.com/KANT-2nd-project/sanaebi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예상 질문: 검증 F1이 1.0000인 RoBERTa를 왜 선택하지 않았나요? 검증 한 지표만 보지 않고 개발 test와 지연을 함께 보았습니다. KoELECTRA와 BERT는 개발 test 135개 중 133개로 같았고, 같은 CPU 조건에서 KoELECTRA가 17.91ms로 BERT 20.20ms보다 짧았습니다. TF-IDF는 0.32ms로 가장 빠르지만 개발 test가132/135였습니다. Jev는 130/135이고 HTTP 시간이므로 CPU와 직접 순위 비교하지 않습니다. F1은 각 라벨의 precision과 recall을 함께 반영하며 Macro-F1은 세 라벨의 F1을 같은 비중으로 평균합니다. 전체 7종의 비교와 실제 학습 과정입니다. TF-IDF는 문자 2에서 5그램과 balanced Logistic Regression을 사용하고 C를 0.1, 0.5, 1, 10으로 비교했습니다. Transformer는 학습률 2e-5와 5e-5에서 3개 epoch를 비교했습니다. KoELECTRA는 학습률 2e-5의 2epoch 저장본을 선택했습니다. loss는 계속 줄었지만 검증 F1은 2epoch에서 가장 높았습니다. Jev는 가중치 학습 없이 train 예시 12개를 넣었습니다. 검증 4건과 개발 test 5건의 오류가 모두 CLARIFY였습니다.</a:t>
            </a:r>
          </a:p>
          <a:p/>
          <a:p>
            <a:r>
              <a:t>진행 메모: 저장본을 서버에 연결했는지 질문받으면 당시 예측133/133 일치 기록을 연결 근거로 설명합니다. 이는 정답률이 아닙니다.</a:t>
            </a:r>
          </a:p>
          <a:p/>
          <a:p>
            <a:r>
              <a:t>조건·해석: 900개 합성·AI 검수 질문,392그룹,seed20261013. Transformer 최대256토큰,batch4. CPU4스레드,batch1에서 검증133건을 준비 실행 후3회 측정. Jev HTTP194.50ms는 검증133개1회씩의 요청 시간이며 test는203.73ms. 표의3epoch 관측만으로 과적합을 확정하지 않는다. 개발 test는 후속 모델 선정에도 참고했으므로 독립 최종 평가가 아니다.</a:t>
            </a:r>
          </a:p>
          <a:p/>
          <a:p>
            <a:r>
              <a:t>근거:</a:t>
            </a:r>
          </a:p>
          <a:p>
            <a:r>
              <a:t>분류 모델 비교: https://github.com/KANT-2nd-project/sanaebi/blob/38d2f4c74e6a6127fe16c9e39379358db36e2db9/classification/reports/2026-10-15-seven-model-comparison/README.md</a:t>
            </a:r>
          </a:p>
          <a:p>
            <a:r>
              <a:t>분류 모델 비교 CSV: https://github.com/KANT-2nd-project/sanaebi/blob/38d2f4c74e6a6127fe16c9e39379358db36e2db9/classification/reports/2026-10-15-seven-model-comparison/comparison.csv</a:t>
            </a:r>
          </a:p>
          <a:p>
            <a:r>
              <a:t>분류 학습 조건: https://github.com/KANT-2nd-project/sanaebi/blob/38d2f4c74e6a6127fe16c9e39379358db36e2db9/classification/reports/2026-10-15-learning-model-comparison/README.md</a:t>
            </a:r>
          </a:p>
          <a:p>
            <a:r>
              <a:t>데이터 기준: https://github.com/KANT-2nd-project/sanaebi/blob/38d2f4c74e6a6127fe16c9e39379358db36e2db9/data/README.md</a:t>
            </a:r>
          </a:p>
          <a:p>
            <a:r>
              <a:t>Jev API 분류 평가: https://github.com/KANT-2nd-project/sanaebi/blob/38d2f4c74e6a6127fe16c9e39379358db36e2db9/classification/reports/2026-10-15-jev-evaluation/README.md</a:t>
            </a:r>
          </a:p>
          <a:p>
            <a:r>
              <a:t>KoELECTRA 저장 학습 로그: artifacts/experiments/learning-comparison-2026-10-15/koelectra_base/model/metadata.json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예상 질문: 실제 직원 질문인가요, 데이터 누수는 어떻게 막았나요? 질문 900개는 실제 직원 대화가 아니라 인사·조직, IT·보안, 비용·사무환경 영역에서 새로 만든 합성 자료입니다. 각 라벨을 300개씩 맞췄습니다. 90개를 먼저 검토한 뒤 810개를 추가했고, 작성에 참여하지 않은 Luna와 Astra가 후보 라벨과 작성자 정보를 가린 상태에서 전량을 각각 검수했습니다. 최종 질문 기준 두 검수자의 라벨 일치는 884개이며, 의견 차이나 품질 지적 21건은 원판정을 보존하면서 조정했습니다. 질문 수정 후 다시 검수한 문항은 146개입니다. 같은 상황의 표현 변형과 안내·실행 대조 질문을 392그룹으로 묶고 그룹이 다른 분할에 걸치지 않도록 나눴습니다. 그래서 학습632·검증133·개발 test135로 정확한 70:15:15와는 조금 다릅니다. 그룹과 정규화된 문장 중복은 분할 사이에 없지만 의미상 유사성을 완전히 제거했다고 주장하지 않습니다.</a:t>
            </a:r>
          </a:p>
          <a:p/>
          <a:p>
            <a:r>
              <a:t>진행 메모: 라벨 경계 예시: ‘연차 신청 방법’은 검색, ‘연차 신청 도와줘’는 추가 확인, ‘연차를 신청해 줘’는 실제 실행 요청입니다. 질문과 실행 요청이 섞이면 안내 가능한 부분을 답하도록 검색 라벨을 부여했습니다.</a:t>
            </a:r>
          </a:p>
          <a:p/>
          <a:p>
            <a:r>
              <a:t>조건·해석: StratifiedGroupKFold 20 folds·seed20261013, 0–13 train/14–16 validation/17–19 test. 정규화 완전 중복0, 문자열 유사도0.85 이상 쌍0은 의미 독립성의 증명이 아니다. 사람 정답 승인0. 개발 test를 모델 선택에도 참고했으므로 독립 최종 평가로 부르지 않는다.</a:t>
            </a:r>
          </a:p>
          <a:p/>
          <a:p>
            <a:r>
              <a:t>근거:</a:t>
            </a:r>
          </a:p>
          <a:p>
            <a:r>
              <a:t>데이터 기준: https://github.com/KANT-2nd-project/sanaebi/blob/38d2f4c74e6a6127fe16c9e39379358db36e2db9/data/README.md</a:t>
            </a:r>
          </a:p>
          <a:p>
            <a:r>
              <a:t>분류 학습 조건: https://github.com/KANT-2nd-project/sanaebi/blob/38d2f4c74e6a6127fe16c9e39379358db36e2db9/classification/reports/2026-10-15-learning-model-comparison/README.md</a:t>
            </a:r>
          </a:p>
          <a:p>
            <a:r>
              <a:t>분류 모델 비교: https://github.com/KANT-2nd-project/sanaebi/blob/38d2f4c74e6a6127fe16c9e39379358db36e2db9/classification/reports/2026-10-15-seven-model-comparison/README.md</a:t>
            </a:r>
          </a:p>
          <a:p>
            <a:r>
              <a:t>Jev API 분류 평가: https://github.com/KANT-2nd-project/sanaebi/blob/38d2f4c74e6a6127fe16c9e39379358db36e2db9/classification/reports/2026-10-15-jev-evaluation/README.md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예상 질문: 차단하지 않으면 분류기가 필요 없는 것 아닌가요? 분류 없이 문서로만 답하는 비교 경로도 유지했습니다. 현재는 분류가 질문 의도에 대한 보조 신호를 제공하되 잘못된 예측이 답변을 완전히 막지 않도록 역할을 낮췄습니다. 이를 빼도 답변 경로는 성립하며 라벨 전달의 독립적 품질 개선을 입증한 것은 아닙니다. 초기에는 Routing을 참고해 유형에 따라 안내를 결정하려 했습니다. 정상 연차 질문의 차단을 확인한 뒤 관찰 단계를 거쳤고, 이후 설계 결정으로 참고 전달을 채택했습니다. 현재는 정상 서버 예측만 전달하며 알려진 분류 장애이면 라벨 없이 진행합니다. 클라이언트가 보낸 라벨은 생성 프롬프트에 넣지 않습니다. C에는 공통 지침과 라벨이 함께 들어가므로 라벨 자체의 독립 효과를 분리하지 못했습니다.</a:t>
            </a:r>
          </a:p>
          <a:p/>
          <a:p>
            <a:r>
              <a:t>조건·해석: 작은 합성 자료·AI 판정이며 독립 효과를 주장하지 않는다. 앞선 보류·미채택 점수를 수정하지 않는다.</a:t>
            </a:r>
          </a:p>
          <a:p/>
          <a:p>
            <a:r>
              <a:t>근거:</a:t>
            </a:r>
          </a:p>
          <a:p>
            <a:r>
              <a:t>Anthropic, Building Effective Agents (Routing): https://www.anthropic.com/engineering/building-effective-agents</a:t>
            </a:r>
          </a:p>
          <a:p>
            <a:r>
              <a:t>강제 차단과 관찰 경로 비교: https://github.com/KANT-2nd-project/sanaebi/blob/38d2f4c74e6a6127fe16c9e39379358db36e2db9/generation_evaluation/reports/2026-10-15-routing-shadow/README.md</a:t>
            </a:r>
          </a:p>
          <a:p>
            <a:r>
              <a:t>분류 참고 정보 후속 채택: https://github.com/KANT-2nd-project/sanaebi/blob/38d2f4c74e6a6127fe16c9e39379358db36e2db9/docs/worklogs/2026-10-16-adopt-advisory.md</a:t>
            </a:r>
          </a:p>
          <a:p>
            <a:r>
              <a:t>분류 참고 정보 A/C 비교: https://github.com/KANT-2nd-project/sanaebi/blob/38d2f4c74e6a6127fe16c9e39379358db36e2db9/generation_evaluation/reports/2026-10-16-advisory-adoption/README.md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예상 질문: 어떤 기업 자료를 가져왔고 AI가 쓴 문서는 어떻게 검수했나요? GitLab의 휴가·온보딩·오프보딩에서 역할 분담과 단계, 완료 확인 구조를 참고했습니다. PostHog에서는 첫 주와 직무별 온보딩, 고객 문의 접수·후속 응답·담당자 인계 구조를 확인했습니다. 출처 표에는 URL뿐 아니라 읽은 구역, 확인한 사실, 활용 범위와 판본을 기록했습니다. 초기에는 12문서·48평가 질문을 파일럿으로 만든 후 52문서로 넓혔고, 이후 19개 업무 안내를 추가하면서 기존 본문을 보강했습니다. 최종 보강 단계의 출처는 27개, 회사 결정은 70개입니다. 회사 도구와 기한, 금액·담당 역할을 외부 사실로 가장하지 않고 별도 가상 설정으로 관리했습니다. 별도 AI가 최초71개 본문을 전량 검토하고 수정 부분과 내부 링크를 다시 봤습니다. 보안 신고 링크 오연결, 첫 로그인 MFA 시점, 조직 이동 시 권한 회수 기한 같은 문제를 고쳤습니다. 검수와 해시 기록이 남아 있지만 사람이 실제 회사 정책으로 승인한 것은 아닙니다.</a:t>
            </a:r>
          </a:p>
          <a:p/>
          <a:p>
            <a:r>
              <a:t>진행 메모: 71문서의 검수와 초기52문서·208평가 질문은 다른 단계입니다. 208문항을 현재71문서 전체의 검증 수로 소개하지 않습니다. 학습용900질문도 별도 자료입니다.</a:t>
            </a:r>
          </a:p>
          <a:p/>
          <a:p>
            <a:r>
              <a:t>조건·해석: 기록 범위는 최초71개 전량 검토+변경구역 재조회다. 최종71개를 처음부터 다시 전량 읽은 것, 외부 원문 전량 검증, 실제 사업장 적용이나 법률 검토를 뜻하지 않는다. 회사 자료는 한국어로 독립 집필했으며 일괄 복사·번역·회사명 치환 방식이 아니다.</a:t>
            </a:r>
          </a:p>
          <a:p/>
          <a:p>
            <a:r>
              <a:t>근거:</a:t>
            </a:r>
          </a:p>
          <a:p>
            <a:r>
              <a:t>회사 문서 작성·검수 결과: tmp/company-knowledge-sources-2026-10-14/implementation-results.md</a:t>
            </a:r>
          </a:p>
          <a:p>
            <a:r>
              <a:t>71개 지식 보강 결과: tmp/knowledge-enrichment-implementation-2026-10-14/README.md</a:t>
            </a:r>
          </a:p>
          <a:p>
            <a:r>
              <a:t>공개 자료와 가상 회사 결정의 구분: data/local/company-knowledge-support-2026-10-14/current/SOURCE-NOTICES.md</a:t>
            </a:r>
          </a:p>
          <a:p>
            <a:r>
              <a:t>회사 문서 출처·확인 구역: data/local/company-knowledge-support-2026-10-14/current/sources.csv</a:t>
            </a:r>
          </a:p>
          <a:p>
            <a:r>
              <a:t>71개 문서 검수 범위와 수정 내역: data/local/company-knowledge-support-2026-10-14/current/reviews/current.json</a:t>
            </a:r>
          </a:p>
          <a:p>
            <a:r>
              <a:t>데이터 기준: https://github.com/KANT-2nd-project/sanaebi/blob/38d2f4c74e6a6127fe16c9e39379358db36e2db9/data/README.md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예상 질문: 하한 0.4288과 상위 20은 어떻게 정했나요? 기존 48개와 새 20개를 합친 개발 68문항에서 관련 질문을 차단하지 않는 하한 중 무관 질문 차단이 가장 많은 값을 고르고, 동률이면 낮은 값을 택했습니다. 정확한 값은 0.42882221937179565이며 확인 40문항을 본 뒤 다시 조정하지 않았습니다. 상위20은 비교한 후보 설정이지 모든 자료에서 최적인 수라는 뜻은 아닙니다. 확인에서는 필수 근거 25/25와 관련 오차단 0/30, 무관 차단 4/10이 두 구성에서 같았고 전달량이 작은 KURE를 선택했습니다. KURE-v1은 CPU FP32, CLS pooling, L2 정규화, 1024차원입니다. 질문 최고 cosine이 0.4288 이상이면 병합 전 상위 20청크를 고르고, 개별 청크 하한은 두지 않습니다. 확인 40문항의 필수 근거 분모는 25, 관련 오차단 분모는 30입니다. 이후 문맥 보충은 최대3문서·추가6,000자 설정입니다. 별도 8회 진단에서 사고 대응의 핵심 절을 복원했지만 원문 정책의 표현 차이도 남았습니다.</a:t>
            </a:r>
          </a:p>
          <a:p/>
          <a:p>
            <a:r>
              <a:t>진행 메모: CPU 지연 질문: 개발PC의 실제 서버 검색 경로에서 동시 1 warm p95 164.13ms, 동시 2 329.03ms였다. SQLite snapshot과 벡터 조회·질문인코딩·병합·잠금대기를 포함하지만 HTTP·분류·LLM·동시 worker는 제외한다. 운영서버 성능 수치로 소개하지 않는다.</a:t>
            </a:r>
          </a:p>
          <a:p/>
          <a:p>
            <a:r>
              <a:t>조건·해석: 검색 당시 adopted=false는 보존한다. 기존 전체 문서 입력은 약67k토큰으로 Qwen 초기 문맥 설정40,960을 넘었고98,304로 확대했다. 현재 RAG 신규 프로필+문맥 보충의 결합 실답변 반복 평가는 이 기록에서 미실행.</a:t>
            </a:r>
          </a:p>
          <a:p/>
          <a:p>
            <a:r>
              <a:t>근거:</a:t>
            </a:r>
          </a:p>
          <a:p>
            <a:r>
              <a:t>KURE 고정 검색 평가: https://github.com/KANT-2nd-project/sanaebi/blob/38d2f4c74e6a6127fe16c9e39379358db36e2db9/retrieval/reports/2026-10-16-kure-gate/README.md</a:t>
            </a:r>
          </a:p>
          <a:p>
            <a:r>
              <a:t>KURE 평가 집계: https://github.com/KANT-2nd-project/sanaebi/blob/38d2f4c74e6a6127fe16c9e39379358db36e2db9/retrieval/reports/2026-10-16-kure-gate/summary.json</a:t>
            </a:r>
          </a:p>
          <a:p>
            <a:r>
              <a:t>KURE 후속 채택: https://github.com/KANT-2nd-project/sanaebi/blob/38d2f4c74e6a6127fe16c9e39379358db36e2db9/retrieval/reports/2026-10-16-kure-adoption/README.md</a:t>
            </a:r>
          </a:p>
          <a:p>
            <a:r>
              <a:t>문맥 보충과 근거 없는 요청 진단: https://github.com/KANT-2nd-project/sanaebi/blob/38d2f4c74e6a6127fe16c9e39379358db36e2db9/retrieval/reports/2026-10-16-rag-context-empty/README.md</a:t>
            </a:r>
          </a:p>
          <a:p>
            <a:r>
              <a:t>문맥 보충 후속 적용·운영 반영: https://github.com/KANT-2nd-project/sanaebi/blob/38d2f4c74e6a6127fe16c9e39379358db36e2db9/docs/worklogs/2026-10-16-rag-publication.md</a:t>
            </a:r>
          </a:p>
          <a:p>
            <a:r>
              <a:t>RAG 실행 기준: https://github.com/KANT-2nd-project/sanaebi/blob/38d2f4c74e6a6127fe16c9e39379358db36e2db9/docs/rag-runtime.md</a:t>
            </a:r>
          </a:p>
          <a:p>
            <a:r>
              <a:t>로컬 모델 문맥·속도 실측: https://github.com/KANT-2nd-project/sanaebi/blob/38d2f4c74e6a6127fe16c9e39379358db36e2db9/docs/worklogs/2026-10-15-generation-tps-quality.md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예상 질문: RAG가 있는데 왜 틀리거나 안내가 빠지나요? 먼저 필요한 문서 구간이 검색 결과에 들어왔는지 보고, 다음으로 실제 생성 입력에 전달됐는지, 마지막으로 모델이 그 조건을 답변에 반영했는지 구분했습니다. 문맥 보충 실험은 연차와 사고 질문을 보충 전후 각1회 실행한4응답입니다. 연차는 양쪽 통과였고 사고는 기존 답변이 형식 실패, 보충 답변은 부분 충족이었습니다. 보충으로 핵심 근거를 복원했지만 서로 다른 문서의 신고 경로가 ‘또는’과 ‘와’로 다른 문제를 드러냈습니다. 이는 모델이 임의로 어느 문서가 우선인지 정할 문제가 아닙니다. 별도의 인사·도움 소개·범위 밖·미기재 복지4질문은 모두 내용 기준을 충족했으며, 실제 검색0건은 인사와 범위 밖 두 질문입니다. 이후 RAG 가독성 비교에서는 사고 대응 근거가 입력에 있었는데도 후속 인계가 답변에서 빠졌습니다. 이런 경우는 검색 실패로 분류하지 않고 생성의 완전성 문제로 다룹니다.</a:t>
            </a:r>
          </a:p>
          <a:p/>
          <a:p>
            <a:r>
              <a:t>진행 메모: 왜82% 감소 후 문맥을 더 넣었냐는 질문에는 ‘전달량만 줄이는 것보다 필요한 조건을 빠뜨리지 않는 것이 우선이라 주변 절을 보충했다’고 답합니다. 82%는 보충 전 비교입니다.</a:t>
            </a:r>
          </a:p>
          <a:p/>
          <a:p>
            <a:r>
              <a:t>조건·해석: 8회 진단은 구성별 조건이 다르다. 문맥 보충 비교는 v5, 인사 등은 신규 RAG 서비스 프로필·확장 없음이다. 사고 원래 응답은 파싱 실패1건이며 보충 응답은20.525초·부분. 후속 v7 비교24회와 합산하지 않는다. 현재 모든 질문에서 안정적이라는 주장이 아니다.</a:t>
            </a:r>
          </a:p>
          <a:p/>
          <a:p>
            <a:r>
              <a:t>근거:</a:t>
            </a:r>
          </a:p>
          <a:p>
            <a:r>
              <a:t>문맥 보충과 근거 없는 요청 진단: https://github.com/KANT-2nd-project/sanaebi/blob/38d2f4c74e6a6127fe16c9e39379358db36e2db9/retrieval/reports/2026-10-16-rag-context-empty/README.md</a:t>
            </a:r>
          </a:p>
          <a:p>
            <a:r>
              <a:t>문맥 보충 8회 실제 답변: https://github.com/KANT-2nd-project/sanaebi/blob/38d2f4c74e6a6127fe16c9e39379358db36e2db9/retrieval/reports/2026-10-16-rag-context-empty/case-results.md</a:t>
            </a:r>
          </a:p>
          <a:p>
            <a:r>
              <a:t>문맥 보충 후속 적용·운영 반영: https://github.com/KANT-2nd-project/sanaebi/blob/38d2f4c74e6a6127fe16c9e39379358db36e2db9/docs/worklogs/2026-10-16-rag-publication.md</a:t>
            </a:r>
          </a:p>
          <a:p>
            <a:r>
              <a:t>RAG 프롬프트 24응답 비교: https://github.com/KANT-2nd-project/sanaebi/blob/20dd130008569f058df4cdac24d02d0dd93baaaa/generation_evaluation/reports/2026-10-16-rag-readability/README.md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8개 차원의 최종 판정 집계입니다. Luna는 문서 근거와 적용 조건을 모두 충족했지만 15응답에서 필수 안내가 부족했습니다. Qwen은 5응답이 생성이나 형식 문제로 내용 평가를 할 수 없었습니다. 표는 이 응답을 빼지 않고 평가 불가로 남깁니다. 권한 경계는 해당하지 않는 질문도 평가 대상에서 제외했습니다. 같은 자료와 질문을 사용했지만 출력 한도와 실행 설정이 달랐다는 점도 함께 봐야 합니다.</a:t>
            </a:r>
          </a:p>
          <a:p/>
          <a:p>
            <a:r>
              <a:t>진행 메모: 완전성 미충족35건과 본문의 필수 안내 누락 이슈33건은 서로 다른 집계입니다. 문서 근거40/40을 모든 답변의 완전한 정확도로 설명하지 않습니다.</a:t>
            </a:r>
          </a:p>
          <a:p/>
          <a:p>
            <a:r>
              <a:t>조건·해석: full·examples/single, 원판정80건+경계재판정10건 반영. Qwen Q4_K_M,temperature0,seed42,출력1024,문맥98304,GPU35/37층,초기 자원경합. Luna xhigh,출력4096,temperature미전달. Luna 당시 사용량 추정$0.17302511/보수 예산$0.33694497,실제청구액 미조회. Qwen API과금0이지만 장비·전력비 미산정. 현재 RAG의 품질·비용과 다른 조건이며 두 후보 중 상대적으로 나은 Luna를 선택한 근거다.</a:t>
            </a:r>
          </a:p>
          <a:p/>
          <a:p>
            <a:r>
              <a:t>근거:</a:t>
            </a:r>
          </a:p>
          <a:p>
            <a:r>
              <a:t>로컬·상용 생성 모델 선정: https://github.com/KANT-2nd-project/sanaebi/blob/38d2f4c74e6a6127fe16c9e39379358db36e2db9/generation_evaluation/reports/2026-10-15-model-selection/reasoning-extension/README.md</a:t>
            </a:r>
          </a:p>
          <a:p>
            <a:r>
              <a:t>생성 비교 원집계: https://github.com/KANT-2nd-project/sanaebi/blob/38d2f4c74e6a6127fe16c9e39379358db36e2db9/generation_evaluation/reports/2026-10-15-model-selection/reasoning-extension/summary.json</a:t>
            </a:r>
          </a:p>
          <a:p>
            <a:r>
              <a:t>두 모델 원응답: https://github.com/KANT-2nd-project/sanaebi/blob/38d2f4c74e6a6127fe16c9e39379358db36e2db9/generation_evaluation/reports/2026-10-15-model-selection/reasoning-extension/comparison.md</a:t>
            </a:r>
          </a:p>
          <a:p>
            <a:r>
              <a:t>생성 모델 최종 판정: https://github.com/KANT-2nd-project/sanaebi/blob/38d2f4c74e6a6127fe16c9e39379358db36e2db9/generation_evaluation/reports/2026-10-15-model-selection/reasoning-extension/judgments.json</a:t>
            </a:r>
          </a:p>
          <a:p>
            <a:r>
              <a:t>생성 모델 실행 응답: https://github.com/KANT-2nd-project/sanaebi/blob/38d2f4c74e6a6127fe16c9e39379358db36e2db9/generation_evaluation/reports/2026-10-15-model-selection/reasoning-extension/responses.json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예상 질문: 더 큰 출력 한도를 줬기 때문에 Luna가 유리한 것 아닌가요? 모델 선택 당시 두 후보에 같은71문서와20질문을 넣고 두 번씩 비교했지만 실행 환경과 출력 한도는 같지 않았습니다. Qwen은 Q4_K_M 양자화, 출력1024, 문맥98304, GPU35/37층, temperature0과seed42였고 Luna는 xhigh·출력4096이었습니다. 따라서 모델의 보편적 우열이나 같은 연산량에서의 성능이라고 주장하지 않습니다. 프로젝트에서 실제 사용할 수 있는 두 구성을 비교해 중대한 오류, 반복 통과, 전체 판정, 응답 시간을 순서대로 보고 선택했습니다. Qwen 중앙32.80초·최대161.46초, Luna 중앙12.09초·최대26.81초였습니다. Qwen은 초기에 다른 모델과 메모리 경합이 있었고 실행 중 GPU 배치를 바꾸지 않았습니다. 별도 전용 실행의 TPS와 이 전체 요청 시간은 다릅니다. Luna40회 사용량은 입력2293492·출력36421토큰, 당시 사용량 기준 추정0.17302511달러이며 보수적 예약 계산0.33694497달러와도 구분합니다. 현재 RAG의 질문당 비용을 이 숫자로 약속할 수 없습니다.</a:t>
            </a:r>
          </a:p>
          <a:p/>
          <a:p>
            <a:r>
              <a:t>진행 메모: Qwen 실패14건과 생성·형식 실패5건은 별개입니다. 나머지 실패는 문서 왜곡 등 내용 판정을 포함합니다. API 비용이0이라는 것이 로컬 운영 총비용0이라는 뜻도 아닙니다.</a:t>
            </a:r>
          </a:p>
          <a:p/>
          <a:p>
            <a:r>
              <a:t>조건·해석: 80응답 전체의 요청 지연이며 Qwen 순수 decode TPS와 다른 지표다. 초기 전체 문서 입력 약67k토큰 때문에 Qwen 문맥40,960에서98,304로 확대한 기록도 별도 존재한다. 후속 RAG 출력16,384와 당시 선정 출력4,096을 섞지 않는다.</a:t>
            </a:r>
          </a:p>
          <a:p/>
          <a:p>
            <a:r>
              <a:t>근거:</a:t>
            </a:r>
          </a:p>
          <a:p>
            <a:r>
              <a:t>로컬·상용 생성 모델 선정: https://github.com/KANT-2nd-project/sanaebi/blob/38d2f4c74e6a6127fe16c9e39379358db36e2db9/generation_evaluation/reports/2026-10-15-model-selection/reasoning-extension/README.md</a:t>
            </a:r>
          </a:p>
          <a:p>
            <a:r>
              <a:t>생성 비교 원집계: https://github.com/KANT-2nd-project/sanaebi/blob/38d2f4c74e6a6127fe16c9e39379358db36e2db9/generation_evaluation/reports/2026-10-15-model-selection/reasoning-extension/summary.json</a:t>
            </a:r>
          </a:p>
          <a:p>
            <a:r>
              <a:t>생성 모델 실행 응답: https://github.com/KANT-2nd-project/sanaebi/blob/38d2f4c74e6a6127fe16c9e39379358db36e2db9/generation_evaluation/reports/2026-10-15-model-selection/reasoning-extension/responses.json</a:t>
            </a:r>
          </a:p>
          <a:p>
            <a:r>
              <a:t>로컬 모델 문맥·속도 실측: https://github.com/KANT-2nd-project/sanaebi/blob/38d2f4c74e6a6127fe16c9e39379358db36e2db9/docs/worklogs/2026-10-15-generation-tps-quality.md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예상 질문: 프롬프트는 어떤 시행착오를 거쳤나요? 첫째, 필수 안내를 점검하라는 후보는 개발에서 두 반복 통과5/8에서6/8로 나아졌지만 별도20문항에서는 기준14/20보다 낮은13/20이어서 채택하지 않았습니다. 규칙을 길게 쓰는 것만으로 해결되지 않았습니다. 둘째, 사용자가 ‘제공된 문서에는’ 같은 내부 규칙 설명을 지적해 직접 답변하는 few-shot 예시로 바꿨습니다. 중간 v4에서는 15분 인수 목표를15분 기다리라는 지시로 바꾸고 선택 경로를 모두 해야 하는 경로로 바꾸는 문제가 생겼습니다. v5에 시간·선택 조건 보존을 명시했고 말투·범위13/13은 충족했지만 전체 내용은11통과·2부분이었습니다. 셋째, 후속 RAG 가독성에서는 같은8질문·같은 검색 입력으로 기준점과v6·v7을 각1회 비교했습니다. 내용 통과는5·5·7개였고 v7을 선택했습니다. 다만 사고 후속 인수 확인과 대체 경로, 기록 안내가 빠진 응답은 남아 있습니다. 과거 전체72문서 입력의v7 완전성 실험은 별도이며, 최종 양쪽19/36·세 반복 통과6/12로 v5를 유지했던 기록입니다. 이름이 비슷해도 같은 조건의 결과가 아닙니다.</a:t>
            </a:r>
          </a:p>
          <a:p/>
          <a:p>
            <a:r>
              <a:t>진행 메모: 현재 선택을 물으면 ‘서버 RAG는 후속 선택한v7 가독성 프로필, 독립 full/CLI는v5’라고 답합니다. 프롬프트 채택과 모든 내용 누락 해결은 구분합니다.</a:t>
            </a:r>
          </a:p>
          <a:p/>
          <a:p>
            <a:r>
              <a:t>조건·해석: 행1=전체71문서20문항×2회, 행2/3=말투 보완v3/v4 18회 및v5 13회, 행4=RAG8문항×3후보 각1회. RAG24회 자료는20dd130 근거를 추가했다. 원래 실험 판단과 후속 사용자 선택을 보존하며 발표의 상대 선택 취지에 맞게 설명한다.</a:t>
            </a:r>
          </a:p>
          <a:p/>
          <a:p>
            <a:r>
              <a:t>근거:</a:t>
            </a:r>
          </a:p>
          <a:p>
            <a:r>
              <a:t>필수 안내 점검 프롬프트 비교 일지: https://github.com/KANT-2nd-project/sanaebi/blob/38d2f4c74e6a6127fe16c9e39379358db36e2db9/docs/worklogs/2026-10-15-generation-luna-prompt-experiment.md</a:t>
            </a:r>
          </a:p>
          <a:p>
            <a:r>
              <a:t>사용자용 말투·조건 보존 수정 일지: https://github.com/KANT-2nd-project/sanaebi/blob/38d2f4c74e6a6127fe16c9e39379358db36e2db9/docs/worklogs/2026-10-15-user-facing-prompt.md</a:t>
            </a:r>
          </a:p>
          <a:p>
            <a:r>
              <a:t>생성 프롬프트 기준: https://github.com/KANT-2nd-project/sanaebi/blob/38d2f4c74e6a6127fe16c9e39379358db36e2db9/docs/generation-final-prompt.md</a:t>
            </a:r>
          </a:p>
          <a:p>
            <a:r>
              <a:t>RAG 가독성 후보 비교 일지: https://github.com/KANT-2nd-project/sanaebi/blob/20dd130008569f058df4cdac24d02d0dd93baaaa/docs/worklogs/2026-10-16-rag-readability.md</a:t>
            </a:r>
          </a:p>
          <a:p>
            <a:r>
              <a:t>RAG 프롬프트 24응답 비교: https://github.com/KANT-2nd-project/sanaebi/blob/20dd130008569f058df4cdac24d02d0dd93baaaa/generation_evaluation/reports/2026-10-16-rag-readability/README.md</a:t>
            </a:r>
          </a:p>
          <a:p>
            <a:r>
              <a:t>후속 v7 RAG 선택 기록: https://github.com/KANT-2nd-project/sanaebi/blob/20dd130008569f058df4cdac24d02d0dd93baaaa/docs/worklogs/2026-10-16-rag-v7-adoption.md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예상 질문: AI가 평가했는데 점수를 믿을 수 있나요? 사람 평가를 대신한다고 주장하지 않습니다. 모델 선정에서는 실행 전에 질문별 필수 주장과 금지 주장, 원문 근거를 고정했고 모델명·설정·시간을 제거한 답변을 별도 AI가 판정했습니다. 문장이 같은지를 보는 것이 아니라 같은 의미를 전달하는지 평가했습니다. 최종80판정에 경계 재판정10건을 반영했고 수정 전후와 이유가 남아 있습니다. 중요한 사실 오류나 형식 실패는 실패, 필수 안내만 빠진 경우는 부분 충족, 해당 차원과 필수 주장을 모두 충족하면 통과입니다. 판단이 불확실한 경우는 통과로 올리지 않았습니다. 판정 우선순위는 실패·불확실·부분·통과입니다. 답변에서 근거에 없는 내용을 찾았다고 의심할 때는 발췌 목록뿐 아니라 전체 snapshot을 다시 확인했습니다. 두 번 모두 통과한 문항도 별도로 집계했습니다. 그래도 작은 합성 세트와AI판정이며, 평가자가 질문의 직접 요구보다 넓은 조건부 안내를 요구한 항목도 있어 일반 정확도로 해석하지 않습니다. 이후 실제 사용자 질문과 사람 검토가 추가되어야 합니다.</a:t>
            </a:r>
          </a:p>
          <a:p/>
          <a:p>
            <a:r>
              <a:t>진행 메모: Qwen 통과0/40은 내용이 전부 틀렸다는 뜻이 아닙니다. 26응답은 부분 충족이고 14응답은 실패입니다. 평가 불가와 실패도 구분합니다. 응답 자체가 없는5건은 의미 차원의 평가 불가로 집계했습니다.</a:t>
            </a:r>
          </a:p>
          <a:p/>
          <a:p>
            <a:r>
              <a:t>조건·해석: 최종20문항은 정상8·자료 부족4·조건범위4·권한2·잘못된 전제2이며 13개 기존 합성+7개 추가·변형이다. 개발 및1차 선정 질문 그룹과 분리했지만 업무 개념 전체가 독립은 아니다. 8차원·반복 결과·판정 원문은 원자료에 보존한다. 이 절차는 모델 선정 실험의 절차이며 모든 후속 프롬프트 실험이 같은 블라인드 수준이었다고 일반화하지 않는다.</a:t>
            </a:r>
          </a:p>
          <a:p/>
          <a:p>
            <a:r>
              <a:t>근거:</a:t>
            </a:r>
          </a:p>
          <a:p>
            <a:r>
              <a:t>로컬·상용 생성 모델 선정: https://github.com/KANT-2nd-project/sanaebi/blob/38d2f4c74e6a6127fe16c9e39379358db36e2db9/generation_evaluation/reports/2026-10-15-model-selection/reasoning-extension/README.md</a:t>
            </a:r>
          </a:p>
          <a:p>
            <a:r>
              <a:t>8개 차원과 판정 등급 기준: https://github.com/KANT-2nd-project/sanaebi/blob/38d2f4c74e6a6127fe16c9e39379358db36e2db9/generation_evaluation/benchmarks/selection-20261015/rubric.json</a:t>
            </a:r>
          </a:p>
          <a:p>
            <a:r>
              <a:t>생성 평가 경계 재판정 10건: https://github.com/KANT-2nd-project/sanaebi/blob/38d2f4c74e6a6127fe16c9e39379358db36e2db9/generation_evaluation/reports/2026-10-15-model-selection/reasoning-extension/adjudications.json</a:t>
            </a:r>
          </a:p>
          <a:p>
            <a:r>
              <a:t>생성 모델 최종 판정: https://github.com/KANT-2nd-project/sanaebi/blob/38d2f4c74e6a6127fe16c9e39379358db36e2db9/generation_evaluation/reports/2026-10-15-model-selection/reasoning-extension/judgments.json</a:t>
            </a:r>
          </a:p>
          <a:p>
            <a:r>
              <a:t>두 모델 원응답: https://github.com/KANT-2nd-project/sanaebi/blob/38d2f4c74e6a6127fe16c9e39379358db36e2db9/generation_evaluation/reports/2026-10-15-model-selection/reasoning-extension/comparison.md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개발 과정에서 확인한 실제 응답을 보여드리겠습니다. 연차 질문은 분류기가 범위 밖으로 잘못 예측했지만 문서를 확인해 안내했습니다. 업무와 무관한 질문에는 사내비가 도와줄 수 있는 범위를 설명했습니다. 현재 배포 화면을 녹화한 자료는 아니며, 개발 중 이런 응답을 확인했다는 사례입니다.</a:t>
            </a:r>
          </a:p>
          <a:p/>
          <a:p>
            <a:r>
              <a:t>조건·해석: 왼쪽은 문맥 보충 전v5 진단(8.70초), 오른쪽은 신규 RAG 서비스 프로필·문맥 보충 없음(2.29초) 조건이다. 두 기록 모두 질문 서비스 경로 진단 실행이며 해당8회 진단에서는 신규 서비스 프로필과 문맥 보충을 함께 켠 실제 생성을 별도로 검증하지 않았다. 이 화면은 후속 v7이나 현재 배포의 새 응답이 아니다.</a:t>
            </a:r>
          </a:p>
          <a:p/>
          <a:p>
            <a:r>
              <a:t>근거:</a:t>
            </a:r>
          </a:p>
          <a:p>
            <a:r>
              <a:t>개발 중 RAG 4문항 진단·실제 답변: https://github.com/KANT-2nd-project/sanaebi/blob/38d2f4c74e6a6127fe16c9e39379358db36e2db9/retrieval/reports/2026-10-16-rag-minimal/README.md</a:t>
            </a:r>
          </a:p>
          <a:p>
            <a:r>
              <a:t>문맥 보충 8회 실제 답변: https://github.com/KANT-2nd-project/sanaebi/blob/38d2f4c74e6a6127fe16c9e39379358db36e2db9/retrieval/reports/2026-10-16-rag-context-empty/case-results.md</a:t>
            </a:r>
          </a:p>
          <a:p>
            <a:r>
              <a:t>문맥 보충과 근거 없는 요청 진단: https://github.com/KANT-2nd-project/sanaebi/blob/38d2f4c74e6a6127fe16c9e39379358db36e2db9/retrieval/reports/2026-10-16-rag-context-empty/README.md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부록</a:t>
            </a:r>
          </a:p>
          <a:p/>
          <a:p>
            <a:r>
              <a:t>참고한 자료의 역할을 구분했습니다. Routing은 요청을 나누어 적절한 후속 작업으로 연결하는 설계 참고이며, 저희의 세 라벨이나 참고 전달 구조가 그 문서의 표준은 아닙니다. 처음 전체 문서를 넣은 근거는 작은 지식 집합이면 전체 입력도 가능하다는 설명이었고, 긴 입력의 한계와 실측 결과를 보고 RAG로 바꿨습니다. 회사 문서에는 공개 핸드북의 절차 구성과 공식 자료를 참고했지만 가상 회사의 도구와 기간, 담당 역할은 고유 결정으로 따로 남겼습니다.</a:t>
            </a:r>
          </a:p>
          <a:p/>
          <a:p>
            <a:r>
              <a:t>조건·해석: 외부 참고 자료는 구현 동기·방법의 출처다. 실제 대기업 도입 효과, 직원 조사, 사람 승인 사실을 만들지 않는다.</a:t>
            </a:r>
          </a:p>
          <a:p/>
          <a:p>
            <a:r>
              <a:t>근거:</a:t>
            </a:r>
          </a:p>
          <a:p>
            <a:r>
              <a:t>Anthropic, Building Effective Agents (Routing): https://www.anthropic.com/engineering/building-effective-agents</a:t>
            </a:r>
          </a:p>
          <a:p>
            <a:r>
              <a:t>LangChain, Workflows and agents (Routing): https://docs.langchain.com/oss/python/langgraph/workflows-agents</a:t>
            </a:r>
          </a:p>
          <a:p>
            <a:r>
              <a:t>Anthropic, Contextual Retrieval (작은 지식 집합의 전체 입력): https://www.anthropic.com/engineering/contextual-retrieval</a:t>
            </a:r>
          </a:p>
          <a:p>
            <a:r>
              <a:t>Liu et al., Lost in the Middle (TACL 2024): https://aclanthology.org/2024.tacl-1.9/</a:t>
            </a:r>
          </a:p>
          <a:p>
            <a:r>
              <a:t>Microsoft, RAG 프롬프트 설계 안내: https://learn.microsoft.com/en-us/azure/architecture/ai-ml/guide/rag/rag-prompt-engineering</a:t>
            </a:r>
          </a:p>
          <a:p>
            <a:r>
              <a:t>기업별 공개 자료 검토: tmp/routing-architecture-reference-review-2026-10-15/01-source-review.md</a:t>
            </a:r>
          </a:p>
          <a:p>
            <a:r>
              <a:t>회사 문서 구성과 작성·검수 계획: tmp/company-knowledge-sources-2026-10-14/construction-plan.md</a:t>
            </a:r>
          </a:p>
          <a:p>
            <a:r>
              <a:t>공개 자료와 가상 회사 결정의 구분: data/local/company-knowledge-support-2026-10-14/current/SOURCE-NOTICES.md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anaebi.29232923.xyz/chat" TargetMode="External"/><Relationship Id="rId3" Type="http://schemas.openxmlformats.org/officeDocument/2006/relationships/hyperlink" Target="https://github.com/KANT-2nd-project/sanaebi" TargetMode="External"/><Relationship Id="rId4" Type="http://schemas.openxmlformats.org/officeDocument/2006/relationships/image" Target="../media/image1.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3C"/>
        </a:solidFill>
        <a:effectLst/>
      </p:bgPr>
    </p:bg>
    <p:spTree>
      <p:nvGrpSpPr>
        <p:cNvPr id="1" name=""/>
        <p:cNvGrpSpPr/>
        <p:nvPr/>
      </p:nvGrpSpPr>
      <p:grpSpPr/>
      <p:sp>
        <p:nvSpPr>
          <p:cNvPr id="2" name="TextBox 1"/>
          <p:cNvSpPr txBox="1"/>
          <p:nvPr/>
        </p:nvSpPr>
        <p:spPr>
          <a:xfrm>
            <a:off x="777240" y="685800"/>
            <a:ext cx="5943600" cy="365760"/>
          </a:xfrm>
          <a:prstGeom prst="rect">
            <a:avLst/>
          </a:prstGeom>
          <a:noFill/>
        </p:spPr>
        <p:txBody>
          <a:bodyPr wrap="square" lIns="0" rIns="0" tIns="0" bIns="0">
            <a:spAutoFit/>
          </a:bodyPr>
          <a:lstStyle/>
          <a:p>
            <a:pPr>
              <a:lnSpc>
                <a:spcPct val="110000"/>
              </a:lnSpc>
              <a:spcAft>
                <a:spcPts val="400"/>
              </a:spcAft>
            </a:pPr>
            <a:r>
              <a:rPr sz="1400" b="1">
                <a:solidFill>
                  <a:srgbClr val="B9E1DD"/>
                </a:solidFill>
                <a:latin typeface="Malgun Gothic"/>
                <a:ea typeface="Malgun Gothic"/>
              </a:rPr>
              <a:t>LinkUp · 2차 프로젝트 결과 발표</a:t>
            </a:r>
          </a:p>
        </p:txBody>
      </p:sp>
      <p:sp>
        <p:nvSpPr>
          <p:cNvPr id="3" name="TextBox 2"/>
          <p:cNvSpPr txBox="1"/>
          <p:nvPr/>
        </p:nvSpPr>
        <p:spPr>
          <a:xfrm>
            <a:off x="749808" y="1417320"/>
            <a:ext cx="5943600" cy="1188720"/>
          </a:xfrm>
          <a:prstGeom prst="rect">
            <a:avLst/>
          </a:prstGeom>
          <a:noFill/>
        </p:spPr>
        <p:txBody>
          <a:bodyPr wrap="square" lIns="0" rIns="0" tIns="0" bIns="0">
            <a:spAutoFit/>
          </a:bodyPr>
          <a:lstStyle/>
          <a:p>
            <a:pPr>
              <a:lnSpc>
                <a:spcPct val="110000"/>
              </a:lnSpc>
              <a:spcAft>
                <a:spcPts val="400"/>
              </a:spcAft>
            </a:pPr>
            <a:r>
              <a:rPr sz="7600" b="1">
                <a:solidFill>
                  <a:srgbClr val="FFFFFF"/>
                </a:solidFill>
                <a:latin typeface="Malgun Gothic"/>
                <a:ea typeface="Malgun Gothic"/>
              </a:rPr>
              <a:t>사내비</a:t>
            </a:r>
          </a:p>
        </p:txBody>
      </p:sp>
      <p:sp>
        <p:nvSpPr>
          <p:cNvPr id="4" name="TextBox 3"/>
          <p:cNvSpPr txBox="1"/>
          <p:nvPr/>
        </p:nvSpPr>
        <p:spPr>
          <a:xfrm>
            <a:off x="822960" y="2788920"/>
            <a:ext cx="5486400" cy="1097280"/>
          </a:xfrm>
          <a:prstGeom prst="rect">
            <a:avLst/>
          </a:prstGeom>
          <a:noFill/>
        </p:spPr>
        <p:txBody>
          <a:bodyPr wrap="square" lIns="0" rIns="0" tIns="0" bIns="0">
            <a:spAutoFit/>
          </a:bodyPr>
          <a:lstStyle/>
          <a:p>
            <a:pPr>
              <a:lnSpc>
                <a:spcPct val="120000"/>
              </a:lnSpc>
              <a:spcAft>
                <a:spcPts val="400"/>
              </a:spcAft>
            </a:pPr>
            <a:r>
              <a:rPr sz="2600" b="0">
                <a:solidFill>
                  <a:srgbClr val="FFFFFF"/>
                </a:solidFill>
                <a:latin typeface="Malgun Gothic"/>
                <a:ea typeface="Malgun Gothic"/>
              </a:rPr>
              <a:t>회사 규정이 궁금할 때,</a:t>
            </a:r>
          </a:p>
          <a:p>
            <a:pPr>
              <a:lnSpc>
                <a:spcPct val="120000"/>
              </a:lnSpc>
              <a:spcAft>
                <a:spcPts val="400"/>
              </a:spcAft>
            </a:pPr>
            <a:r>
              <a:rPr sz="2600" b="0">
                <a:solidFill>
                  <a:srgbClr val="FFFFFF"/>
                </a:solidFill>
                <a:latin typeface="Malgun Gothic"/>
                <a:ea typeface="Malgun Gothic"/>
              </a:rPr>
              <a:t>질문으로 시작하는 업무 도우미</a:t>
            </a:r>
          </a:p>
        </p:txBody>
      </p:sp>
      <p:cxnSp>
        <p:nvCxnSpPr>
          <p:cNvPr id="5" name="Connector 4"/>
          <p:cNvCxnSpPr/>
          <p:nvPr/>
        </p:nvCxnSpPr>
        <p:spPr>
          <a:xfrm>
            <a:off x="822960" y="4343400"/>
            <a:ext cx="4572000" cy="0"/>
          </a:xfrm>
          <a:prstGeom prst="line">
            <a:avLst/>
          </a:prstGeom>
          <a:ln w="15240">
            <a:solidFill>
              <a:srgbClr val="1F3A5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822960" y="4572000"/>
            <a:ext cx="5486400" cy="365760"/>
          </a:xfrm>
          <a:prstGeom prst="rect">
            <a:avLst/>
          </a:prstGeom>
          <a:noFill/>
        </p:spPr>
        <p:txBody>
          <a:bodyPr wrap="square" lIns="0" rIns="0" tIns="0" bIns="0">
            <a:spAutoFit/>
          </a:bodyPr>
          <a:lstStyle/>
          <a:p>
            <a:pPr>
              <a:lnSpc>
                <a:spcPct val="110000"/>
              </a:lnSpc>
              <a:spcAft>
                <a:spcPts val="400"/>
              </a:spcAft>
            </a:pPr>
            <a:r>
              <a:rPr sz="1700" b="1">
                <a:solidFill>
                  <a:srgbClr val="FFFFFF"/>
                </a:solidFill>
                <a:latin typeface="Malgun Gothic"/>
                <a:ea typeface="Malgun Gothic"/>
              </a:rPr>
              <a:t>발표  최재선  ·  LinkUp 팀</a:t>
            </a:r>
          </a:p>
        </p:txBody>
      </p:sp>
      <p:sp>
        <p:nvSpPr>
          <p:cNvPr id="7" name="TextBox 6"/>
          <p:cNvSpPr txBox="1"/>
          <p:nvPr/>
        </p:nvSpPr>
        <p:spPr>
          <a:xfrm>
            <a:off x="822960" y="5029200"/>
            <a:ext cx="5486400" cy="685800"/>
          </a:xfrm>
          <a:prstGeom prst="rect">
            <a:avLst/>
          </a:prstGeom>
          <a:noFill/>
        </p:spPr>
        <p:txBody>
          <a:bodyPr wrap="square" lIns="0" rIns="0" tIns="0" bIns="0">
            <a:spAutoFit/>
          </a:bodyPr>
          <a:lstStyle/>
          <a:p>
            <a:pPr>
              <a:lnSpc>
                <a:spcPct val="130000"/>
              </a:lnSpc>
              <a:spcAft>
                <a:spcPts val="400"/>
              </a:spcAft>
            </a:pPr>
            <a:r>
              <a:rPr sz="1300" b="0">
                <a:solidFill>
                  <a:srgbClr val="C9D6E3"/>
                </a:solidFill>
                <a:latin typeface="Malgun Gothic"/>
                <a:ea typeface="Malgun Gothic"/>
              </a:rPr>
              <a:t>가상 회사 이음웍스의 서비스 출시를 콘셉트로 구성</a:t>
            </a:r>
          </a:p>
          <a:p>
            <a:pPr>
              <a:lnSpc>
                <a:spcPct val="130000"/>
              </a:lnSpc>
              <a:spcAft>
                <a:spcPts val="400"/>
              </a:spcAft>
            </a:pPr>
            <a:r>
              <a:rPr sz="1300" b="0">
                <a:solidFill>
                  <a:srgbClr val="C9D6E3"/>
                </a:solidFill>
                <a:latin typeface="Malgun Gothic"/>
                <a:ea typeface="Malgun Gothic"/>
              </a:rPr>
              <a:t>2026.10.16</a:t>
            </a:r>
          </a:p>
        </p:txBody>
      </p:sp>
      <p:sp>
        <p:nvSpPr>
          <p:cNvPr id="8" name="Rounded Rectangle 7"/>
          <p:cNvSpPr/>
          <p:nvPr/>
        </p:nvSpPr>
        <p:spPr>
          <a:xfrm>
            <a:off x="6537960" y="868680"/>
            <a:ext cx="4983480" cy="4709160"/>
          </a:xfrm>
          <a:prstGeom prst="roundRect">
            <a:avLst>
              <a:gd name="adj" fmla="val 5000"/>
            </a:avLst>
          </a:prstGeom>
          <a:solidFill>
            <a:srgbClr val="1F3A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858000" y="1097280"/>
            <a:ext cx="4389120" cy="274320"/>
          </a:xfrm>
          <a:prstGeom prst="rect">
            <a:avLst/>
          </a:prstGeom>
          <a:noFill/>
        </p:spPr>
        <p:txBody>
          <a:bodyPr wrap="square" lIns="0" rIns="0" tIns="0" bIns="0">
            <a:spAutoFit/>
          </a:bodyPr>
          <a:lstStyle/>
          <a:p>
            <a:pPr>
              <a:lnSpc>
                <a:spcPct val="110000"/>
              </a:lnSpc>
              <a:spcAft>
                <a:spcPts val="400"/>
              </a:spcAft>
            </a:pPr>
            <a:r>
              <a:rPr sz="1200" b="1">
                <a:solidFill>
                  <a:srgbClr val="B9E1DD"/>
                </a:solidFill>
                <a:latin typeface="Malgun Gothic"/>
                <a:ea typeface="Malgun Gothic"/>
              </a:rPr>
              <a:t>사내비 채팅</a:t>
            </a:r>
          </a:p>
        </p:txBody>
      </p:sp>
      <p:sp>
        <p:nvSpPr>
          <p:cNvPr id="10" name="Rounded Rectangle 9"/>
          <p:cNvSpPr/>
          <p:nvPr/>
        </p:nvSpPr>
        <p:spPr>
          <a:xfrm>
            <a:off x="7132320" y="1508760"/>
            <a:ext cx="4069080" cy="566928"/>
          </a:xfrm>
          <a:prstGeom prst="roundRect">
            <a:avLst>
              <a:gd name="adj" fmla="val 35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360920" y="1645919"/>
            <a:ext cx="3703320" cy="365760"/>
          </a:xfrm>
          <a:prstGeom prst="rect">
            <a:avLst/>
          </a:prstGeom>
          <a:noFill/>
        </p:spPr>
        <p:txBody>
          <a:bodyPr wrap="square" lIns="0" rIns="0" tIns="0" bIns="0">
            <a:spAutoFit/>
          </a:bodyPr>
          <a:lstStyle/>
          <a:p>
            <a:pPr>
              <a:lnSpc>
                <a:spcPct val="110000"/>
              </a:lnSpc>
              <a:spcAft>
                <a:spcPts val="400"/>
              </a:spcAft>
            </a:pPr>
            <a:r>
              <a:rPr sz="1500" b="0">
                <a:solidFill>
                  <a:srgbClr val="FFFFFF"/>
                </a:solidFill>
                <a:latin typeface="Malgun Gothic"/>
                <a:ea typeface="Malgun Gothic"/>
              </a:rPr>
              <a:t>우리 회사 연차 규정에 대해 알려줘</a:t>
            </a:r>
          </a:p>
        </p:txBody>
      </p:sp>
      <p:sp>
        <p:nvSpPr>
          <p:cNvPr id="12" name="Rounded Rectangle 11"/>
          <p:cNvSpPr/>
          <p:nvPr/>
        </p:nvSpPr>
        <p:spPr>
          <a:xfrm>
            <a:off x="6858000" y="2276856"/>
            <a:ext cx="4343400" cy="224028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7059168" y="2459736"/>
            <a:ext cx="384048" cy="384048"/>
          </a:xfrm>
          <a:prstGeom prst="ellipse">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300" b="1">
                <a:solidFill>
                  <a:srgbClr val="FFFFFF"/>
                </a:solidFill>
                <a:latin typeface="Malgun Gothic"/>
                <a:ea typeface="Malgun Gothic"/>
              </a:rPr>
              <a:t>사</a:t>
            </a:r>
          </a:p>
        </p:txBody>
      </p:sp>
      <p:sp>
        <p:nvSpPr>
          <p:cNvPr id="14" name="TextBox 13"/>
          <p:cNvSpPr txBox="1"/>
          <p:nvPr/>
        </p:nvSpPr>
        <p:spPr>
          <a:xfrm>
            <a:off x="7607808" y="2496312"/>
            <a:ext cx="3383280" cy="1874520"/>
          </a:xfrm>
          <a:prstGeom prst="rect">
            <a:avLst/>
          </a:prstGeom>
          <a:noFill/>
        </p:spPr>
        <p:txBody>
          <a:bodyPr wrap="square" lIns="0" rIns="0" tIns="0" bIns="0">
            <a:spAutoFit/>
          </a:bodyPr>
          <a:lstStyle/>
          <a:p>
            <a:pPr>
              <a:lnSpc>
                <a:spcPct val="110000"/>
              </a:lnSpc>
              <a:spcAft>
                <a:spcPts val="600"/>
              </a:spcAft>
            </a:pPr>
            <a:r>
              <a:rPr sz="1300" b="1">
                <a:solidFill>
                  <a:srgbClr val="1B2A3A"/>
                </a:solidFill>
                <a:latin typeface="Malgun Gothic"/>
                <a:ea typeface="Malgun Gothic"/>
              </a:rPr>
              <a:t>예정된 연차: </a:t>
            </a:r>
            <a:r>
              <a:rPr sz="1300" b="0">
                <a:solidFill>
                  <a:srgbClr val="1B2A3A"/>
                </a:solidFill>
                <a:latin typeface="Malgun Gothic"/>
                <a:ea typeface="Malgun Gothic"/>
              </a:rPr>
              <a:t>사용 시작일 기준 3영업일 전까지 이음 포털 인사 &gt; 휴가에서 신청합니다.</a:t>
            </a:r>
          </a:p>
          <a:p>
            <a:pPr>
              <a:lnSpc>
                <a:spcPct val="110000"/>
              </a:lnSpc>
              <a:spcAft>
                <a:spcPts val="600"/>
              </a:spcAft>
            </a:pPr>
            <a:r>
              <a:rPr sz="1300" b="1">
                <a:solidFill>
                  <a:srgbClr val="1B2A3A"/>
                </a:solidFill>
                <a:latin typeface="Malgun Gothic"/>
                <a:ea typeface="Malgun Gothic"/>
              </a:rPr>
              <a:t>신청 후: </a:t>
            </a:r>
            <a:r>
              <a:rPr sz="1300" b="0">
                <a:solidFill>
                  <a:srgbClr val="1B2A3A"/>
                </a:solidFill>
                <a:latin typeface="Malgun Gothic"/>
                <a:ea typeface="Malgun Gothic"/>
              </a:rPr>
              <a:t>포털에서 접수 상태를 확인합니다. 팀장은 접수 후 1영업일 안에 승인하거나 People팀 확인 필요 상태를 남깁니다.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사내비 프로젝트</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함께 만든 사내비</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서버·분류·생성의 각 영역을 맡아, 하나의 서비스로 연결했습니다</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02</a:t>
            </a:r>
          </a:p>
        </p:txBody>
      </p:sp>
      <p:sp>
        <p:nvSpPr>
          <p:cNvPr id="7" name="Rounded Rectangle 6"/>
          <p:cNvSpPr/>
          <p:nvPr/>
        </p:nvSpPr>
        <p:spPr>
          <a:xfrm>
            <a:off x="685800" y="1783080"/>
            <a:ext cx="5349240" cy="1417320"/>
          </a:xfrm>
          <a:prstGeom prst="roundRect">
            <a:avLst>
              <a:gd name="adj" fmla="val 7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960120" y="2167128"/>
            <a:ext cx="640080" cy="640080"/>
          </a:xfrm>
          <a:prstGeom prst="ellipse">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800" b="1">
                <a:solidFill>
                  <a:srgbClr val="FFFFFF"/>
                </a:solidFill>
                <a:latin typeface="Malgun Gothic"/>
                <a:ea typeface="Malgun Gothic"/>
              </a:rPr>
              <a:t>최</a:t>
            </a:r>
          </a:p>
        </p:txBody>
      </p:sp>
      <p:sp>
        <p:nvSpPr>
          <p:cNvPr id="9" name="TextBox 8"/>
          <p:cNvSpPr txBox="1"/>
          <p:nvPr/>
        </p:nvSpPr>
        <p:spPr>
          <a:xfrm>
            <a:off x="1828800" y="1984248"/>
            <a:ext cx="4023360" cy="365760"/>
          </a:xfrm>
          <a:prstGeom prst="rect">
            <a:avLst/>
          </a:prstGeom>
          <a:noFill/>
        </p:spPr>
        <p:txBody>
          <a:bodyPr wrap="square" lIns="0" rIns="0" tIns="0" bIns="0">
            <a:spAutoFit/>
          </a:bodyPr>
          <a:lstStyle/>
          <a:p>
            <a:pPr>
              <a:lnSpc>
                <a:spcPct val="110000"/>
              </a:lnSpc>
              <a:spcAft>
                <a:spcPts val="400"/>
              </a:spcAft>
            </a:pPr>
            <a:r>
              <a:rPr sz="1900" b="1">
                <a:solidFill>
                  <a:srgbClr val="13263C"/>
                </a:solidFill>
                <a:latin typeface="Malgun Gothic"/>
                <a:ea typeface="Malgun Gothic"/>
              </a:rPr>
              <a:t>최재선</a:t>
            </a:r>
          </a:p>
        </p:txBody>
      </p:sp>
      <p:sp>
        <p:nvSpPr>
          <p:cNvPr id="10" name="TextBox 9"/>
          <p:cNvSpPr txBox="1"/>
          <p:nvPr/>
        </p:nvSpPr>
        <p:spPr>
          <a:xfrm>
            <a:off x="1828800" y="2377440"/>
            <a:ext cx="4069080" cy="32004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프로젝트 총괄 · 개발 전반</a:t>
            </a:r>
          </a:p>
        </p:txBody>
      </p:sp>
      <p:sp>
        <p:nvSpPr>
          <p:cNvPr id="11" name="TextBox 10"/>
          <p:cNvSpPr txBox="1"/>
          <p:nvPr/>
        </p:nvSpPr>
        <p:spPr>
          <a:xfrm>
            <a:off x="1828800" y="2724912"/>
            <a:ext cx="4069080" cy="320040"/>
          </a:xfrm>
          <a:prstGeom prst="rect">
            <a:avLst/>
          </a:prstGeom>
          <a:noFill/>
        </p:spPr>
        <p:txBody>
          <a:bodyPr wrap="square" lIns="0" rIns="0" tIns="0" bIns="0">
            <a:spAutoFit/>
          </a:bodyPr>
          <a:lstStyle/>
          <a:p>
            <a:pPr>
              <a:lnSpc>
                <a:spcPct val="110000"/>
              </a:lnSpc>
              <a:spcAft>
                <a:spcPts val="400"/>
              </a:spcAft>
            </a:pPr>
            <a:r>
              <a:rPr sz="1300" b="0">
                <a:solidFill>
                  <a:srgbClr val="5B6B7C"/>
                </a:solidFill>
                <a:latin typeface="Malgun Gothic"/>
                <a:ea typeface="Malgun Gothic"/>
              </a:rPr>
              <a:t>데이터·분류, 서비스 통합, 일정 조율</a:t>
            </a:r>
          </a:p>
        </p:txBody>
      </p:sp>
      <p:sp>
        <p:nvSpPr>
          <p:cNvPr id="12" name="Rounded Rectangle 11"/>
          <p:cNvSpPr/>
          <p:nvPr/>
        </p:nvSpPr>
        <p:spPr>
          <a:xfrm>
            <a:off x="6172200" y="1783080"/>
            <a:ext cx="5349240" cy="1417320"/>
          </a:xfrm>
          <a:prstGeom prst="roundRect">
            <a:avLst>
              <a:gd name="adj" fmla="val 7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6446520" y="2167128"/>
            <a:ext cx="640080" cy="640080"/>
          </a:xfrm>
          <a:prstGeom prst="ellipse">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800" b="1">
                <a:solidFill>
                  <a:srgbClr val="FFFFFF"/>
                </a:solidFill>
                <a:latin typeface="Malgun Gothic"/>
                <a:ea typeface="Malgun Gothic"/>
              </a:rPr>
              <a:t>윤</a:t>
            </a:r>
          </a:p>
        </p:txBody>
      </p:sp>
      <p:sp>
        <p:nvSpPr>
          <p:cNvPr id="14" name="TextBox 13"/>
          <p:cNvSpPr txBox="1"/>
          <p:nvPr/>
        </p:nvSpPr>
        <p:spPr>
          <a:xfrm>
            <a:off x="7315200" y="1984248"/>
            <a:ext cx="4023360" cy="365760"/>
          </a:xfrm>
          <a:prstGeom prst="rect">
            <a:avLst/>
          </a:prstGeom>
          <a:noFill/>
        </p:spPr>
        <p:txBody>
          <a:bodyPr wrap="square" lIns="0" rIns="0" tIns="0" bIns="0">
            <a:spAutoFit/>
          </a:bodyPr>
          <a:lstStyle/>
          <a:p>
            <a:pPr>
              <a:lnSpc>
                <a:spcPct val="110000"/>
              </a:lnSpc>
              <a:spcAft>
                <a:spcPts val="400"/>
              </a:spcAft>
            </a:pPr>
            <a:r>
              <a:rPr sz="1900" b="1">
                <a:solidFill>
                  <a:srgbClr val="13263C"/>
                </a:solidFill>
                <a:latin typeface="Malgun Gothic"/>
                <a:ea typeface="Malgun Gothic"/>
              </a:rPr>
              <a:t>윤승환</a:t>
            </a:r>
          </a:p>
        </p:txBody>
      </p:sp>
      <p:sp>
        <p:nvSpPr>
          <p:cNvPr id="15" name="TextBox 14"/>
          <p:cNvSpPr txBox="1"/>
          <p:nvPr/>
        </p:nvSpPr>
        <p:spPr>
          <a:xfrm>
            <a:off x="7315200" y="2377440"/>
            <a:ext cx="4069080" cy="32004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서버 API · 분류기</a:t>
            </a:r>
          </a:p>
        </p:txBody>
      </p:sp>
      <p:sp>
        <p:nvSpPr>
          <p:cNvPr id="16" name="TextBox 15"/>
          <p:cNvSpPr txBox="1"/>
          <p:nvPr/>
        </p:nvSpPr>
        <p:spPr>
          <a:xfrm>
            <a:off x="7315200" y="2724912"/>
            <a:ext cx="4069080" cy="320040"/>
          </a:xfrm>
          <a:prstGeom prst="rect">
            <a:avLst/>
          </a:prstGeom>
          <a:noFill/>
        </p:spPr>
        <p:txBody>
          <a:bodyPr wrap="square" lIns="0" rIns="0" tIns="0" bIns="0">
            <a:spAutoFit/>
          </a:bodyPr>
          <a:lstStyle/>
          <a:p>
            <a:pPr>
              <a:lnSpc>
                <a:spcPct val="110000"/>
              </a:lnSpc>
              <a:spcAft>
                <a:spcPts val="400"/>
              </a:spcAft>
            </a:pPr>
            <a:r>
              <a:rPr sz="1300" b="0">
                <a:solidFill>
                  <a:srgbClr val="5B6B7C"/>
                </a:solidFill>
                <a:latin typeface="Malgun Gothic"/>
                <a:ea typeface="Malgun Gothic"/>
              </a:rPr>
              <a:t>FastAPI 기반 API 개발과 분류 기능 구현</a:t>
            </a:r>
          </a:p>
        </p:txBody>
      </p:sp>
      <p:sp>
        <p:nvSpPr>
          <p:cNvPr id="17" name="Rounded Rectangle 16"/>
          <p:cNvSpPr/>
          <p:nvPr/>
        </p:nvSpPr>
        <p:spPr>
          <a:xfrm>
            <a:off x="685800" y="3383280"/>
            <a:ext cx="5349240" cy="1417320"/>
          </a:xfrm>
          <a:prstGeom prst="roundRect">
            <a:avLst>
              <a:gd name="adj" fmla="val 7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960120" y="3767328"/>
            <a:ext cx="640080" cy="640080"/>
          </a:xfrm>
          <a:prstGeom prst="ellipse">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800" b="1">
                <a:solidFill>
                  <a:srgbClr val="FFFFFF"/>
                </a:solidFill>
                <a:latin typeface="Malgun Gothic"/>
                <a:ea typeface="Malgun Gothic"/>
              </a:rPr>
              <a:t>유</a:t>
            </a:r>
          </a:p>
        </p:txBody>
      </p:sp>
      <p:sp>
        <p:nvSpPr>
          <p:cNvPr id="19" name="TextBox 18"/>
          <p:cNvSpPr txBox="1"/>
          <p:nvPr/>
        </p:nvSpPr>
        <p:spPr>
          <a:xfrm>
            <a:off x="1828800" y="3584448"/>
            <a:ext cx="4023360" cy="365760"/>
          </a:xfrm>
          <a:prstGeom prst="rect">
            <a:avLst/>
          </a:prstGeom>
          <a:noFill/>
        </p:spPr>
        <p:txBody>
          <a:bodyPr wrap="square" lIns="0" rIns="0" tIns="0" bIns="0">
            <a:spAutoFit/>
          </a:bodyPr>
          <a:lstStyle/>
          <a:p>
            <a:pPr>
              <a:lnSpc>
                <a:spcPct val="110000"/>
              </a:lnSpc>
              <a:spcAft>
                <a:spcPts val="400"/>
              </a:spcAft>
            </a:pPr>
            <a:r>
              <a:rPr sz="1900" b="1">
                <a:solidFill>
                  <a:srgbClr val="13263C"/>
                </a:solidFill>
                <a:latin typeface="Malgun Gothic"/>
                <a:ea typeface="Malgun Gothic"/>
              </a:rPr>
              <a:t>유원호</a:t>
            </a:r>
          </a:p>
        </p:txBody>
      </p:sp>
      <p:sp>
        <p:nvSpPr>
          <p:cNvPr id="20" name="TextBox 19"/>
          <p:cNvSpPr txBox="1"/>
          <p:nvPr/>
        </p:nvSpPr>
        <p:spPr>
          <a:xfrm>
            <a:off x="1828800" y="3977640"/>
            <a:ext cx="4069080" cy="32004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LangChain · LLM 연동</a:t>
            </a:r>
          </a:p>
        </p:txBody>
      </p:sp>
      <p:sp>
        <p:nvSpPr>
          <p:cNvPr id="21" name="TextBox 20"/>
          <p:cNvSpPr txBox="1"/>
          <p:nvPr/>
        </p:nvSpPr>
        <p:spPr>
          <a:xfrm>
            <a:off x="1828800" y="4325112"/>
            <a:ext cx="4069080" cy="320040"/>
          </a:xfrm>
          <a:prstGeom prst="rect">
            <a:avLst/>
          </a:prstGeom>
          <a:noFill/>
        </p:spPr>
        <p:txBody>
          <a:bodyPr wrap="square" lIns="0" rIns="0" tIns="0" bIns="0">
            <a:spAutoFit/>
          </a:bodyPr>
          <a:lstStyle/>
          <a:p>
            <a:pPr>
              <a:lnSpc>
                <a:spcPct val="110000"/>
              </a:lnSpc>
              <a:spcAft>
                <a:spcPts val="400"/>
              </a:spcAft>
            </a:pPr>
            <a:r>
              <a:rPr sz="1300" b="0">
                <a:solidFill>
                  <a:srgbClr val="5B6B7C"/>
                </a:solidFill>
                <a:latin typeface="Malgun Gothic"/>
                <a:ea typeface="Malgun Gothic"/>
              </a:rPr>
              <a:t>생성 모델 연결 및 호출 흐름 구성</a:t>
            </a:r>
          </a:p>
        </p:txBody>
      </p:sp>
      <p:sp>
        <p:nvSpPr>
          <p:cNvPr id="22" name="Rounded Rectangle 21"/>
          <p:cNvSpPr/>
          <p:nvPr/>
        </p:nvSpPr>
        <p:spPr>
          <a:xfrm>
            <a:off x="6172200" y="3383280"/>
            <a:ext cx="5349240" cy="1417320"/>
          </a:xfrm>
          <a:prstGeom prst="roundRect">
            <a:avLst>
              <a:gd name="adj" fmla="val 7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6446520" y="3767328"/>
            <a:ext cx="640080" cy="640080"/>
          </a:xfrm>
          <a:prstGeom prst="ellipse">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800" b="1">
                <a:solidFill>
                  <a:srgbClr val="FFFFFF"/>
                </a:solidFill>
                <a:latin typeface="Malgun Gothic"/>
                <a:ea typeface="Malgun Gothic"/>
              </a:rPr>
              <a:t>전</a:t>
            </a:r>
          </a:p>
        </p:txBody>
      </p:sp>
      <p:sp>
        <p:nvSpPr>
          <p:cNvPr id="24" name="TextBox 23"/>
          <p:cNvSpPr txBox="1"/>
          <p:nvPr/>
        </p:nvSpPr>
        <p:spPr>
          <a:xfrm>
            <a:off x="7315200" y="3584448"/>
            <a:ext cx="4023360" cy="365760"/>
          </a:xfrm>
          <a:prstGeom prst="rect">
            <a:avLst/>
          </a:prstGeom>
          <a:noFill/>
        </p:spPr>
        <p:txBody>
          <a:bodyPr wrap="square" lIns="0" rIns="0" tIns="0" bIns="0">
            <a:spAutoFit/>
          </a:bodyPr>
          <a:lstStyle/>
          <a:p>
            <a:pPr>
              <a:lnSpc>
                <a:spcPct val="110000"/>
              </a:lnSpc>
              <a:spcAft>
                <a:spcPts val="400"/>
              </a:spcAft>
            </a:pPr>
            <a:r>
              <a:rPr sz="1900" b="1">
                <a:solidFill>
                  <a:srgbClr val="13263C"/>
                </a:solidFill>
                <a:latin typeface="Malgun Gothic"/>
                <a:ea typeface="Malgun Gothic"/>
              </a:rPr>
              <a:t>전항록</a:t>
            </a:r>
          </a:p>
        </p:txBody>
      </p:sp>
      <p:sp>
        <p:nvSpPr>
          <p:cNvPr id="25" name="TextBox 24"/>
          <p:cNvSpPr txBox="1"/>
          <p:nvPr/>
        </p:nvSpPr>
        <p:spPr>
          <a:xfrm>
            <a:off x="7315200" y="3977640"/>
            <a:ext cx="4069080" cy="32004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LangChain · 프롬프트·전처리</a:t>
            </a:r>
          </a:p>
        </p:txBody>
      </p:sp>
      <p:sp>
        <p:nvSpPr>
          <p:cNvPr id="26" name="TextBox 25"/>
          <p:cNvSpPr txBox="1"/>
          <p:nvPr/>
        </p:nvSpPr>
        <p:spPr>
          <a:xfrm>
            <a:off x="7315200" y="4325112"/>
            <a:ext cx="4069080" cy="320040"/>
          </a:xfrm>
          <a:prstGeom prst="rect">
            <a:avLst/>
          </a:prstGeom>
          <a:noFill/>
        </p:spPr>
        <p:txBody>
          <a:bodyPr wrap="square" lIns="0" rIns="0" tIns="0" bIns="0">
            <a:spAutoFit/>
          </a:bodyPr>
          <a:lstStyle/>
          <a:p>
            <a:pPr>
              <a:lnSpc>
                <a:spcPct val="110000"/>
              </a:lnSpc>
              <a:spcAft>
                <a:spcPts val="400"/>
              </a:spcAft>
            </a:pPr>
            <a:r>
              <a:rPr sz="1300" b="0">
                <a:solidFill>
                  <a:srgbClr val="5B6B7C"/>
                </a:solidFill>
                <a:latin typeface="Malgun Gothic"/>
                <a:ea typeface="Malgun Gothic"/>
              </a:rPr>
              <a:t>프롬프트 설계 및 생성 입력 전처리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사내비 프로젝트</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사내비를 만든 이유</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회사에 자료가 있어도, 내 질문에 필요한 답을 찾는 과정은 남아 있습니다</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03</a:t>
            </a:r>
          </a:p>
        </p:txBody>
      </p:sp>
      <p:sp>
        <p:nvSpPr>
          <p:cNvPr id="7" name="Rounded Rectangle 6"/>
          <p:cNvSpPr/>
          <p:nvPr/>
        </p:nvSpPr>
        <p:spPr>
          <a:xfrm>
            <a:off x="685800" y="1810512"/>
            <a:ext cx="10835640" cy="868680"/>
          </a:xfrm>
          <a:prstGeom prst="roundRect">
            <a:avLst>
              <a:gd name="adj" fmla="val 12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005840" y="2011680"/>
            <a:ext cx="10241280" cy="502920"/>
          </a:xfrm>
          <a:prstGeom prst="rect">
            <a:avLst/>
          </a:prstGeom>
          <a:noFill/>
        </p:spPr>
        <p:txBody>
          <a:bodyPr wrap="square" lIns="0" rIns="0" tIns="0" bIns="0">
            <a:spAutoFit/>
          </a:bodyPr>
          <a:lstStyle/>
          <a:p>
            <a:pPr>
              <a:lnSpc>
                <a:spcPct val="110000"/>
              </a:lnSpc>
              <a:spcAft>
                <a:spcPts val="400"/>
              </a:spcAft>
            </a:pPr>
            <a:r>
              <a:rPr sz="2400" b="1">
                <a:solidFill>
                  <a:srgbClr val="13263C"/>
                </a:solidFill>
                <a:latin typeface="Malgun Gothic"/>
                <a:ea typeface="Malgun Gothic"/>
              </a:rPr>
              <a:t>“연차 신청은 어느 문서에서 확인하죠?”</a:t>
            </a:r>
          </a:p>
        </p:txBody>
      </p:sp>
      <p:sp>
        <p:nvSpPr>
          <p:cNvPr id="9" name="Oval 8"/>
          <p:cNvSpPr/>
          <p:nvPr/>
        </p:nvSpPr>
        <p:spPr>
          <a:xfrm>
            <a:off x="685800" y="3017520"/>
            <a:ext cx="475488" cy="475488"/>
          </a:xfrm>
          <a:prstGeom prst="ellipse">
            <a:avLst/>
          </a:prstGeom>
          <a:solidFill>
            <a:srgbClr val="C2553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500" b="1">
                <a:solidFill>
                  <a:srgbClr val="FFFFFF"/>
                </a:solidFill>
                <a:latin typeface="Malgun Gothic"/>
                <a:ea typeface="Malgun Gothic"/>
              </a:rPr>
              <a:t>1</a:t>
            </a:r>
          </a:p>
        </p:txBody>
      </p:sp>
      <p:sp>
        <p:nvSpPr>
          <p:cNvPr id="10" name="TextBox 9"/>
          <p:cNvSpPr txBox="1"/>
          <p:nvPr/>
        </p:nvSpPr>
        <p:spPr>
          <a:xfrm>
            <a:off x="1325880" y="3035808"/>
            <a:ext cx="2743200" cy="411480"/>
          </a:xfrm>
          <a:prstGeom prst="rect">
            <a:avLst/>
          </a:prstGeom>
          <a:noFill/>
        </p:spPr>
        <p:txBody>
          <a:bodyPr wrap="square" lIns="0" rIns="0" tIns="0" bIns="0">
            <a:spAutoFit/>
          </a:bodyPr>
          <a:lstStyle/>
          <a:p>
            <a:pPr>
              <a:lnSpc>
                <a:spcPct val="110000"/>
              </a:lnSpc>
              <a:spcAft>
                <a:spcPts val="400"/>
              </a:spcAft>
            </a:pPr>
            <a:r>
              <a:rPr sz="1900" b="1">
                <a:solidFill>
                  <a:srgbClr val="1B2A3A"/>
                </a:solidFill>
                <a:latin typeface="Malgun Gothic"/>
                <a:ea typeface="Malgun Gothic"/>
              </a:rPr>
              <a:t>문서 위치 찾기</a:t>
            </a:r>
          </a:p>
        </p:txBody>
      </p:sp>
      <p:sp>
        <p:nvSpPr>
          <p:cNvPr id="11" name="TextBox 10"/>
          <p:cNvSpPr txBox="1"/>
          <p:nvPr/>
        </p:nvSpPr>
        <p:spPr>
          <a:xfrm>
            <a:off x="1325880" y="3520440"/>
            <a:ext cx="2834640" cy="731520"/>
          </a:xfrm>
          <a:prstGeom prst="rect">
            <a:avLst/>
          </a:prstGeom>
          <a:noFill/>
        </p:spPr>
        <p:txBody>
          <a:bodyPr wrap="square" lIns="0" rIns="0" tIns="0" bIns="0">
            <a:spAutoFit/>
          </a:bodyPr>
          <a:lstStyle/>
          <a:p>
            <a:pPr>
              <a:lnSpc>
                <a:spcPct val="110000"/>
              </a:lnSpc>
              <a:spcAft>
                <a:spcPts val="0"/>
              </a:spcAft>
            </a:pPr>
            <a:r>
              <a:rPr sz="1500" b="0">
                <a:solidFill>
                  <a:srgbClr val="5B6B7C"/>
                </a:solidFill>
                <a:latin typeface="Malgun Gothic"/>
                <a:ea typeface="Malgun Gothic"/>
              </a:rPr>
              <a:t>어느 자료가 기준인지</a:t>
            </a:r>
          </a:p>
          <a:p>
            <a:pPr>
              <a:lnSpc>
                <a:spcPct val="110000"/>
              </a:lnSpc>
              <a:spcAft>
                <a:spcPts val="0"/>
              </a:spcAft>
            </a:pPr>
            <a:r>
              <a:rPr sz="1500" b="0">
                <a:solidFill>
                  <a:srgbClr val="5B6B7C"/>
                </a:solidFill>
                <a:latin typeface="Malgun Gothic"/>
                <a:ea typeface="Malgun Gothic"/>
              </a:rPr>
              <a:t>먼저 찾아야 합니다</a:t>
            </a:r>
          </a:p>
        </p:txBody>
      </p:sp>
      <p:cxnSp>
        <p:nvCxnSpPr>
          <p:cNvPr id="12" name="Connector 11"/>
          <p:cNvCxnSpPr/>
          <p:nvPr/>
        </p:nvCxnSpPr>
        <p:spPr>
          <a:xfrm>
            <a:off x="3931920" y="3255264"/>
            <a:ext cx="320040" cy="0"/>
          </a:xfrm>
          <a:prstGeom prst="line">
            <a:avLst/>
          </a:prstGeom>
          <a:ln w="25400">
            <a:solidFill>
              <a:srgbClr val="E2E8EE"/>
            </a:solidFill>
            <a:tailEnd type="triangle"/>
          </a:ln>
        </p:spPr>
        <p:style>
          <a:lnRef idx="2">
            <a:schemeClr val="accent1"/>
          </a:lnRef>
          <a:fillRef idx="0">
            <a:schemeClr val="accent1"/>
          </a:fillRef>
          <a:effectRef idx="0">
            <a:schemeClr val="accent1"/>
          </a:effectRef>
          <a:fontRef idx="minor">
            <a:schemeClr val="tx1"/>
          </a:fontRef>
        </p:style>
      </p:cxnSp>
      <p:sp>
        <p:nvSpPr>
          <p:cNvPr id="13" name="Oval 12"/>
          <p:cNvSpPr/>
          <p:nvPr/>
        </p:nvSpPr>
        <p:spPr>
          <a:xfrm>
            <a:off x="4389120" y="3017520"/>
            <a:ext cx="475488" cy="475488"/>
          </a:xfrm>
          <a:prstGeom prst="ellipse">
            <a:avLst/>
          </a:prstGeom>
          <a:solidFill>
            <a:srgbClr val="C2553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500" b="1">
                <a:solidFill>
                  <a:srgbClr val="FFFFFF"/>
                </a:solidFill>
                <a:latin typeface="Malgun Gothic"/>
                <a:ea typeface="Malgun Gothic"/>
              </a:rPr>
              <a:t>2</a:t>
            </a:r>
          </a:p>
        </p:txBody>
      </p:sp>
      <p:sp>
        <p:nvSpPr>
          <p:cNvPr id="14" name="TextBox 13"/>
          <p:cNvSpPr txBox="1"/>
          <p:nvPr/>
        </p:nvSpPr>
        <p:spPr>
          <a:xfrm>
            <a:off x="5029200" y="3035808"/>
            <a:ext cx="2743200" cy="411480"/>
          </a:xfrm>
          <a:prstGeom prst="rect">
            <a:avLst/>
          </a:prstGeom>
          <a:noFill/>
        </p:spPr>
        <p:txBody>
          <a:bodyPr wrap="square" lIns="0" rIns="0" tIns="0" bIns="0">
            <a:spAutoFit/>
          </a:bodyPr>
          <a:lstStyle/>
          <a:p>
            <a:pPr>
              <a:lnSpc>
                <a:spcPct val="110000"/>
              </a:lnSpc>
              <a:spcAft>
                <a:spcPts val="400"/>
              </a:spcAft>
            </a:pPr>
            <a:r>
              <a:rPr sz="1900" b="1">
                <a:solidFill>
                  <a:srgbClr val="1B2A3A"/>
                </a:solidFill>
                <a:latin typeface="Malgun Gothic"/>
                <a:ea typeface="Malgun Gothic"/>
              </a:rPr>
              <a:t>조건과 절차 읽기</a:t>
            </a:r>
          </a:p>
        </p:txBody>
      </p:sp>
      <p:sp>
        <p:nvSpPr>
          <p:cNvPr id="15" name="TextBox 14"/>
          <p:cNvSpPr txBox="1"/>
          <p:nvPr/>
        </p:nvSpPr>
        <p:spPr>
          <a:xfrm>
            <a:off x="5029200" y="3520440"/>
            <a:ext cx="2834640" cy="731520"/>
          </a:xfrm>
          <a:prstGeom prst="rect">
            <a:avLst/>
          </a:prstGeom>
          <a:noFill/>
        </p:spPr>
        <p:txBody>
          <a:bodyPr wrap="square" lIns="0" rIns="0" tIns="0" bIns="0">
            <a:spAutoFit/>
          </a:bodyPr>
          <a:lstStyle/>
          <a:p>
            <a:pPr>
              <a:lnSpc>
                <a:spcPct val="110000"/>
              </a:lnSpc>
              <a:spcAft>
                <a:spcPts val="0"/>
              </a:spcAft>
            </a:pPr>
            <a:r>
              <a:rPr sz="1500" b="0">
                <a:solidFill>
                  <a:srgbClr val="5B6B7C"/>
                </a:solidFill>
                <a:latin typeface="Malgun Gothic"/>
                <a:ea typeface="Malgun Gothic"/>
              </a:rPr>
              <a:t>신청 기한과 경로를</a:t>
            </a:r>
          </a:p>
          <a:p>
            <a:pPr>
              <a:lnSpc>
                <a:spcPct val="110000"/>
              </a:lnSpc>
              <a:spcAft>
                <a:spcPts val="0"/>
              </a:spcAft>
            </a:pPr>
            <a:r>
              <a:rPr sz="1500" b="0">
                <a:solidFill>
                  <a:srgbClr val="5B6B7C"/>
                </a:solidFill>
                <a:latin typeface="Malgun Gothic"/>
                <a:ea typeface="Malgun Gothic"/>
              </a:rPr>
              <a:t>문서에서 골라 읽습니다</a:t>
            </a:r>
          </a:p>
        </p:txBody>
      </p:sp>
      <p:cxnSp>
        <p:nvCxnSpPr>
          <p:cNvPr id="16" name="Connector 15"/>
          <p:cNvCxnSpPr/>
          <p:nvPr/>
        </p:nvCxnSpPr>
        <p:spPr>
          <a:xfrm>
            <a:off x="7635240" y="3255264"/>
            <a:ext cx="320039" cy="0"/>
          </a:xfrm>
          <a:prstGeom prst="line">
            <a:avLst/>
          </a:prstGeom>
          <a:ln w="25400">
            <a:solidFill>
              <a:srgbClr val="E2E8EE"/>
            </a:solidFill>
            <a:tailEnd type="triangle"/>
          </a:ln>
        </p:spPr>
        <p:style>
          <a:lnRef idx="2">
            <a:schemeClr val="accent1"/>
          </a:lnRef>
          <a:fillRef idx="0">
            <a:schemeClr val="accent1"/>
          </a:fillRef>
          <a:effectRef idx="0">
            <a:schemeClr val="accent1"/>
          </a:effectRef>
          <a:fontRef idx="minor">
            <a:schemeClr val="tx1"/>
          </a:fontRef>
        </p:style>
      </p:cxnSp>
      <p:sp>
        <p:nvSpPr>
          <p:cNvPr id="17" name="Oval 16"/>
          <p:cNvSpPr/>
          <p:nvPr/>
        </p:nvSpPr>
        <p:spPr>
          <a:xfrm>
            <a:off x="8092440" y="3017520"/>
            <a:ext cx="475488" cy="475488"/>
          </a:xfrm>
          <a:prstGeom prst="ellipse">
            <a:avLst/>
          </a:prstGeom>
          <a:solidFill>
            <a:srgbClr val="C2553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500" b="1">
                <a:solidFill>
                  <a:srgbClr val="FFFFFF"/>
                </a:solidFill>
                <a:latin typeface="Malgun Gothic"/>
                <a:ea typeface="Malgun Gothic"/>
              </a:rPr>
              <a:t>3</a:t>
            </a:r>
          </a:p>
        </p:txBody>
      </p:sp>
      <p:sp>
        <p:nvSpPr>
          <p:cNvPr id="18" name="TextBox 17"/>
          <p:cNvSpPr txBox="1"/>
          <p:nvPr/>
        </p:nvSpPr>
        <p:spPr>
          <a:xfrm>
            <a:off x="8732519" y="3035808"/>
            <a:ext cx="2743200" cy="411480"/>
          </a:xfrm>
          <a:prstGeom prst="rect">
            <a:avLst/>
          </a:prstGeom>
          <a:noFill/>
        </p:spPr>
        <p:txBody>
          <a:bodyPr wrap="square" lIns="0" rIns="0" tIns="0" bIns="0">
            <a:spAutoFit/>
          </a:bodyPr>
          <a:lstStyle/>
          <a:p>
            <a:pPr>
              <a:lnSpc>
                <a:spcPct val="110000"/>
              </a:lnSpc>
              <a:spcAft>
                <a:spcPts val="400"/>
              </a:spcAft>
            </a:pPr>
            <a:r>
              <a:rPr sz="1900" b="1">
                <a:solidFill>
                  <a:srgbClr val="1B2A3A"/>
                </a:solidFill>
                <a:latin typeface="Malgun Gothic"/>
                <a:ea typeface="Malgun Gothic"/>
              </a:rPr>
              <a:t>담당자에게 다시 묻기</a:t>
            </a:r>
          </a:p>
        </p:txBody>
      </p:sp>
      <p:sp>
        <p:nvSpPr>
          <p:cNvPr id="19" name="TextBox 18"/>
          <p:cNvSpPr txBox="1"/>
          <p:nvPr/>
        </p:nvSpPr>
        <p:spPr>
          <a:xfrm>
            <a:off x="8732519" y="3520440"/>
            <a:ext cx="2834640" cy="731520"/>
          </a:xfrm>
          <a:prstGeom prst="rect">
            <a:avLst/>
          </a:prstGeom>
          <a:noFill/>
        </p:spPr>
        <p:txBody>
          <a:bodyPr wrap="square" lIns="0" rIns="0" tIns="0" bIns="0">
            <a:spAutoFit/>
          </a:bodyPr>
          <a:lstStyle/>
          <a:p>
            <a:pPr>
              <a:lnSpc>
                <a:spcPct val="110000"/>
              </a:lnSpc>
              <a:spcAft>
                <a:spcPts val="0"/>
              </a:spcAft>
            </a:pPr>
            <a:r>
              <a:rPr sz="1500" b="0">
                <a:solidFill>
                  <a:srgbClr val="5B6B7C"/>
                </a:solidFill>
                <a:latin typeface="Malgun Gothic"/>
                <a:ea typeface="Malgun Gothic"/>
              </a:rPr>
              <a:t>내 상황에 맞는지</a:t>
            </a:r>
          </a:p>
          <a:p>
            <a:pPr>
              <a:lnSpc>
                <a:spcPct val="110000"/>
              </a:lnSpc>
              <a:spcAft>
                <a:spcPts val="0"/>
              </a:spcAft>
            </a:pPr>
            <a:r>
              <a:rPr sz="1500" b="0">
                <a:solidFill>
                  <a:srgbClr val="5B6B7C"/>
                </a:solidFill>
                <a:latin typeface="Malgun Gothic"/>
                <a:ea typeface="Malgun Gothic"/>
              </a:rPr>
              <a:t>다시 확인합니다</a:t>
            </a:r>
          </a:p>
        </p:txBody>
      </p:sp>
      <p:sp>
        <p:nvSpPr>
          <p:cNvPr id="20" name="Rounded Rectangle 19"/>
          <p:cNvSpPr/>
          <p:nvPr/>
        </p:nvSpPr>
        <p:spPr>
          <a:xfrm>
            <a:off x="685800" y="4617720"/>
            <a:ext cx="10835640" cy="1234440"/>
          </a:xfrm>
          <a:prstGeom prst="roundRect">
            <a:avLst>
              <a:gd name="adj" fmla="val 8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4754880"/>
            <a:ext cx="2743200" cy="32004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사내비의 목표</a:t>
            </a:r>
          </a:p>
        </p:txBody>
      </p:sp>
      <p:sp>
        <p:nvSpPr>
          <p:cNvPr id="22" name="Oval 21"/>
          <p:cNvSpPr/>
          <p:nvPr/>
        </p:nvSpPr>
        <p:spPr>
          <a:xfrm>
            <a:off x="1005840" y="5212080"/>
            <a:ext cx="347472" cy="347472"/>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200" b="1">
                <a:solidFill>
                  <a:srgbClr val="FFFFFF"/>
                </a:solidFill>
                <a:latin typeface="Malgun Gothic"/>
                <a:ea typeface="Malgun Gothic"/>
              </a:rPr>
              <a:t>✓</a:t>
            </a:r>
          </a:p>
        </p:txBody>
      </p:sp>
      <p:sp>
        <p:nvSpPr>
          <p:cNvPr id="23" name="TextBox 22"/>
          <p:cNvSpPr txBox="1"/>
          <p:nvPr/>
        </p:nvSpPr>
        <p:spPr>
          <a:xfrm>
            <a:off x="1481328" y="5212080"/>
            <a:ext cx="2926080" cy="365760"/>
          </a:xfrm>
          <a:prstGeom prst="rect">
            <a:avLst/>
          </a:prstGeom>
          <a:noFill/>
        </p:spPr>
        <p:txBody>
          <a:bodyPr wrap="square" lIns="0" rIns="0" tIns="0" bIns="0">
            <a:spAutoFit/>
          </a:bodyPr>
          <a:lstStyle/>
          <a:p>
            <a:pPr>
              <a:lnSpc>
                <a:spcPct val="110000"/>
              </a:lnSpc>
              <a:spcAft>
                <a:spcPts val="400"/>
              </a:spcAft>
            </a:pPr>
            <a:r>
              <a:rPr sz="1800" b="1">
                <a:solidFill>
                  <a:srgbClr val="13263C"/>
                </a:solidFill>
                <a:latin typeface="Malgun Gothic"/>
                <a:ea typeface="Malgun Gothic"/>
              </a:rPr>
              <a:t>질문 하나로 시작</a:t>
            </a:r>
          </a:p>
        </p:txBody>
      </p:sp>
      <p:sp>
        <p:nvSpPr>
          <p:cNvPr id="24" name="Oval 23"/>
          <p:cNvSpPr/>
          <p:nvPr/>
        </p:nvSpPr>
        <p:spPr>
          <a:xfrm>
            <a:off x="4526280" y="5212080"/>
            <a:ext cx="347472" cy="347472"/>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200" b="1">
                <a:solidFill>
                  <a:srgbClr val="FFFFFF"/>
                </a:solidFill>
                <a:latin typeface="Malgun Gothic"/>
                <a:ea typeface="Malgun Gothic"/>
              </a:rPr>
              <a:t>✓</a:t>
            </a:r>
          </a:p>
        </p:txBody>
      </p:sp>
      <p:sp>
        <p:nvSpPr>
          <p:cNvPr id="25" name="TextBox 24"/>
          <p:cNvSpPr txBox="1"/>
          <p:nvPr/>
        </p:nvSpPr>
        <p:spPr>
          <a:xfrm>
            <a:off x="5001768" y="5212080"/>
            <a:ext cx="2926080" cy="365760"/>
          </a:xfrm>
          <a:prstGeom prst="rect">
            <a:avLst/>
          </a:prstGeom>
          <a:noFill/>
        </p:spPr>
        <p:txBody>
          <a:bodyPr wrap="square" lIns="0" rIns="0" tIns="0" bIns="0">
            <a:spAutoFit/>
          </a:bodyPr>
          <a:lstStyle/>
          <a:p>
            <a:pPr>
              <a:lnSpc>
                <a:spcPct val="110000"/>
              </a:lnSpc>
              <a:spcAft>
                <a:spcPts val="400"/>
              </a:spcAft>
            </a:pPr>
            <a:r>
              <a:rPr sz="1800" b="1">
                <a:solidFill>
                  <a:srgbClr val="13263C"/>
                </a:solidFill>
                <a:latin typeface="Malgun Gothic"/>
                <a:ea typeface="Malgun Gothic"/>
              </a:rPr>
              <a:t>회사 문서에 근거한 안내</a:t>
            </a:r>
          </a:p>
        </p:txBody>
      </p:sp>
      <p:sp>
        <p:nvSpPr>
          <p:cNvPr id="26" name="Oval 25"/>
          <p:cNvSpPr/>
          <p:nvPr/>
        </p:nvSpPr>
        <p:spPr>
          <a:xfrm>
            <a:off x="8046720" y="5212080"/>
            <a:ext cx="347472" cy="347472"/>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200" b="1">
                <a:solidFill>
                  <a:srgbClr val="FFFFFF"/>
                </a:solidFill>
                <a:latin typeface="Malgun Gothic"/>
                <a:ea typeface="Malgun Gothic"/>
              </a:rPr>
              <a:t>✓</a:t>
            </a:r>
          </a:p>
        </p:txBody>
      </p:sp>
      <p:sp>
        <p:nvSpPr>
          <p:cNvPr id="27" name="TextBox 26"/>
          <p:cNvSpPr txBox="1"/>
          <p:nvPr/>
        </p:nvSpPr>
        <p:spPr>
          <a:xfrm>
            <a:off x="8522208" y="5212080"/>
            <a:ext cx="2926080" cy="365760"/>
          </a:xfrm>
          <a:prstGeom prst="rect">
            <a:avLst/>
          </a:prstGeom>
          <a:noFill/>
        </p:spPr>
        <p:txBody>
          <a:bodyPr wrap="square" lIns="0" rIns="0" tIns="0" bIns="0">
            <a:spAutoFit/>
          </a:bodyPr>
          <a:lstStyle/>
          <a:p>
            <a:pPr>
              <a:lnSpc>
                <a:spcPct val="110000"/>
              </a:lnSpc>
              <a:spcAft>
                <a:spcPts val="400"/>
              </a:spcAft>
            </a:pPr>
            <a:r>
              <a:rPr sz="1800" b="1">
                <a:solidFill>
                  <a:srgbClr val="13263C"/>
                </a:solidFill>
                <a:latin typeface="Malgun Gothic"/>
                <a:ea typeface="Malgun Gothic"/>
              </a:rPr>
              <a:t>할 수 없는 일은 분명하게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사내비 프로젝트</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사내비가 돕는 일</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회사 문서에서 질문에 필요한 안내를 찾아 정리합니다</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04</a:t>
            </a:r>
          </a:p>
        </p:txBody>
      </p:sp>
      <p:sp>
        <p:nvSpPr>
          <p:cNvPr id="7" name="Rounded Rectangle 6"/>
          <p:cNvSpPr/>
          <p:nvPr/>
        </p:nvSpPr>
        <p:spPr>
          <a:xfrm>
            <a:off x="3022092" y="1783080"/>
            <a:ext cx="4247388" cy="566928"/>
          </a:xfrm>
          <a:prstGeom prst="roundRect">
            <a:avLst>
              <a:gd name="adj" fmla="val 35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3250692" y="1920240"/>
            <a:ext cx="3881627" cy="365760"/>
          </a:xfrm>
          <a:prstGeom prst="rect">
            <a:avLst/>
          </a:prstGeom>
          <a:noFill/>
        </p:spPr>
        <p:txBody>
          <a:bodyPr wrap="square" lIns="0" rIns="0" tIns="0" bIns="0">
            <a:spAutoFit/>
          </a:bodyPr>
          <a:lstStyle/>
          <a:p>
            <a:pPr>
              <a:lnSpc>
                <a:spcPct val="110000"/>
              </a:lnSpc>
              <a:spcAft>
                <a:spcPts val="400"/>
              </a:spcAft>
            </a:pPr>
            <a:r>
              <a:rPr sz="1500" b="0">
                <a:solidFill>
                  <a:srgbClr val="FFFFFF"/>
                </a:solidFill>
                <a:latin typeface="Malgun Gothic"/>
                <a:ea typeface="Malgun Gothic"/>
              </a:rPr>
              <a:t>우리 회사 연차 규정에 대해 알려줘</a:t>
            </a:r>
          </a:p>
        </p:txBody>
      </p:sp>
      <p:sp>
        <p:nvSpPr>
          <p:cNvPr id="9" name="Rounded Rectangle 8"/>
          <p:cNvSpPr/>
          <p:nvPr/>
        </p:nvSpPr>
        <p:spPr>
          <a:xfrm>
            <a:off x="685800" y="2551176"/>
            <a:ext cx="6583680" cy="3063240"/>
          </a:xfrm>
          <a:prstGeom prst="roundRect">
            <a:avLst>
              <a:gd name="adj" fmla="val 5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886968" y="2734056"/>
            <a:ext cx="384048" cy="384048"/>
          </a:xfrm>
          <a:prstGeom prst="ellipse">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300" b="1">
                <a:solidFill>
                  <a:srgbClr val="FFFFFF"/>
                </a:solidFill>
                <a:latin typeface="Malgun Gothic"/>
                <a:ea typeface="Malgun Gothic"/>
              </a:rPr>
              <a:t>사</a:t>
            </a:r>
          </a:p>
        </p:txBody>
      </p:sp>
      <p:sp>
        <p:nvSpPr>
          <p:cNvPr id="11" name="TextBox 10"/>
          <p:cNvSpPr txBox="1"/>
          <p:nvPr/>
        </p:nvSpPr>
        <p:spPr>
          <a:xfrm>
            <a:off x="1435607" y="2770632"/>
            <a:ext cx="5623560" cy="2697480"/>
          </a:xfrm>
          <a:prstGeom prst="rect">
            <a:avLst/>
          </a:prstGeom>
          <a:noFill/>
        </p:spPr>
        <p:txBody>
          <a:bodyPr wrap="square" lIns="0" rIns="0" tIns="0" bIns="0">
            <a:spAutoFit/>
          </a:bodyPr>
          <a:lstStyle/>
          <a:p>
            <a:pPr>
              <a:lnSpc>
                <a:spcPct val="110000"/>
              </a:lnSpc>
              <a:spcAft>
                <a:spcPts val="600"/>
              </a:spcAft>
            </a:pPr>
            <a:r>
              <a:rPr sz="1300" b="1">
                <a:solidFill>
                  <a:srgbClr val="1B2A3A"/>
                </a:solidFill>
                <a:latin typeface="Malgun Gothic"/>
                <a:ea typeface="Malgun Gothic"/>
              </a:rPr>
              <a:t>예정된 연차: </a:t>
            </a:r>
            <a:r>
              <a:rPr sz="1300" b="0">
                <a:solidFill>
                  <a:srgbClr val="1B2A3A"/>
                </a:solidFill>
                <a:latin typeface="Malgun Gothic"/>
                <a:ea typeface="Malgun Gothic"/>
              </a:rPr>
              <a:t>사용 시작일 기준 3영업일 전까지 이음 포털 인사 &gt; 휴가에서 신청합니다. …</a:t>
            </a:r>
          </a:p>
          <a:p>
            <a:pPr>
              <a:lnSpc>
                <a:spcPct val="110000"/>
              </a:lnSpc>
              <a:spcAft>
                <a:spcPts val="600"/>
              </a:spcAft>
            </a:pPr>
            <a:r>
              <a:rPr sz="1300" b="1">
                <a:solidFill>
                  <a:srgbClr val="1B2A3A"/>
                </a:solidFill>
                <a:latin typeface="Malgun Gothic"/>
                <a:ea typeface="Malgun Gothic"/>
              </a:rPr>
              <a:t>갑작스러운 사정: </a:t>
            </a:r>
            <a:r>
              <a:rPr sz="1300" b="0">
                <a:solidFill>
                  <a:srgbClr val="1B2A3A"/>
                </a:solidFill>
                <a:latin typeface="Malgun Gothic"/>
                <a:ea typeface="Malgun Gothic"/>
              </a:rPr>
              <a:t>… 근무 시작 전에 팀장에게 Slack으로 알리고, 여건이 되는 가장 빠른 시점에 포털 신청을 보완합니다.</a:t>
            </a:r>
          </a:p>
          <a:p>
            <a:pPr>
              <a:lnSpc>
                <a:spcPct val="110000"/>
              </a:lnSpc>
              <a:spcAft>
                <a:spcPts val="600"/>
              </a:spcAft>
            </a:pPr>
            <a:r>
              <a:rPr sz="1300" b="1">
                <a:solidFill>
                  <a:srgbClr val="1B2A3A"/>
                </a:solidFill>
                <a:latin typeface="Malgun Gothic"/>
                <a:ea typeface="Malgun Gothic"/>
              </a:rPr>
              <a:t>신청 후: </a:t>
            </a:r>
            <a:r>
              <a:rPr sz="1300" b="0">
                <a:solidFill>
                  <a:srgbClr val="1B2A3A"/>
                </a:solidFill>
                <a:latin typeface="Malgun Gothic"/>
                <a:ea typeface="Malgun Gothic"/>
              </a:rPr>
              <a:t>포털에서 접수 상태를 확인합니다. 팀장은 접수 후 1영업일 안에 승인하거나 People팀 확인 필요 상태를 남깁니다. …</a:t>
            </a:r>
          </a:p>
          <a:p>
            <a:pPr>
              <a:lnSpc>
                <a:spcPct val="110000"/>
              </a:lnSpc>
              <a:spcAft>
                <a:spcPts val="600"/>
              </a:spcAft>
            </a:pPr>
            <a:r>
              <a:rPr sz="1300" b="0">
                <a:solidFill>
                  <a:srgbClr val="5B6B7C"/>
                </a:solidFill>
                <a:latin typeface="Malgun Gothic"/>
                <a:ea typeface="Malgun Gothic"/>
              </a:rPr>
              <a:t>이 안내만으로는 법령상 연차 부여 일수나 개인별 잔여 일수를 계산할 수 없습니다. …</a:t>
            </a:r>
          </a:p>
        </p:txBody>
      </p:sp>
      <p:sp>
        <p:nvSpPr>
          <p:cNvPr id="12" name="Rounded Rectangle 11"/>
          <p:cNvSpPr/>
          <p:nvPr/>
        </p:nvSpPr>
        <p:spPr>
          <a:xfrm>
            <a:off x="7589520" y="1783080"/>
            <a:ext cx="3931920" cy="2148840"/>
          </a:xfrm>
          <a:prstGeom prst="roundRect">
            <a:avLst>
              <a:gd name="adj" fmla="val 6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863840" y="1938528"/>
            <a:ext cx="3474720" cy="320040"/>
          </a:xfrm>
          <a:prstGeom prst="rect">
            <a:avLst/>
          </a:prstGeom>
          <a:noFill/>
        </p:spPr>
        <p:txBody>
          <a:bodyPr wrap="square" lIns="0" rIns="0" tIns="0" bIns="0">
            <a:spAutoFit/>
          </a:bodyPr>
          <a:lstStyle/>
          <a:p>
            <a:pPr>
              <a:lnSpc>
                <a:spcPct val="110000"/>
              </a:lnSpc>
              <a:spcAft>
                <a:spcPts val="400"/>
              </a:spcAft>
            </a:pPr>
            <a:r>
              <a:rPr sz="1500" b="1">
                <a:solidFill>
                  <a:srgbClr val="075E63"/>
                </a:solidFill>
                <a:latin typeface="Malgun Gothic"/>
                <a:ea typeface="Malgun Gothic"/>
              </a:rPr>
              <a:t>사내비가 하는 일</a:t>
            </a:r>
          </a:p>
        </p:txBody>
      </p:sp>
      <p:sp>
        <p:nvSpPr>
          <p:cNvPr id="14" name="TextBox 13"/>
          <p:cNvSpPr txBox="1"/>
          <p:nvPr/>
        </p:nvSpPr>
        <p:spPr>
          <a:xfrm>
            <a:off x="7863840" y="2377440"/>
            <a:ext cx="3520440" cy="365760"/>
          </a:xfrm>
          <a:prstGeom prst="rect">
            <a:avLst/>
          </a:prstGeom>
          <a:noFill/>
        </p:spPr>
        <p:txBody>
          <a:bodyPr wrap="square" lIns="0" rIns="0" tIns="0" bIns="0">
            <a:spAutoFit/>
          </a:bodyPr>
          <a:lstStyle/>
          <a:p>
            <a:pPr>
              <a:lnSpc>
                <a:spcPct val="110000"/>
              </a:lnSpc>
              <a:spcAft>
                <a:spcPts val="400"/>
              </a:spcAft>
            </a:pPr>
            <a:r>
              <a:rPr sz="1500" b="1">
                <a:solidFill>
                  <a:srgbClr val="0A7E85"/>
                </a:solidFill>
                <a:latin typeface="Malgun Gothic"/>
                <a:ea typeface="Malgun Gothic"/>
              </a:rPr>
              <a:t>✓  </a:t>
            </a:r>
            <a:r>
              <a:rPr sz="1500" b="0">
                <a:solidFill>
                  <a:srgbClr val="1B2A3A"/>
                </a:solidFill>
                <a:latin typeface="Malgun Gothic"/>
                <a:ea typeface="Malgun Gothic"/>
              </a:rPr>
              <a:t>규정·절차를 문서 근거로 안내</a:t>
            </a:r>
          </a:p>
        </p:txBody>
      </p:sp>
      <p:sp>
        <p:nvSpPr>
          <p:cNvPr id="15" name="TextBox 14"/>
          <p:cNvSpPr txBox="1"/>
          <p:nvPr/>
        </p:nvSpPr>
        <p:spPr>
          <a:xfrm>
            <a:off x="7863840" y="2852928"/>
            <a:ext cx="3520440" cy="365760"/>
          </a:xfrm>
          <a:prstGeom prst="rect">
            <a:avLst/>
          </a:prstGeom>
          <a:noFill/>
        </p:spPr>
        <p:txBody>
          <a:bodyPr wrap="square" lIns="0" rIns="0" tIns="0" bIns="0">
            <a:spAutoFit/>
          </a:bodyPr>
          <a:lstStyle/>
          <a:p>
            <a:pPr>
              <a:lnSpc>
                <a:spcPct val="110000"/>
              </a:lnSpc>
              <a:spcAft>
                <a:spcPts val="400"/>
              </a:spcAft>
            </a:pPr>
            <a:r>
              <a:rPr sz="1500" b="1">
                <a:solidFill>
                  <a:srgbClr val="0A7E85"/>
                </a:solidFill>
                <a:latin typeface="Malgun Gothic"/>
                <a:ea typeface="Malgun Gothic"/>
              </a:rPr>
              <a:t>✓  </a:t>
            </a:r>
            <a:r>
              <a:rPr sz="1500" b="0">
                <a:solidFill>
                  <a:srgbClr val="1B2A3A"/>
                </a:solidFill>
                <a:latin typeface="Malgun Gothic"/>
                <a:ea typeface="Malgun Gothic"/>
              </a:rPr>
              <a:t>기한·경로·담당 역할 정리</a:t>
            </a:r>
          </a:p>
        </p:txBody>
      </p:sp>
      <p:sp>
        <p:nvSpPr>
          <p:cNvPr id="16" name="TextBox 15"/>
          <p:cNvSpPr txBox="1"/>
          <p:nvPr/>
        </p:nvSpPr>
        <p:spPr>
          <a:xfrm>
            <a:off x="7863840" y="3328416"/>
            <a:ext cx="3520440" cy="365760"/>
          </a:xfrm>
          <a:prstGeom prst="rect">
            <a:avLst/>
          </a:prstGeom>
          <a:noFill/>
        </p:spPr>
        <p:txBody>
          <a:bodyPr wrap="square" lIns="0" rIns="0" tIns="0" bIns="0">
            <a:spAutoFit/>
          </a:bodyPr>
          <a:lstStyle/>
          <a:p>
            <a:pPr>
              <a:lnSpc>
                <a:spcPct val="110000"/>
              </a:lnSpc>
              <a:spcAft>
                <a:spcPts val="400"/>
              </a:spcAft>
            </a:pPr>
            <a:r>
              <a:rPr sz="1500" b="1">
                <a:solidFill>
                  <a:srgbClr val="0A7E85"/>
                </a:solidFill>
                <a:latin typeface="Malgun Gothic"/>
                <a:ea typeface="Malgun Gothic"/>
              </a:rPr>
              <a:t>✓  </a:t>
            </a:r>
            <a:r>
              <a:rPr sz="1500" b="0">
                <a:solidFill>
                  <a:srgbClr val="1B2A3A"/>
                </a:solidFill>
                <a:latin typeface="Malgun Gothic"/>
                <a:ea typeface="Malgun Gothic"/>
              </a:rPr>
              <a:t>자료 부족과 지원 범위 설명</a:t>
            </a:r>
          </a:p>
        </p:txBody>
      </p:sp>
      <p:sp>
        <p:nvSpPr>
          <p:cNvPr id="17" name="Rounded Rectangle 16"/>
          <p:cNvSpPr/>
          <p:nvPr/>
        </p:nvSpPr>
        <p:spPr>
          <a:xfrm>
            <a:off x="7589520" y="4114800"/>
            <a:ext cx="3931920" cy="1463040"/>
          </a:xfrm>
          <a:prstGeom prst="roundRect">
            <a:avLst>
              <a:gd name="adj" fmla="val 6000"/>
            </a:avLst>
          </a:prstGeom>
          <a:solidFill>
            <a:srgbClr val="FBE9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863840" y="4270248"/>
            <a:ext cx="3474720" cy="320040"/>
          </a:xfrm>
          <a:prstGeom prst="rect">
            <a:avLst/>
          </a:prstGeom>
          <a:noFill/>
        </p:spPr>
        <p:txBody>
          <a:bodyPr wrap="square" lIns="0" rIns="0" tIns="0" bIns="0">
            <a:spAutoFit/>
          </a:bodyPr>
          <a:lstStyle/>
          <a:p>
            <a:pPr>
              <a:lnSpc>
                <a:spcPct val="110000"/>
              </a:lnSpc>
              <a:spcAft>
                <a:spcPts val="400"/>
              </a:spcAft>
            </a:pPr>
            <a:r>
              <a:rPr sz="1500" b="1">
                <a:solidFill>
                  <a:srgbClr val="C2553F"/>
                </a:solidFill>
                <a:latin typeface="Malgun Gothic"/>
                <a:ea typeface="Malgun Gothic"/>
              </a:rPr>
              <a:t>하지 않는 일</a:t>
            </a:r>
          </a:p>
        </p:txBody>
      </p:sp>
      <p:sp>
        <p:nvSpPr>
          <p:cNvPr id="19" name="TextBox 18"/>
          <p:cNvSpPr txBox="1"/>
          <p:nvPr/>
        </p:nvSpPr>
        <p:spPr>
          <a:xfrm>
            <a:off x="7863840" y="4709160"/>
            <a:ext cx="3520440" cy="365760"/>
          </a:xfrm>
          <a:prstGeom prst="rect">
            <a:avLst/>
          </a:prstGeom>
          <a:noFill/>
        </p:spPr>
        <p:txBody>
          <a:bodyPr wrap="square" lIns="0" rIns="0" tIns="0" bIns="0">
            <a:spAutoFit/>
          </a:bodyPr>
          <a:lstStyle/>
          <a:p>
            <a:pPr>
              <a:lnSpc>
                <a:spcPct val="110000"/>
              </a:lnSpc>
              <a:spcAft>
                <a:spcPts val="400"/>
              </a:spcAft>
            </a:pPr>
            <a:r>
              <a:rPr sz="1500" b="1">
                <a:solidFill>
                  <a:srgbClr val="C2553F"/>
                </a:solidFill>
                <a:latin typeface="Malgun Gothic"/>
                <a:ea typeface="Malgun Gothic"/>
              </a:rPr>
              <a:t>✕  </a:t>
            </a:r>
            <a:r>
              <a:rPr sz="1500" b="0">
                <a:solidFill>
                  <a:srgbClr val="1B2A3A"/>
                </a:solidFill>
                <a:latin typeface="Malgun Gothic"/>
                <a:ea typeface="Malgun Gothic"/>
              </a:rPr>
              <a:t>개인 잔여 일수 조회</a:t>
            </a:r>
          </a:p>
        </p:txBody>
      </p:sp>
      <p:sp>
        <p:nvSpPr>
          <p:cNvPr id="20" name="TextBox 19"/>
          <p:cNvSpPr txBox="1"/>
          <p:nvPr/>
        </p:nvSpPr>
        <p:spPr>
          <a:xfrm>
            <a:off x="7863840" y="5120640"/>
            <a:ext cx="3520440" cy="365760"/>
          </a:xfrm>
          <a:prstGeom prst="rect">
            <a:avLst/>
          </a:prstGeom>
          <a:noFill/>
        </p:spPr>
        <p:txBody>
          <a:bodyPr wrap="square" lIns="0" rIns="0" tIns="0" bIns="0">
            <a:spAutoFit/>
          </a:bodyPr>
          <a:lstStyle/>
          <a:p>
            <a:pPr>
              <a:lnSpc>
                <a:spcPct val="110000"/>
              </a:lnSpc>
              <a:spcAft>
                <a:spcPts val="400"/>
              </a:spcAft>
            </a:pPr>
            <a:r>
              <a:rPr sz="1500" b="1">
                <a:solidFill>
                  <a:srgbClr val="C2553F"/>
                </a:solidFill>
                <a:latin typeface="Malgun Gothic"/>
                <a:ea typeface="Malgun Gothic"/>
              </a:rPr>
              <a:t>✕  </a:t>
            </a:r>
            <a:r>
              <a:rPr sz="1500" b="0">
                <a:solidFill>
                  <a:srgbClr val="1B2A3A"/>
                </a:solidFill>
                <a:latin typeface="Malgun Gothic"/>
                <a:ea typeface="Malgun Gothic"/>
              </a:rPr>
              <a:t>신청·승인 대행</a:t>
            </a:r>
          </a:p>
        </p:txBody>
      </p:sp>
      <p:sp>
        <p:nvSpPr>
          <p:cNvPr id="21" name="Rounded Rectangle 20"/>
          <p:cNvSpPr/>
          <p:nvPr/>
        </p:nvSpPr>
        <p:spPr>
          <a:xfrm>
            <a:off x="685800" y="5897880"/>
            <a:ext cx="2011680" cy="347472"/>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5B6B7C"/>
                </a:solidFill>
                <a:latin typeface="Malgun Gothic"/>
                <a:ea typeface="Malgun Gothic"/>
              </a:rPr>
              <a:t>휴가·근태</a:t>
            </a:r>
          </a:p>
        </p:txBody>
      </p:sp>
      <p:sp>
        <p:nvSpPr>
          <p:cNvPr id="22" name="Rounded Rectangle 21"/>
          <p:cNvSpPr/>
          <p:nvPr/>
        </p:nvSpPr>
        <p:spPr>
          <a:xfrm>
            <a:off x="2926080" y="5897880"/>
            <a:ext cx="2011680" cy="347472"/>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5B6B7C"/>
                </a:solidFill>
                <a:latin typeface="Malgun Gothic"/>
                <a:ea typeface="Malgun Gothic"/>
              </a:rPr>
              <a:t>비용·정산</a:t>
            </a:r>
          </a:p>
        </p:txBody>
      </p:sp>
      <p:sp>
        <p:nvSpPr>
          <p:cNvPr id="23" name="Rounded Rectangle 22"/>
          <p:cNvSpPr/>
          <p:nvPr/>
        </p:nvSpPr>
        <p:spPr>
          <a:xfrm>
            <a:off x="5166360" y="5897880"/>
            <a:ext cx="2011680" cy="347472"/>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5B6B7C"/>
                </a:solidFill>
                <a:latin typeface="Malgun Gothic"/>
                <a:ea typeface="Malgun Gothic"/>
              </a:rPr>
              <a:t>IT·보안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사내비 프로젝트</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질문에서 답변까지, 사내비의 흐름</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문서를 미리 준비하고, 질문마다 필요한 근거를 찾아 답변으로 연결합니다</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05</a:t>
            </a:r>
          </a:p>
        </p:txBody>
      </p:sp>
      <p:sp>
        <p:nvSpPr>
          <p:cNvPr id="7" name="Rounded Rectangle 6"/>
          <p:cNvSpPr/>
          <p:nvPr/>
        </p:nvSpPr>
        <p:spPr>
          <a:xfrm>
            <a:off x="685800" y="1783080"/>
            <a:ext cx="10835640" cy="1188720"/>
          </a:xfrm>
          <a:prstGeom prst="roundRect">
            <a:avLst>
              <a:gd name="adj" fmla="val 8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14400" y="1892807"/>
            <a:ext cx="1828800" cy="274320"/>
          </a:xfrm>
          <a:prstGeom prst="rect">
            <a:avLst/>
          </a:prstGeom>
          <a:noFill/>
        </p:spPr>
        <p:txBody>
          <a:bodyPr wrap="square" lIns="0" rIns="0" tIns="0" bIns="0">
            <a:spAutoFit/>
          </a:bodyPr>
          <a:lstStyle/>
          <a:p>
            <a:pPr>
              <a:lnSpc>
                <a:spcPct val="110000"/>
              </a:lnSpc>
              <a:spcAft>
                <a:spcPts val="400"/>
              </a:spcAft>
            </a:pPr>
            <a:r>
              <a:rPr sz="1300" b="1">
                <a:solidFill>
                  <a:srgbClr val="5B6B7C"/>
                </a:solidFill>
                <a:latin typeface="Malgun Gothic"/>
                <a:ea typeface="Malgun Gothic"/>
              </a:rPr>
              <a:t>사전 준비</a:t>
            </a:r>
          </a:p>
        </p:txBody>
      </p:sp>
      <p:sp>
        <p:nvSpPr>
          <p:cNvPr id="9" name="Rounded Rectangle 8"/>
          <p:cNvSpPr/>
          <p:nvPr/>
        </p:nvSpPr>
        <p:spPr>
          <a:xfrm>
            <a:off x="914400" y="2194560"/>
            <a:ext cx="1920240" cy="621792"/>
          </a:xfrm>
          <a:prstGeom prst="roundRect">
            <a:avLst>
              <a:gd name="adj" fmla="val 12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400" b="1">
                <a:solidFill>
                  <a:srgbClr val="1B2A3A"/>
                </a:solidFill>
                <a:latin typeface="Malgun Gothic"/>
                <a:ea typeface="Malgun Gothic"/>
              </a:rPr>
              <a:t>회사 문서 작성·검수</a:t>
            </a:r>
          </a:p>
          <a:p>
            <a:pPr algn="ctr">
              <a:lnSpc>
                <a:spcPct val="105000"/>
              </a:lnSpc>
            </a:pPr>
            <a:r>
              <a:rPr sz="1400" b="1">
                <a:solidFill>
                  <a:srgbClr val="1B2A3A"/>
                </a:solidFill>
                <a:latin typeface="Malgun Gothic"/>
                <a:ea typeface="Malgun Gothic"/>
              </a:rPr>
              <a:t/>
            </a:r>
          </a:p>
        </p:txBody>
      </p:sp>
      <p:sp>
        <p:nvSpPr>
          <p:cNvPr id="10" name="TextBox 9"/>
          <p:cNvSpPr txBox="1"/>
          <p:nvPr/>
        </p:nvSpPr>
        <p:spPr>
          <a:xfrm>
            <a:off x="914400" y="2496312"/>
            <a:ext cx="1920240" cy="274320"/>
          </a:xfrm>
          <a:prstGeom prst="rect">
            <a:avLst/>
          </a:prstGeom>
          <a:noFill/>
        </p:spPr>
        <p:txBody>
          <a:bodyPr wrap="square" lIns="0" rIns="0" tIns="0" bIns="0">
            <a:spAutoFit/>
          </a:bodyPr>
          <a:lstStyle/>
          <a:p>
            <a:pPr algn="ctr">
              <a:lnSpc>
                <a:spcPct val="110000"/>
              </a:lnSpc>
              <a:spcAft>
                <a:spcPts val="400"/>
              </a:spcAft>
            </a:pPr>
            <a:r>
              <a:rPr sz="1100" b="0">
                <a:solidFill>
                  <a:srgbClr val="5B6B7C"/>
                </a:solidFill>
                <a:latin typeface="Malgun Gothic"/>
                <a:ea typeface="Malgun Gothic"/>
              </a:rPr>
              <a:t>LLM 초안 + 별도 AI 검수</a:t>
            </a:r>
          </a:p>
        </p:txBody>
      </p:sp>
      <p:cxnSp>
        <p:nvCxnSpPr>
          <p:cNvPr id="11" name="Connector 10"/>
          <p:cNvCxnSpPr/>
          <p:nvPr/>
        </p:nvCxnSpPr>
        <p:spPr>
          <a:xfrm>
            <a:off x="2852928" y="2505456"/>
            <a:ext cx="237744" cy="0"/>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12" name="Rounded Rectangle 11"/>
          <p:cNvSpPr/>
          <p:nvPr/>
        </p:nvSpPr>
        <p:spPr>
          <a:xfrm>
            <a:off x="3108960" y="2194560"/>
            <a:ext cx="1920240" cy="621792"/>
          </a:xfrm>
          <a:prstGeom prst="roundRect">
            <a:avLst>
              <a:gd name="adj" fmla="val 12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400" b="1">
                <a:solidFill>
                  <a:srgbClr val="1B2A3A"/>
                </a:solidFill>
                <a:latin typeface="Malgun Gothic"/>
                <a:ea typeface="Malgun Gothic"/>
              </a:rPr>
              <a:t>게시 문서</a:t>
            </a:r>
          </a:p>
          <a:p>
            <a:pPr algn="ctr">
              <a:lnSpc>
                <a:spcPct val="105000"/>
              </a:lnSpc>
            </a:pPr>
            <a:r>
              <a:rPr sz="1400" b="1">
                <a:solidFill>
                  <a:srgbClr val="1B2A3A"/>
                </a:solidFill>
                <a:latin typeface="Malgun Gothic"/>
                <a:ea typeface="Malgun Gothic"/>
              </a:rPr>
              <a:t/>
            </a:r>
          </a:p>
        </p:txBody>
      </p:sp>
      <p:sp>
        <p:nvSpPr>
          <p:cNvPr id="13" name="TextBox 12"/>
          <p:cNvSpPr txBox="1"/>
          <p:nvPr/>
        </p:nvSpPr>
        <p:spPr>
          <a:xfrm>
            <a:off x="3108960" y="2496312"/>
            <a:ext cx="1920240" cy="274320"/>
          </a:xfrm>
          <a:prstGeom prst="rect">
            <a:avLst/>
          </a:prstGeom>
          <a:noFill/>
        </p:spPr>
        <p:txBody>
          <a:bodyPr wrap="square" lIns="0" rIns="0" tIns="0" bIns="0">
            <a:spAutoFit/>
          </a:bodyPr>
          <a:lstStyle/>
          <a:p>
            <a:pPr algn="ctr">
              <a:lnSpc>
                <a:spcPct val="110000"/>
              </a:lnSpc>
              <a:spcAft>
                <a:spcPts val="400"/>
              </a:spcAft>
            </a:pPr>
            <a:r>
              <a:rPr sz="1100" b="0">
                <a:solidFill>
                  <a:srgbClr val="5B6B7C"/>
                </a:solidFill>
                <a:latin typeface="Malgun Gothic"/>
                <a:ea typeface="Malgun Gothic"/>
              </a:rPr>
              <a:t>유효한 회사 기준</a:t>
            </a:r>
          </a:p>
        </p:txBody>
      </p:sp>
      <p:cxnSp>
        <p:nvCxnSpPr>
          <p:cNvPr id="14" name="Connector 13"/>
          <p:cNvCxnSpPr/>
          <p:nvPr/>
        </p:nvCxnSpPr>
        <p:spPr>
          <a:xfrm>
            <a:off x="5047488" y="2505456"/>
            <a:ext cx="237743" cy="0"/>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5303520" y="2194560"/>
            <a:ext cx="1920240" cy="621792"/>
          </a:xfrm>
          <a:prstGeom prst="roundRect">
            <a:avLst>
              <a:gd name="adj" fmla="val 12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400" b="1">
                <a:solidFill>
                  <a:srgbClr val="1B2A3A"/>
                </a:solidFill>
                <a:latin typeface="Malgun Gothic"/>
                <a:ea typeface="Malgun Gothic"/>
              </a:rPr>
              <a:t>검색 색인</a:t>
            </a:r>
          </a:p>
          <a:p>
            <a:pPr algn="ctr">
              <a:lnSpc>
                <a:spcPct val="105000"/>
              </a:lnSpc>
            </a:pPr>
            <a:r>
              <a:rPr sz="1400" b="1">
                <a:solidFill>
                  <a:srgbClr val="1B2A3A"/>
                </a:solidFill>
                <a:latin typeface="Malgun Gothic"/>
                <a:ea typeface="Malgun Gothic"/>
              </a:rPr>
              <a:t/>
            </a:r>
          </a:p>
        </p:txBody>
      </p:sp>
      <p:sp>
        <p:nvSpPr>
          <p:cNvPr id="16" name="TextBox 15"/>
          <p:cNvSpPr txBox="1"/>
          <p:nvPr/>
        </p:nvSpPr>
        <p:spPr>
          <a:xfrm>
            <a:off x="5303520" y="2496312"/>
            <a:ext cx="1920240" cy="274320"/>
          </a:xfrm>
          <a:prstGeom prst="rect">
            <a:avLst/>
          </a:prstGeom>
          <a:noFill/>
        </p:spPr>
        <p:txBody>
          <a:bodyPr wrap="square" lIns="0" rIns="0" tIns="0" bIns="0">
            <a:spAutoFit/>
          </a:bodyPr>
          <a:lstStyle/>
          <a:p>
            <a:pPr algn="ctr">
              <a:lnSpc>
                <a:spcPct val="110000"/>
              </a:lnSpc>
              <a:spcAft>
                <a:spcPts val="400"/>
              </a:spcAft>
            </a:pPr>
            <a:r>
              <a:rPr sz="1100" b="0">
                <a:solidFill>
                  <a:srgbClr val="5B6B7C"/>
                </a:solidFill>
                <a:latin typeface="Malgun Gothic"/>
                <a:ea typeface="Malgun Gothic"/>
              </a:rPr>
              <a:t>청크 · 임베딩</a:t>
            </a:r>
          </a:p>
        </p:txBody>
      </p:sp>
      <p:sp>
        <p:nvSpPr>
          <p:cNvPr id="17" name="TextBox 16"/>
          <p:cNvSpPr txBox="1"/>
          <p:nvPr/>
        </p:nvSpPr>
        <p:spPr>
          <a:xfrm>
            <a:off x="8001000" y="2176272"/>
            <a:ext cx="3383280" cy="640080"/>
          </a:xfrm>
          <a:prstGeom prst="rect">
            <a:avLst/>
          </a:prstGeom>
          <a:noFill/>
        </p:spPr>
        <p:txBody>
          <a:bodyPr wrap="square" lIns="0" rIns="0" tIns="0" bIns="0">
            <a:spAutoFit/>
          </a:bodyPr>
          <a:lstStyle/>
          <a:p>
            <a:pPr>
              <a:lnSpc>
                <a:spcPct val="115000"/>
              </a:lnSpc>
              <a:spcAft>
                <a:spcPts val="400"/>
              </a:spcAft>
            </a:pPr>
            <a:r>
              <a:rPr sz="1300" b="1">
                <a:solidFill>
                  <a:srgbClr val="075E63"/>
                </a:solidFill>
                <a:latin typeface="Malgun Gothic"/>
                <a:ea typeface="Malgun Gothic"/>
              </a:rPr>
              <a:t>답변의 기준은 게시된 회사 문서</a:t>
            </a:r>
          </a:p>
          <a:p>
            <a:pPr>
              <a:lnSpc>
                <a:spcPct val="115000"/>
              </a:lnSpc>
              <a:spcAft>
                <a:spcPts val="400"/>
              </a:spcAft>
            </a:pPr>
            <a:r>
              <a:rPr sz="1300" b="1">
                <a:solidFill>
                  <a:srgbClr val="075E63"/>
                </a:solidFill>
                <a:latin typeface="Malgun Gothic"/>
                <a:ea typeface="Malgun Gothic"/>
              </a:rPr>
              <a:t>문서가 바뀌면 검색 근거도 갱신</a:t>
            </a:r>
          </a:p>
        </p:txBody>
      </p:sp>
      <p:cxnSp>
        <p:nvCxnSpPr>
          <p:cNvPr id="18" name="Connector 17"/>
          <p:cNvCxnSpPr/>
          <p:nvPr/>
        </p:nvCxnSpPr>
        <p:spPr>
          <a:xfrm>
            <a:off x="5760720" y="2816352"/>
            <a:ext cx="0" cy="859535"/>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685800" y="3246120"/>
            <a:ext cx="2743200" cy="274320"/>
          </a:xfrm>
          <a:prstGeom prst="rect">
            <a:avLst/>
          </a:prstGeom>
          <a:noFill/>
        </p:spPr>
        <p:txBody>
          <a:bodyPr wrap="square" lIns="0" rIns="0" tIns="0" bIns="0">
            <a:spAutoFit/>
          </a:bodyPr>
          <a:lstStyle/>
          <a:p>
            <a:pPr>
              <a:lnSpc>
                <a:spcPct val="110000"/>
              </a:lnSpc>
              <a:spcAft>
                <a:spcPts val="400"/>
              </a:spcAft>
            </a:pPr>
            <a:r>
              <a:rPr sz="1300" b="1">
                <a:solidFill>
                  <a:srgbClr val="5B6B7C"/>
                </a:solidFill>
                <a:latin typeface="Malgun Gothic"/>
                <a:ea typeface="Malgun Gothic"/>
              </a:rPr>
              <a:t>질문 처리</a:t>
            </a:r>
          </a:p>
        </p:txBody>
      </p:sp>
      <p:sp>
        <p:nvSpPr>
          <p:cNvPr id="20" name="Rounded Rectangle 19"/>
          <p:cNvSpPr/>
          <p:nvPr/>
        </p:nvSpPr>
        <p:spPr>
          <a:xfrm>
            <a:off x="685800" y="3703320"/>
            <a:ext cx="1627632" cy="960120"/>
          </a:xfrm>
          <a:prstGeom prst="roundRect">
            <a:avLst>
              <a:gd name="adj" fmla="val 1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700" b="1">
                <a:solidFill>
                  <a:srgbClr val="FFFFFF"/>
                </a:solidFill>
                <a:latin typeface="Malgun Gothic"/>
                <a:ea typeface="Malgun Gothic"/>
              </a:rPr>
              <a:t>① 접수</a:t>
            </a:r>
          </a:p>
        </p:txBody>
      </p:sp>
      <p:sp>
        <p:nvSpPr>
          <p:cNvPr id="21" name="TextBox 20"/>
          <p:cNvSpPr txBox="1"/>
          <p:nvPr/>
        </p:nvSpPr>
        <p:spPr>
          <a:xfrm>
            <a:off x="685800" y="4727448"/>
            <a:ext cx="1627632" cy="274320"/>
          </a:xfrm>
          <a:prstGeom prst="rect">
            <a:avLst/>
          </a:prstGeom>
          <a:noFill/>
        </p:spPr>
        <p:txBody>
          <a:bodyPr wrap="square" lIns="0" rIns="0" tIns="0" bIns="0">
            <a:spAutoFit/>
          </a:bodyPr>
          <a:lstStyle/>
          <a:p>
            <a:pPr algn="ctr">
              <a:lnSpc>
                <a:spcPct val="110000"/>
              </a:lnSpc>
              <a:spcAft>
                <a:spcPts val="400"/>
              </a:spcAft>
            </a:pPr>
            <a:r>
              <a:rPr sz="1300" b="1">
                <a:solidFill>
                  <a:srgbClr val="5B6B7C"/>
                </a:solidFill>
                <a:latin typeface="Malgun Gothic"/>
                <a:ea typeface="Malgun Gothic"/>
              </a:rPr>
              <a:t>FastAPI</a:t>
            </a:r>
          </a:p>
        </p:txBody>
      </p:sp>
      <p:cxnSp>
        <p:nvCxnSpPr>
          <p:cNvPr id="22" name="Connector 21"/>
          <p:cNvCxnSpPr/>
          <p:nvPr/>
        </p:nvCxnSpPr>
        <p:spPr>
          <a:xfrm>
            <a:off x="2331720" y="4178808"/>
            <a:ext cx="182880" cy="0"/>
          </a:xfrm>
          <a:prstGeom prst="line">
            <a:avLst/>
          </a:prstGeom>
          <a:ln w="2032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2532888" y="3703320"/>
            <a:ext cx="1627632" cy="960120"/>
          </a:xfrm>
          <a:prstGeom prst="roundRect">
            <a:avLst>
              <a:gd name="adj" fmla="val 1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700" b="1">
                <a:solidFill>
                  <a:srgbClr val="FFFFFF"/>
                </a:solidFill>
                <a:latin typeface="Malgun Gothic"/>
                <a:ea typeface="Malgun Gothic"/>
              </a:rPr>
              <a:t>② 분류</a:t>
            </a:r>
          </a:p>
        </p:txBody>
      </p:sp>
      <p:sp>
        <p:nvSpPr>
          <p:cNvPr id="24" name="TextBox 23"/>
          <p:cNvSpPr txBox="1"/>
          <p:nvPr/>
        </p:nvSpPr>
        <p:spPr>
          <a:xfrm>
            <a:off x="2532888" y="4727448"/>
            <a:ext cx="1627632" cy="274320"/>
          </a:xfrm>
          <a:prstGeom prst="rect">
            <a:avLst/>
          </a:prstGeom>
          <a:noFill/>
        </p:spPr>
        <p:txBody>
          <a:bodyPr wrap="square" lIns="0" rIns="0" tIns="0" bIns="0">
            <a:spAutoFit/>
          </a:bodyPr>
          <a:lstStyle/>
          <a:p>
            <a:pPr algn="ctr">
              <a:lnSpc>
                <a:spcPct val="110000"/>
              </a:lnSpc>
              <a:spcAft>
                <a:spcPts val="400"/>
              </a:spcAft>
            </a:pPr>
            <a:r>
              <a:rPr sz="1300" b="1">
                <a:solidFill>
                  <a:srgbClr val="5B6B7C"/>
                </a:solidFill>
                <a:latin typeface="Malgun Gothic"/>
                <a:ea typeface="Malgun Gothic"/>
              </a:rPr>
              <a:t>KoELECTRA</a:t>
            </a:r>
          </a:p>
        </p:txBody>
      </p:sp>
      <p:cxnSp>
        <p:nvCxnSpPr>
          <p:cNvPr id="25" name="Connector 24"/>
          <p:cNvCxnSpPr/>
          <p:nvPr/>
        </p:nvCxnSpPr>
        <p:spPr>
          <a:xfrm>
            <a:off x="4178808" y="4178808"/>
            <a:ext cx="182880" cy="0"/>
          </a:xfrm>
          <a:prstGeom prst="line">
            <a:avLst/>
          </a:prstGeom>
          <a:ln w="2032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6" name="Rounded Rectangle 25"/>
          <p:cNvSpPr/>
          <p:nvPr/>
        </p:nvSpPr>
        <p:spPr>
          <a:xfrm>
            <a:off x="4379976" y="3703320"/>
            <a:ext cx="1627632" cy="960120"/>
          </a:xfrm>
          <a:prstGeom prst="roundRect">
            <a:avLst>
              <a:gd name="adj" fmla="val 1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700" b="1">
                <a:solidFill>
                  <a:srgbClr val="FFFFFF"/>
                </a:solidFill>
                <a:latin typeface="Malgun Gothic"/>
                <a:ea typeface="Malgun Gothic"/>
              </a:rPr>
              <a:t>③ 검색</a:t>
            </a:r>
          </a:p>
        </p:txBody>
      </p:sp>
      <p:sp>
        <p:nvSpPr>
          <p:cNvPr id="27" name="TextBox 26"/>
          <p:cNvSpPr txBox="1"/>
          <p:nvPr/>
        </p:nvSpPr>
        <p:spPr>
          <a:xfrm>
            <a:off x="4379976" y="4727448"/>
            <a:ext cx="1627632" cy="274320"/>
          </a:xfrm>
          <a:prstGeom prst="rect">
            <a:avLst/>
          </a:prstGeom>
          <a:noFill/>
        </p:spPr>
        <p:txBody>
          <a:bodyPr wrap="square" lIns="0" rIns="0" tIns="0" bIns="0">
            <a:spAutoFit/>
          </a:bodyPr>
          <a:lstStyle/>
          <a:p>
            <a:pPr algn="ctr">
              <a:lnSpc>
                <a:spcPct val="110000"/>
              </a:lnSpc>
              <a:spcAft>
                <a:spcPts val="400"/>
              </a:spcAft>
            </a:pPr>
            <a:r>
              <a:rPr sz="1300" b="1">
                <a:solidFill>
                  <a:srgbClr val="5B6B7C"/>
                </a:solidFill>
                <a:latin typeface="Malgun Gothic"/>
                <a:ea typeface="Malgun Gothic"/>
              </a:rPr>
              <a:t>KURE</a:t>
            </a:r>
          </a:p>
        </p:txBody>
      </p:sp>
      <p:cxnSp>
        <p:nvCxnSpPr>
          <p:cNvPr id="28" name="Connector 27"/>
          <p:cNvCxnSpPr/>
          <p:nvPr/>
        </p:nvCxnSpPr>
        <p:spPr>
          <a:xfrm>
            <a:off x="6025896" y="4178808"/>
            <a:ext cx="182880" cy="0"/>
          </a:xfrm>
          <a:prstGeom prst="line">
            <a:avLst/>
          </a:prstGeom>
          <a:ln w="2032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9" name="Rounded Rectangle 28"/>
          <p:cNvSpPr/>
          <p:nvPr/>
        </p:nvSpPr>
        <p:spPr>
          <a:xfrm>
            <a:off x="6227064" y="3703320"/>
            <a:ext cx="1627632" cy="960120"/>
          </a:xfrm>
          <a:prstGeom prst="roundRect">
            <a:avLst>
              <a:gd name="adj" fmla="val 1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700" b="1">
                <a:solidFill>
                  <a:srgbClr val="FFFFFF"/>
                </a:solidFill>
                <a:latin typeface="Malgun Gothic"/>
                <a:ea typeface="Malgun Gothic"/>
              </a:rPr>
              <a:t>④ 조립</a:t>
            </a:r>
          </a:p>
        </p:txBody>
      </p:sp>
      <p:sp>
        <p:nvSpPr>
          <p:cNvPr id="30" name="TextBox 29"/>
          <p:cNvSpPr txBox="1"/>
          <p:nvPr/>
        </p:nvSpPr>
        <p:spPr>
          <a:xfrm>
            <a:off x="6227064" y="4727448"/>
            <a:ext cx="1627632" cy="274320"/>
          </a:xfrm>
          <a:prstGeom prst="rect">
            <a:avLst/>
          </a:prstGeom>
          <a:noFill/>
        </p:spPr>
        <p:txBody>
          <a:bodyPr wrap="square" lIns="0" rIns="0" tIns="0" bIns="0">
            <a:spAutoFit/>
          </a:bodyPr>
          <a:lstStyle/>
          <a:p>
            <a:pPr algn="ctr">
              <a:lnSpc>
                <a:spcPct val="110000"/>
              </a:lnSpc>
              <a:spcAft>
                <a:spcPts val="400"/>
              </a:spcAft>
            </a:pPr>
            <a:r>
              <a:rPr sz="1300" b="1">
                <a:solidFill>
                  <a:srgbClr val="5B6B7C"/>
                </a:solidFill>
                <a:latin typeface="Malgun Gothic"/>
                <a:ea typeface="Malgun Gothic"/>
              </a:rPr>
              <a:t>LangChain</a:t>
            </a:r>
          </a:p>
        </p:txBody>
      </p:sp>
      <p:cxnSp>
        <p:nvCxnSpPr>
          <p:cNvPr id="31" name="Connector 30"/>
          <p:cNvCxnSpPr/>
          <p:nvPr/>
        </p:nvCxnSpPr>
        <p:spPr>
          <a:xfrm>
            <a:off x="7872984" y="4178808"/>
            <a:ext cx="182880" cy="0"/>
          </a:xfrm>
          <a:prstGeom prst="line">
            <a:avLst/>
          </a:prstGeom>
          <a:ln w="2032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8074152" y="3703320"/>
            <a:ext cx="1627632" cy="960120"/>
          </a:xfrm>
          <a:prstGeom prst="roundRect">
            <a:avLst>
              <a:gd name="adj" fmla="val 1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700" b="1">
                <a:solidFill>
                  <a:srgbClr val="FFFFFF"/>
                </a:solidFill>
                <a:latin typeface="Malgun Gothic"/>
                <a:ea typeface="Malgun Gothic"/>
              </a:rPr>
              <a:t>⑤ 생성</a:t>
            </a:r>
          </a:p>
        </p:txBody>
      </p:sp>
      <p:sp>
        <p:nvSpPr>
          <p:cNvPr id="33" name="TextBox 32"/>
          <p:cNvSpPr txBox="1"/>
          <p:nvPr/>
        </p:nvSpPr>
        <p:spPr>
          <a:xfrm>
            <a:off x="8074152" y="4727448"/>
            <a:ext cx="1627632" cy="274320"/>
          </a:xfrm>
          <a:prstGeom prst="rect">
            <a:avLst/>
          </a:prstGeom>
          <a:noFill/>
        </p:spPr>
        <p:txBody>
          <a:bodyPr wrap="square" lIns="0" rIns="0" tIns="0" bIns="0">
            <a:spAutoFit/>
          </a:bodyPr>
          <a:lstStyle/>
          <a:p>
            <a:pPr algn="ctr">
              <a:lnSpc>
                <a:spcPct val="110000"/>
              </a:lnSpc>
              <a:spcAft>
                <a:spcPts val="400"/>
              </a:spcAft>
            </a:pPr>
            <a:r>
              <a:rPr sz="1300" b="1">
                <a:solidFill>
                  <a:srgbClr val="5B6B7C"/>
                </a:solidFill>
                <a:latin typeface="Malgun Gothic"/>
                <a:ea typeface="Malgun Gothic"/>
              </a:rPr>
              <a:t>GPT-6 Luna</a:t>
            </a:r>
          </a:p>
        </p:txBody>
      </p:sp>
      <p:cxnSp>
        <p:nvCxnSpPr>
          <p:cNvPr id="34" name="Connector 33"/>
          <p:cNvCxnSpPr/>
          <p:nvPr/>
        </p:nvCxnSpPr>
        <p:spPr>
          <a:xfrm>
            <a:off x="9720072" y="4178808"/>
            <a:ext cx="182880" cy="0"/>
          </a:xfrm>
          <a:prstGeom prst="line">
            <a:avLst/>
          </a:prstGeom>
          <a:ln w="2032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35" name="Rounded Rectangle 34"/>
          <p:cNvSpPr/>
          <p:nvPr/>
        </p:nvSpPr>
        <p:spPr>
          <a:xfrm>
            <a:off x="9921240" y="3703320"/>
            <a:ext cx="1627632" cy="960120"/>
          </a:xfrm>
          <a:prstGeom prst="roundRect">
            <a:avLst>
              <a:gd name="adj" fmla="val 1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700" b="1">
                <a:solidFill>
                  <a:srgbClr val="FFFFFF"/>
                </a:solidFill>
                <a:latin typeface="Malgun Gothic"/>
                <a:ea typeface="Malgun Gothic"/>
              </a:rPr>
              <a:t>⑥ 응답 안내</a:t>
            </a:r>
          </a:p>
        </p:txBody>
      </p:sp>
      <p:sp>
        <p:nvSpPr>
          <p:cNvPr id="36" name="TextBox 35"/>
          <p:cNvSpPr txBox="1"/>
          <p:nvPr/>
        </p:nvSpPr>
        <p:spPr>
          <a:xfrm>
            <a:off x="9921240" y="4727448"/>
            <a:ext cx="1627632" cy="274320"/>
          </a:xfrm>
          <a:prstGeom prst="rect">
            <a:avLst/>
          </a:prstGeom>
          <a:noFill/>
        </p:spPr>
        <p:txBody>
          <a:bodyPr wrap="square" lIns="0" rIns="0" tIns="0" bIns="0">
            <a:spAutoFit/>
          </a:bodyPr>
          <a:lstStyle/>
          <a:p>
            <a:pPr algn="ctr">
              <a:lnSpc>
                <a:spcPct val="110000"/>
              </a:lnSpc>
              <a:spcAft>
                <a:spcPts val="400"/>
              </a:spcAft>
            </a:pPr>
            <a:r>
              <a:rPr sz="1300" b="1">
                <a:solidFill>
                  <a:srgbClr val="5B6B7C"/>
                </a:solidFill>
                <a:latin typeface="Malgun Gothic"/>
                <a:ea typeface="Malgun Gothic"/>
              </a:rPr>
              <a:t>사용자에게 전달</a:t>
            </a:r>
          </a:p>
        </p:txBody>
      </p:sp>
      <p:sp>
        <p:nvSpPr>
          <p:cNvPr id="37" name="Rounded Rectangle 36"/>
          <p:cNvSpPr/>
          <p:nvPr/>
        </p:nvSpPr>
        <p:spPr>
          <a:xfrm>
            <a:off x="2532888" y="3200400"/>
            <a:ext cx="1627632" cy="365760"/>
          </a:xfrm>
          <a:prstGeom prst="roundRect">
            <a:avLst>
              <a:gd name="adj" fmla="val 50000"/>
            </a:avLst>
          </a:prstGeom>
          <a:noFill/>
          <a:ln w="15240">
            <a:solidFill>
              <a:srgbClr val="0A7E85"/>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2532888" y="3255264"/>
            <a:ext cx="1627632" cy="274320"/>
          </a:xfrm>
          <a:prstGeom prst="rect">
            <a:avLst/>
          </a:prstGeom>
          <a:noFill/>
        </p:spPr>
        <p:txBody>
          <a:bodyPr wrap="square" lIns="0" rIns="0" tIns="0" bIns="0">
            <a:spAutoFit/>
          </a:bodyPr>
          <a:lstStyle/>
          <a:p>
            <a:pPr algn="ctr">
              <a:lnSpc>
                <a:spcPct val="110000"/>
              </a:lnSpc>
              <a:spcAft>
                <a:spcPts val="400"/>
              </a:spcAft>
            </a:pPr>
            <a:r>
              <a:rPr sz="1200" b="1">
                <a:solidFill>
                  <a:srgbClr val="0A7E85"/>
                </a:solidFill>
                <a:latin typeface="Malgun Gothic"/>
                <a:ea typeface="Malgun Gothic"/>
              </a:rPr>
              <a:t>Routing 패턴</a:t>
            </a:r>
          </a:p>
        </p:txBody>
      </p:sp>
      <p:sp>
        <p:nvSpPr>
          <p:cNvPr id="39" name="Rounded Rectangle 38"/>
          <p:cNvSpPr/>
          <p:nvPr/>
        </p:nvSpPr>
        <p:spPr>
          <a:xfrm>
            <a:off x="4379976" y="3200400"/>
            <a:ext cx="5321808" cy="365760"/>
          </a:xfrm>
          <a:prstGeom prst="roundRect">
            <a:avLst>
              <a:gd name="adj" fmla="val 50000"/>
            </a:avLst>
          </a:prstGeom>
          <a:noFill/>
          <a:ln w="15240">
            <a:solidFill>
              <a:srgbClr val="0A7E85"/>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035040" y="3255264"/>
            <a:ext cx="3520440" cy="274320"/>
          </a:xfrm>
          <a:prstGeom prst="rect">
            <a:avLst/>
          </a:prstGeom>
          <a:noFill/>
        </p:spPr>
        <p:txBody>
          <a:bodyPr wrap="square" lIns="0" rIns="0" tIns="0" bIns="0">
            <a:spAutoFit/>
          </a:bodyPr>
          <a:lstStyle/>
          <a:p>
            <a:pPr algn="r">
              <a:lnSpc>
                <a:spcPct val="110000"/>
              </a:lnSpc>
              <a:spcAft>
                <a:spcPts val="400"/>
              </a:spcAft>
            </a:pPr>
            <a:r>
              <a:rPr sz="1200" b="1">
                <a:solidFill>
                  <a:srgbClr val="0A7E85"/>
                </a:solidFill>
                <a:latin typeface="Malgun Gothic"/>
                <a:ea typeface="Malgun Gothic"/>
              </a:rPr>
              <a:t>RAG 패턴 · 검색한 근거로 답변 생성</a:t>
            </a:r>
          </a:p>
        </p:txBody>
      </p:sp>
      <p:cxnSp>
        <p:nvCxnSpPr>
          <p:cNvPr id="41" name="Connector 40"/>
          <p:cNvCxnSpPr/>
          <p:nvPr/>
        </p:nvCxnSpPr>
        <p:spPr>
          <a:xfrm>
            <a:off x="3346704" y="5029200"/>
            <a:ext cx="0" cy="320040"/>
          </a:xfrm>
          <a:prstGeom prst="line">
            <a:avLst/>
          </a:prstGeom>
          <a:ln w="16510">
            <a:solidFill>
              <a:srgbClr val="B9822A"/>
            </a:solidFill>
          </a:ln>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a:off x="3346704" y="5349240"/>
            <a:ext cx="2916936" cy="0"/>
          </a:xfrm>
          <a:prstGeom prst="line">
            <a:avLst/>
          </a:prstGeom>
          <a:ln w="16510">
            <a:solidFill>
              <a:srgbClr val="B9822A"/>
            </a:solidFill>
          </a:ln>
        </p:spPr>
        <p:style>
          <a:lnRef idx="2">
            <a:schemeClr val="accent1"/>
          </a:lnRef>
          <a:fillRef idx="0">
            <a:schemeClr val="accent1"/>
          </a:fillRef>
          <a:effectRef idx="0">
            <a:schemeClr val="accent1"/>
          </a:effectRef>
          <a:fontRef idx="minor">
            <a:schemeClr val="tx1"/>
          </a:fontRef>
        </p:style>
      </p:cxnSp>
      <p:cxnSp>
        <p:nvCxnSpPr>
          <p:cNvPr id="43" name="Connector 42"/>
          <p:cNvCxnSpPr/>
          <p:nvPr/>
        </p:nvCxnSpPr>
        <p:spPr>
          <a:xfrm flipV="1">
            <a:off x="6263640" y="5047488"/>
            <a:ext cx="0" cy="301752"/>
          </a:xfrm>
          <a:prstGeom prst="line">
            <a:avLst/>
          </a:prstGeom>
          <a:ln w="16510">
            <a:solidFill>
              <a:srgbClr val="B9822A"/>
            </a:solidFill>
            <a:tailEnd type="triangle"/>
          </a:ln>
        </p:spPr>
        <p:style>
          <a:lnRef idx="2">
            <a:schemeClr val="accent1"/>
          </a:lnRef>
          <a:fillRef idx="0">
            <a:schemeClr val="accent1"/>
          </a:fillRef>
          <a:effectRef idx="0">
            <a:schemeClr val="accent1"/>
          </a:effectRef>
          <a:fontRef idx="minor">
            <a:schemeClr val="tx1"/>
          </a:fontRef>
        </p:style>
      </p:cxnSp>
      <p:sp>
        <p:nvSpPr>
          <p:cNvPr id="44" name="TextBox 43"/>
          <p:cNvSpPr txBox="1"/>
          <p:nvPr/>
        </p:nvSpPr>
        <p:spPr>
          <a:xfrm>
            <a:off x="3520440" y="5413248"/>
            <a:ext cx="5486400" cy="274320"/>
          </a:xfrm>
          <a:prstGeom prst="rect">
            <a:avLst/>
          </a:prstGeom>
          <a:noFill/>
        </p:spPr>
        <p:txBody>
          <a:bodyPr wrap="square" lIns="0" rIns="0" tIns="0" bIns="0">
            <a:spAutoFit/>
          </a:bodyPr>
          <a:lstStyle/>
          <a:p>
            <a:pPr>
              <a:lnSpc>
                <a:spcPct val="110000"/>
              </a:lnSpc>
              <a:spcAft>
                <a:spcPts val="400"/>
              </a:spcAft>
            </a:pPr>
            <a:r>
              <a:rPr sz="1300" b="1">
                <a:solidFill>
                  <a:srgbClr val="B9822A"/>
                </a:solidFill>
                <a:latin typeface="Malgun Gothic"/>
                <a:ea typeface="Malgun Gothic"/>
              </a:rPr>
              <a:t>분류 라벨은 생성 단계에 ‘참고 정보’로 전달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흐름 · 사전 준비</a:t>
            </a:r>
          </a:p>
        </p:txBody>
      </p:sp>
      <p:sp>
        <p:nvSpPr>
          <p:cNvPr id="3" name="Rounded Rectangle 2"/>
          <p:cNvSpPr/>
          <p:nvPr/>
        </p:nvSpPr>
        <p:spPr>
          <a:xfrm>
            <a:off x="5440680" y="329184"/>
            <a:ext cx="896112" cy="274320"/>
          </a:xfrm>
          <a:prstGeom prst="roundRect">
            <a:avLst>
              <a:gd name="adj" fmla="val 50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1">
                <a:solidFill>
                  <a:srgbClr val="FFFFFF"/>
                </a:solidFill>
                <a:latin typeface="Malgun Gothic"/>
                <a:ea typeface="Malgun Gothic"/>
              </a:rPr>
              <a:t>문서 준비</a:t>
            </a:r>
          </a:p>
        </p:txBody>
      </p:sp>
      <p:sp>
        <p:nvSpPr>
          <p:cNvPr id="4" name="Rounded Rectangle 3"/>
          <p:cNvSpPr/>
          <p:nvPr/>
        </p:nvSpPr>
        <p:spPr>
          <a:xfrm>
            <a:off x="648309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① 접수</a:t>
            </a:r>
          </a:p>
        </p:txBody>
      </p:sp>
      <p:sp>
        <p:nvSpPr>
          <p:cNvPr id="5" name="Rounded Rectangle 4"/>
          <p:cNvSpPr/>
          <p:nvPr/>
        </p:nvSpPr>
        <p:spPr>
          <a:xfrm>
            <a:off x="726033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② 분류</a:t>
            </a:r>
          </a:p>
        </p:txBody>
      </p:sp>
      <p:sp>
        <p:nvSpPr>
          <p:cNvPr id="6" name="Rounded Rectangle 5"/>
          <p:cNvSpPr/>
          <p:nvPr/>
        </p:nvSpPr>
        <p:spPr>
          <a:xfrm>
            <a:off x="803757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③ 검색</a:t>
            </a:r>
          </a:p>
        </p:txBody>
      </p:sp>
      <p:sp>
        <p:nvSpPr>
          <p:cNvPr id="7" name="Rounded Rectangle 6"/>
          <p:cNvSpPr/>
          <p:nvPr/>
        </p:nvSpPr>
        <p:spPr>
          <a:xfrm>
            <a:off x="881481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④ 조립</a:t>
            </a:r>
          </a:p>
        </p:txBody>
      </p:sp>
      <p:sp>
        <p:nvSpPr>
          <p:cNvPr id="8" name="Rounded Rectangle 7"/>
          <p:cNvSpPr/>
          <p:nvPr/>
        </p:nvSpPr>
        <p:spPr>
          <a:xfrm>
            <a:off x="959205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⑤ 생성</a:t>
            </a:r>
          </a:p>
        </p:txBody>
      </p:sp>
      <p:sp>
        <p:nvSpPr>
          <p:cNvPr id="9" name="Rounded Rectangle 8"/>
          <p:cNvSpPr/>
          <p:nvPr/>
        </p:nvSpPr>
        <p:spPr>
          <a:xfrm>
            <a:off x="10369295" y="329184"/>
            <a:ext cx="107899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⑥ 응답 안내</a:t>
            </a:r>
          </a:p>
        </p:txBody>
      </p:sp>
      <p:sp>
        <p:nvSpPr>
          <p:cNvPr id="10" name="TextBox 9"/>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답변의 기준이 될 회사 문서 준비</a:t>
            </a:r>
          </a:p>
        </p:txBody>
      </p:sp>
      <p:sp>
        <p:nvSpPr>
          <p:cNvPr id="11" name="TextBox 10"/>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규정의 내용뿐 아니라 대상·절차·예외·담당 역할이 일관되도록</a:t>
            </a:r>
          </a:p>
        </p:txBody>
      </p:sp>
      <p:sp>
        <p:nvSpPr>
          <p:cNvPr id="12" name="TextBox 11"/>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13" name="TextBox 12"/>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06</a:t>
            </a:r>
          </a:p>
        </p:txBody>
      </p:sp>
      <p:sp>
        <p:nvSpPr>
          <p:cNvPr id="14" name="Rounded Rectangle 13"/>
          <p:cNvSpPr/>
          <p:nvPr/>
        </p:nvSpPr>
        <p:spPr>
          <a:xfrm>
            <a:off x="685800" y="1828800"/>
            <a:ext cx="1965960" cy="1828800"/>
          </a:xfrm>
          <a:prstGeom prst="roundRect">
            <a:avLst>
              <a:gd name="adj" fmla="val 7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886968" y="2011680"/>
            <a:ext cx="384048" cy="384048"/>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100" b="1">
                <a:solidFill>
                  <a:srgbClr val="FFFFFF"/>
                </a:solidFill>
                <a:latin typeface="Malgun Gothic"/>
                <a:ea typeface="Malgun Gothic"/>
              </a:rPr>
              <a:t>01</a:t>
            </a:r>
          </a:p>
        </p:txBody>
      </p:sp>
      <p:sp>
        <p:nvSpPr>
          <p:cNvPr id="16" name="TextBox 15"/>
          <p:cNvSpPr txBox="1"/>
          <p:nvPr/>
        </p:nvSpPr>
        <p:spPr>
          <a:xfrm>
            <a:off x="886968" y="2560320"/>
            <a:ext cx="1691640" cy="365760"/>
          </a:xfrm>
          <a:prstGeom prst="rect">
            <a:avLst/>
          </a:prstGeom>
          <a:noFill/>
        </p:spPr>
        <p:txBody>
          <a:bodyPr wrap="square" lIns="0" rIns="0" tIns="0" bIns="0">
            <a:spAutoFit/>
          </a:bodyPr>
          <a:lstStyle/>
          <a:p>
            <a:pPr>
              <a:lnSpc>
                <a:spcPct val="110000"/>
              </a:lnSpc>
              <a:spcAft>
                <a:spcPts val="400"/>
              </a:spcAft>
            </a:pPr>
            <a:r>
              <a:rPr sz="1700" b="1">
                <a:solidFill>
                  <a:srgbClr val="13263C"/>
                </a:solidFill>
                <a:latin typeface="Malgun Gothic"/>
                <a:ea typeface="Malgun Gothic"/>
              </a:rPr>
              <a:t>공개 자료</a:t>
            </a:r>
          </a:p>
        </p:txBody>
      </p:sp>
      <p:sp>
        <p:nvSpPr>
          <p:cNvPr id="17" name="TextBox 16"/>
          <p:cNvSpPr txBox="1"/>
          <p:nvPr/>
        </p:nvSpPr>
        <p:spPr>
          <a:xfrm>
            <a:off x="886968" y="2971800"/>
            <a:ext cx="1691640" cy="640080"/>
          </a:xfrm>
          <a:prstGeom prst="rect">
            <a:avLst/>
          </a:prstGeom>
          <a:noFill/>
        </p:spPr>
        <p:txBody>
          <a:bodyPr wrap="square" lIns="0" rIns="0" tIns="0" bIns="0">
            <a:spAutoFit/>
          </a:bodyPr>
          <a:lstStyle/>
          <a:p>
            <a:pPr>
              <a:lnSpc>
                <a:spcPct val="110000"/>
              </a:lnSpc>
              <a:spcAft>
                <a:spcPts val="0"/>
              </a:spcAft>
            </a:pPr>
            <a:r>
              <a:rPr sz="1300" b="0">
                <a:solidFill>
                  <a:srgbClr val="5B6B7C"/>
                </a:solidFill>
                <a:latin typeface="Malgun Gothic"/>
                <a:ea typeface="Malgun Gothic"/>
              </a:rPr>
              <a:t>GitLab · PostHog</a:t>
            </a:r>
          </a:p>
          <a:p>
            <a:pPr>
              <a:lnSpc>
                <a:spcPct val="110000"/>
              </a:lnSpc>
              <a:spcAft>
                <a:spcPts val="0"/>
              </a:spcAft>
            </a:pPr>
            <a:r>
              <a:rPr sz="1300" b="0">
                <a:solidFill>
                  <a:srgbClr val="5B6B7C"/>
                </a:solidFill>
                <a:latin typeface="Malgun Gothic"/>
                <a:ea typeface="Malgun Gothic"/>
              </a:rPr>
              <a:t>국내 공식 안내</a:t>
            </a:r>
          </a:p>
        </p:txBody>
      </p:sp>
      <p:cxnSp>
        <p:nvCxnSpPr>
          <p:cNvPr id="18" name="Connector 17"/>
          <p:cNvCxnSpPr/>
          <p:nvPr/>
        </p:nvCxnSpPr>
        <p:spPr>
          <a:xfrm>
            <a:off x="2670048" y="2743200"/>
            <a:ext cx="219456" cy="0"/>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2907792" y="1828800"/>
            <a:ext cx="1965960" cy="1828800"/>
          </a:xfrm>
          <a:prstGeom prst="roundRect">
            <a:avLst>
              <a:gd name="adj" fmla="val 7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3108960" y="2011680"/>
            <a:ext cx="384048" cy="384048"/>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100" b="1">
                <a:solidFill>
                  <a:srgbClr val="FFFFFF"/>
                </a:solidFill>
                <a:latin typeface="Malgun Gothic"/>
                <a:ea typeface="Malgun Gothic"/>
              </a:rPr>
              <a:t>02</a:t>
            </a:r>
          </a:p>
        </p:txBody>
      </p:sp>
      <p:sp>
        <p:nvSpPr>
          <p:cNvPr id="21" name="TextBox 20"/>
          <p:cNvSpPr txBox="1"/>
          <p:nvPr/>
        </p:nvSpPr>
        <p:spPr>
          <a:xfrm>
            <a:off x="3108960" y="2560320"/>
            <a:ext cx="1691640" cy="365760"/>
          </a:xfrm>
          <a:prstGeom prst="rect">
            <a:avLst/>
          </a:prstGeom>
          <a:noFill/>
        </p:spPr>
        <p:txBody>
          <a:bodyPr wrap="square" lIns="0" rIns="0" tIns="0" bIns="0">
            <a:spAutoFit/>
          </a:bodyPr>
          <a:lstStyle/>
          <a:p>
            <a:pPr>
              <a:lnSpc>
                <a:spcPct val="110000"/>
              </a:lnSpc>
              <a:spcAft>
                <a:spcPts val="400"/>
              </a:spcAft>
            </a:pPr>
            <a:r>
              <a:rPr sz="1700" b="1">
                <a:solidFill>
                  <a:srgbClr val="13263C"/>
                </a:solidFill>
                <a:latin typeface="Malgun Gothic"/>
                <a:ea typeface="Malgun Gothic"/>
              </a:rPr>
              <a:t>회사 설정</a:t>
            </a:r>
          </a:p>
        </p:txBody>
      </p:sp>
      <p:sp>
        <p:nvSpPr>
          <p:cNvPr id="22" name="TextBox 21"/>
          <p:cNvSpPr txBox="1"/>
          <p:nvPr/>
        </p:nvSpPr>
        <p:spPr>
          <a:xfrm>
            <a:off x="3108960" y="2971800"/>
            <a:ext cx="1691640" cy="640080"/>
          </a:xfrm>
          <a:prstGeom prst="rect">
            <a:avLst/>
          </a:prstGeom>
          <a:noFill/>
        </p:spPr>
        <p:txBody>
          <a:bodyPr wrap="square" lIns="0" rIns="0" tIns="0" bIns="0">
            <a:spAutoFit/>
          </a:bodyPr>
          <a:lstStyle/>
          <a:p>
            <a:pPr>
              <a:lnSpc>
                <a:spcPct val="110000"/>
              </a:lnSpc>
              <a:spcAft>
                <a:spcPts val="0"/>
              </a:spcAft>
            </a:pPr>
            <a:r>
              <a:rPr sz="1300" b="0">
                <a:solidFill>
                  <a:srgbClr val="5B6B7C"/>
                </a:solidFill>
                <a:latin typeface="Malgun Gothic"/>
                <a:ea typeface="Malgun Gothic"/>
              </a:rPr>
              <a:t>업무별 절차 선별</a:t>
            </a:r>
          </a:p>
          <a:p>
            <a:pPr>
              <a:lnSpc>
                <a:spcPct val="110000"/>
              </a:lnSpc>
              <a:spcAft>
                <a:spcPts val="0"/>
              </a:spcAft>
            </a:pPr>
            <a:r>
              <a:rPr sz="1300" b="0">
                <a:solidFill>
                  <a:srgbClr val="5B6B7C"/>
                </a:solidFill>
                <a:latin typeface="Malgun Gothic"/>
                <a:ea typeface="Malgun Gothic"/>
              </a:rPr>
              <a:t>회사 기준 구체화</a:t>
            </a:r>
          </a:p>
        </p:txBody>
      </p:sp>
      <p:cxnSp>
        <p:nvCxnSpPr>
          <p:cNvPr id="23" name="Connector 22"/>
          <p:cNvCxnSpPr/>
          <p:nvPr/>
        </p:nvCxnSpPr>
        <p:spPr>
          <a:xfrm>
            <a:off x="4892040" y="2743200"/>
            <a:ext cx="219456" cy="0"/>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5129784" y="1828800"/>
            <a:ext cx="1965960" cy="1828800"/>
          </a:xfrm>
          <a:prstGeom prst="roundRect">
            <a:avLst>
              <a:gd name="adj" fmla="val 7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Oval 24"/>
          <p:cNvSpPr/>
          <p:nvPr/>
        </p:nvSpPr>
        <p:spPr>
          <a:xfrm>
            <a:off x="5330952" y="2011680"/>
            <a:ext cx="384048" cy="384048"/>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100" b="1">
                <a:solidFill>
                  <a:srgbClr val="FFFFFF"/>
                </a:solidFill>
                <a:latin typeface="Malgun Gothic"/>
                <a:ea typeface="Malgun Gothic"/>
              </a:rPr>
              <a:t>03</a:t>
            </a:r>
          </a:p>
        </p:txBody>
      </p:sp>
      <p:sp>
        <p:nvSpPr>
          <p:cNvPr id="26" name="TextBox 25"/>
          <p:cNvSpPr txBox="1"/>
          <p:nvPr/>
        </p:nvSpPr>
        <p:spPr>
          <a:xfrm>
            <a:off x="5330952" y="2560320"/>
            <a:ext cx="1691640" cy="365760"/>
          </a:xfrm>
          <a:prstGeom prst="rect">
            <a:avLst/>
          </a:prstGeom>
          <a:noFill/>
        </p:spPr>
        <p:txBody>
          <a:bodyPr wrap="square" lIns="0" rIns="0" tIns="0" bIns="0">
            <a:spAutoFit/>
          </a:bodyPr>
          <a:lstStyle/>
          <a:p>
            <a:pPr>
              <a:lnSpc>
                <a:spcPct val="110000"/>
              </a:lnSpc>
              <a:spcAft>
                <a:spcPts val="400"/>
              </a:spcAft>
            </a:pPr>
            <a:r>
              <a:rPr sz="1700" b="1">
                <a:solidFill>
                  <a:srgbClr val="13263C"/>
                </a:solidFill>
                <a:latin typeface="Malgun Gothic"/>
                <a:ea typeface="Malgun Gothic"/>
              </a:rPr>
              <a:t>LLM 작성</a:t>
            </a:r>
          </a:p>
        </p:txBody>
      </p:sp>
      <p:sp>
        <p:nvSpPr>
          <p:cNvPr id="27" name="TextBox 26"/>
          <p:cNvSpPr txBox="1"/>
          <p:nvPr/>
        </p:nvSpPr>
        <p:spPr>
          <a:xfrm>
            <a:off x="5330952" y="2971800"/>
            <a:ext cx="1691640" cy="640080"/>
          </a:xfrm>
          <a:prstGeom prst="rect">
            <a:avLst/>
          </a:prstGeom>
          <a:noFill/>
        </p:spPr>
        <p:txBody>
          <a:bodyPr wrap="square" lIns="0" rIns="0" tIns="0" bIns="0">
            <a:spAutoFit/>
          </a:bodyPr>
          <a:lstStyle/>
          <a:p>
            <a:pPr>
              <a:lnSpc>
                <a:spcPct val="110000"/>
              </a:lnSpc>
              <a:spcAft>
                <a:spcPts val="0"/>
              </a:spcAft>
            </a:pPr>
            <a:r>
              <a:rPr sz="1300" b="0">
                <a:solidFill>
                  <a:srgbClr val="5B6B7C"/>
                </a:solidFill>
                <a:latin typeface="Malgun Gothic"/>
                <a:ea typeface="Malgun Gothic"/>
              </a:rPr>
              <a:t>출처와 회사 설정</a:t>
            </a:r>
          </a:p>
          <a:p>
            <a:pPr>
              <a:lnSpc>
                <a:spcPct val="110000"/>
              </a:lnSpc>
              <a:spcAft>
                <a:spcPts val="0"/>
              </a:spcAft>
            </a:pPr>
            <a:r>
              <a:rPr sz="1300" b="0">
                <a:solidFill>
                  <a:srgbClr val="5B6B7C"/>
                </a:solidFill>
                <a:latin typeface="Malgun Gothic"/>
                <a:ea typeface="Malgun Gothic"/>
              </a:rPr>
              <a:t>기반 한국어 초안</a:t>
            </a:r>
          </a:p>
        </p:txBody>
      </p:sp>
      <p:cxnSp>
        <p:nvCxnSpPr>
          <p:cNvPr id="28" name="Connector 27"/>
          <p:cNvCxnSpPr/>
          <p:nvPr/>
        </p:nvCxnSpPr>
        <p:spPr>
          <a:xfrm>
            <a:off x="7114032" y="2743200"/>
            <a:ext cx="219456" cy="0"/>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9" name="Rounded Rectangle 28"/>
          <p:cNvSpPr/>
          <p:nvPr/>
        </p:nvSpPr>
        <p:spPr>
          <a:xfrm>
            <a:off x="7351776" y="1828800"/>
            <a:ext cx="1965960" cy="1828800"/>
          </a:xfrm>
          <a:prstGeom prst="roundRect">
            <a:avLst>
              <a:gd name="adj" fmla="val 7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val 29"/>
          <p:cNvSpPr/>
          <p:nvPr/>
        </p:nvSpPr>
        <p:spPr>
          <a:xfrm>
            <a:off x="7552944" y="2011680"/>
            <a:ext cx="384048" cy="384048"/>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100" b="1">
                <a:solidFill>
                  <a:srgbClr val="FFFFFF"/>
                </a:solidFill>
                <a:latin typeface="Malgun Gothic"/>
                <a:ea typeface="Malgun Gothic"/>
              </a:rPr>
              <a:t>04</a:t>
            </a:r>
          </a:p>
        </p:txBody>
      </p:sp>
      <p:sp>
        <p:nvSpPr>
          <p:cNvPr id="31" name="TextBox 30"/>
          <p:cNvSpPr txBox="1"/>
          <p:nvPr/>
        </p:nvSpPr>
        <p:spPr>
          <a:xfrm>
            <a:off x="7552944" y="2560320"/>
            <a:ext cx="1691640" cy="365760"/>
          </a:xfrm>
          <a:prstGeom prst="rect">
            <a:avLst/>
          </a:prstGeom>
          <a:noFill/>
        </p:spPr>
        <p:txBody>
          <a:bodyPr wrap="square" lIns="0" rIns="0" tIns="0" bIns="0">
            <a:spAutoFit/>
          </a:bodyPr>
          <a:lstStyle/>
          <a:p>
            <a:pPr>
              <a:lnSpc>
                <a:spcPct val="110000"/>
              </a:lnSpc>
              <a:spcAft>
                <a:spcPts val="400"/>
              </a:spcAft>
            </a:pPr>
            <a:r>
              <a:rPr sz="1700" b="1">
                <a:solidFill>
                  <a:srgbClr val="13263C"/>
                </a:solidFill>
                <a:latin typeface="Malgun Gothic"/>
                <a:ea typeface="Malgun Gothic"/>
              </a:rPr>
              <a:t>별도 AI 검수</a:t>
            </a:r>
          </a:p>
        </p:txBody>
      </p:sp>
      <p:sp>
        <p:nvSpPr>
          <p:cNvPr id="32" name="TextBox 31"/>
          <p:cNvSpPr txBox="1"/>
          <p:nvPr/>
        </p:nvSpPr>
        <p:spPr>
          <a:xfrm>
            <a:off x="7552944" y="2971800"/>
            <a:ext cx="1691640" cy="640080"/>
          </a:xfrm>
          <a:prstGeom prst="rect">
            <a:avLst/>
          </a:prstGeom>
          <a:noFill/>
        </p:spPr>
        <p:txBody>
          <a:bodyPr wrap="square" lIns="0" rIns="0" tIns="0" bIns="0">
            <a:spAutoFit/>
          </a:bodyPr>
          <a:lstStyle/>
          <a:p>
            <a:pPr>
              <a:lnSpc>
                <a:spcPct val="110000"/>
              </a:lnSpc>
              <a:spcAft>
                <a:spcPts val="0"/>
              </a:spcAft>
            </a:pPr>
            <a:r>
              <a:rPr sz="1300" b="0">
                <a:solidFill>
                  <a:srgbClr val="5B6B7C"/>
                </a:solidFill>
                <a:latin typeface="Malgun Gothic"/>
                <a:ea typeface="Malgun Gothic"/>
              </a:rPr>
              <a:t>조건 누락·충돌</a:t>
            </a:r>
          </a:p>
          <a:p>
            <a:pPr>
              <a:lnSpc>
                <a:spcPct val="110000"/>
              </a:lnSpc>
              <a:spcAft>
                <a:spcPts val="0"/>
              </a:spcAft>
            </a:pPr>
            <a:r>
              <a:rPr sz="1300" b="0">
                <a:solidFill>
                  <a:srgbClr val="5B6B7C"/>
                </a:solidFill>
                <a:latin typeface="Malgun Gothic"/>
                <a:ea typeface="Malgun Gothic"/>
              </a:rPr>
              <a:t>수정 후 재검수</a:t>
            </a:r>
          </a:p>
        </p:txBody>
      </p:sp>
      <p:cxnSp>
        <p:nvCxnSpPr>
          <p:cNvPr id="33" name="Connector 32"/>
          <p:cNvCxnSpPr/>
          <p:nvPr/>
        </p:nvCxnSpPr>
        <p:spPr>
          <a:xfrm>
            <a:off x="9336024" y="2743200"/>
            <a:ext cx="219456" cy="0"/>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34" name="Rounded Rectangle 33"/>
          <p:cNvSpPr/>
          <p:nvPr/>
        </p:nvSpPr>
        <p:spPr>
          <a:xfrm>
            <a:off x="9573768" y="1828800"/>
            <a:ext cx="1965960" cy="1828800"/>
          </a:xfrm>
          <a:prstGeom prst="roundRect">
            <a:avLst>
              <a:gd name="adj" fmla="val 7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Oval 34"/>
          <p:cNvSpPr/>
          <p:nvPr/>
        </p:nvSpPr>
        <p:spPr>
          <a:xfrm>
            <a:off x="9774936" y="2011680"/>
            <a:ext cx="384048" cy="384048"/>
          </a:xfrm>
          <a:prstGeom prst="ellipse">
            <a:avLst/>
          </a:prstGeom>
          <a:solidFill>
            <a:srgbClr val="B9E1D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100" b="1">
                <a:solidFill>
                  <a:srgbClr val="13263C"/>
                </a:solidFill>
                <a:latin typeface="Malgun Gothic"/>
                <a:ea typeface="Malgun Gothic"/>
              </a:rPr>
              <a:t>05</a:t>
            </a:r>
          </a:p>
        </p:txBody>
      </p:sp>
      <p:sp>
        <p:nvSpPr>
          <p:cNvPr id="36" name="TextBox 35"/>
          <p:cNvSpPr txBox="1"/>
          <p:nvPr/>
        </p:nvSpPr>
        <p:spPr>
          <a:xfrm>
            <a:off x="9774936" y="2560320"/>
            <a:ext cx="1691640" cy="365760"/>
          </a:xfrm>
          <a:prstGeom prst="rect">
            <a:avLst/>
          </a:prstGeom>
          <a:noFill/>
        </p:spPr>
        <p:txBody>
          <a:bodyPr wrap="square" lIns="0" rIns="0" tIns="0" bIns="0">
            <a:spAutoFit/>
          </a:bodyPr>
          <a:lstStyle/>
          <a:p>
            <a:pPr>
              <a:lnSpc>
                <a:spcPct val="110000"/>
              </a:lnSpc>
              <a:spcAft>
                <a:spcPts val="400"/>
              </a:spcAft>
            </a:pPr>
            <a:r>
              <a:rPr sz="1700" b="1">
                <a:solidFill>
                  <a:srgbClr val="FFFFFF"/>
                </a:solidFill>
                <a:latin typeface="Malgun Gothic"/>
                <a:ea typeface="Malgun Gothic"/>
              </a:rPr>
              <a:t>71개 문서</a:t>
            </a:r>
          </a:p>
        </p:txBody>
      </p:sp>
      <p:sp>
        <p:nvSpPr>
          <p:cNvPr id="37" name="TextBox 36"/>
          <p:cNvSpPr txBox="1"/>
          <p:nvPr/>
        </p:nvSpPr>
        <p:spPr>
          <a:xfrm>
            <a:off x="9774936" y="2971800"/>
            <a:ext cx="1691640" cy="640080"/>
          </a:xfrm>
          <a:prstGeom prst="rect">
            <a:avLst/>
          </a:prstGeom>
          <a:noFill/>
        </p:spPr>
        <p:txBody>
          <a:bodyPr wrap="square" lIns="0" rIns="0" tIns="0" bIns="0">
            <a:spAutoFit/>
          </a:bodyPr>
          <a:lstStyle/>
          <a:p>
            <a:pPr>
              <a:lnSpc>
                <a:spcPct val="110000"/>
              </a:lnSpc>
              <a:spcAft>
                <a:spcPts val="0"/>
              </a:spcAft>
            </a:pPr>
            <a:r>
              <a:rPr sz="1300" b="0">
                <a:solidFill>
                  <a:srgbClr val="C9D6E3"/>
                </a:solidFill>
                <a:latin typeface="Malgun Gothic"/>
                <a:ea typeface="Malgun Gothic"/>
              </a:rPr>
              <a:t>고정 ID와</a:t>
            </a:r>
          </a:p>
          <a:p>
            <a:pPr>
              <a:lnSpc>
                <a:spcPct val="110000"/>
              </a:lnSpc>
              <a:spcAft>
                <a:spcPts val="0"/>
              </a:spcAft>
            </a:pPr>
            <a:r>
              <a:rPr sz="1300" b="0">
                <a:solidFill>
                  <a:srgbClr val="C9D6E3"/>
                </a:solidFill>
                <a:latin typeface="Malgun Gothic"/>
                <a:ea typeface="Malgun Gothic"/>
              </a:rPr>
              <a:t>출처·개정 기록</a:t>
            </a:r>
          </a:p>
        </p:txBody>
      </p:sp>
      <p:sp>
        <p:nvSpPr>
          <p:cNvPr id="38" name="Rounded Rectangle 37"/>
          <p:cNvSpPr/>
          <p:nvPr/>
        </p:nvSpPr>
        <p:spPr>
          <a:xfrm>
            <a:off x="685800" y="3931920"/>
            <a:ext cx="5349240" cy="1234440"/>
          </a:xfrm>
          <a:prstGeom prst="roundRect">
            <a:avLst>
              <a:gd name="adj" fmla="val 7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914400" y="4087368"/>
            <a:ext cx="4892040" cy="320040"/>
          </a:xfrm>
          <a:prstGeom prst="rect">
            <a:avLst/>
          </a:prstGeom>
          <a:noFill/>
        </p:spPr>
        <p:txBody>
          <a:bodyPr wrap="square" lIns="0" rIns="0" tIns="0" bIns="0">
            <a:spAutoFit/>
          </a:bodyPr>
          <a:lstStyle/>
          <a:p>
            <a:pPr>
              <a:lnSpc>
                <a:spcPct val="110000"/>
              </a:lnSpc>
              <a:spcAft>
                <a:spcPts val="400"/>
              </a:spcAft>
            </a:pPr>
            <a:r>
              <a:rPr sz="1600" b="1">
                <a:solidFill>
                  <a:srgbClr val="075E63"/>
                </a:solidFill>
                <a:latin typeface="Malgun Gothic"/>
                <a:ea typeface="Malgun Gothic"/>
              </a:rPr>
              <a:t>무엇을 참고했나</a:t>
            </a:r>
          </a:p>
        </p:txBody>
      </p:sp>
      <p:sp>
        <p:nvSpPr>
          <p:cNvPr id="40" name="TextBox 39"/>
          <p:cNvSpPr txBox="1"/>
          <p:nvPr/>
        </p:nvSpPr>
        <p:spPr>
          <a:xfrm>
            <a:off x="914400" y="4553712"/>
            <a:ext cx="4892040" cy="530352"/>
          </a:xfrm>
          <a:prstGeom prst="rect">
            <a:avLst/>
          </a:prstGeom>
          <a:noFill/>
        </p:spPr>
        <p:txBody>
          <a:bodyPr wrap="square" lIns="0" rIns="0" tIns="0" bIns="0">
            <a:spAutoFit/>
          </a:bodyPr>
          <a:lstStyle/>
          <a:p>
            <a:pPr>
              <a:lnSpc>
                <a:spcPct val="116000"/>
              </a:lnSpc>
              <a:spcAft>
                <a:spcPts val="0"/>
              </a:spcAft>
            </a:pPr>
            <a:r>
              <a:rPr sz="1300" b="0">
                <a:solidFill>
                  <a:srgbClr val="1B2A3A"/>
                </a:solidFill>
                <a:latin typeface="Malgun Gothic"/>
                <a:ea typeface="Malgun Gothic"/>
              </a:rPr>
              <a:t>GitLab · 휴가·입퇴사의 역할과 확인 절차</a:t>
            </a:r>
          </a:p>
          <a:p>
            <a:pPr>
              <a:lnSpc>
                <a:spcPct val="116000"/>
              </a:lnSpc>
              <a:spcAft>
                <a:spcPts val="0"/>
              </a:spcAft>
            </a:pPr>
            <a:r>
              <a:rPr sz="1300" b="0">
                <a:solidFill>
                  <a:srgbClr val="1B2A3A"/>
                </a:solidFill>
                <a:latin typeface="Malgun Gothic"/>
                <a:ea typeface="Malgun Gothic"/>
              </a:rPr>
              <a:t>PostHog · 온보딩과 고객 문의 인계</a:t>
            </a:r>
          </a:p>
        </p:txBody>
      </p:sp>
      <p:sp>
        <p:nvSpPr>
          <p:cNvPr id="41" name="Rounded Rectangle 40"/>
          <p:cNvSpPr/>
          <p:nvPr/>
        </p:nvSpPr>
        <p:spPr>
          <a:xfrm>
            <a:off x="6172200" y="3931920"/>
            <a:ext cx="5349240" cy="1234440"/>
          </a:xfrm>
          <a:prstGeom prst="roundRect">
            <a:avLst>
              <a:gd name="adj" fmla="val 7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400800" y="4087368"/>
            <a:ext cx="4892040" cy="320040"/>
          </a:xfrm>
          <a:prstGeom prst="rect">
            <a:avLst/>
          </a:prstGeom>
          <a:noFill/>
        </p:spPr>
        <p:txBody>
          <a:bodyPr wrap="square" lIns="0" rIns="0" tIns="0" bIns="0">
            <a:spAutoFit/>
          </a:bodyPr>
          <a:lstStyle/>
          <a:p>
            <a:pPr>
              <a:lnSpc>
                <a:spcPct val="110000"/>
              </a:lnSpc>
              <a:spcAft>
                <a:spcPts val="400"/>
              </a:spcAft>
            </a:pPr>
            <a:r>
              <a:rPr sz="1600" b="1">
                <a:solidFill>
                  <a:srgbClr val="075E63"/>
                </a:solidFill>
                <a:latin typeface="Malgun Gothic"/>
                <a:ea typeface="Malgun Gothic"/>
              </a:rPr>
              <a:t>어떻게 검수했나</a:t>
            </a:r>
          </a:p>
        </p:txBody>
      </p:sp>
      <p:sp>
        <p:nvSpPr>
          <p:cNvPr id="43" name="TextBox 42"/>
          <p:cNvSpPr txBox="1"/>
          <p:nvPr/>
        </p:nvSpPr>
        <p:spPr>
          <a:xfrm>
            <a:off x="6400800" y="4553712"/>
            <a:ext cx="4892040" cy="530352"/>
          </a:xfrm>
          <a:prstGeom prst="rect">
            <a:avLst/>
          </a:prstGeom>
          <a:noFill/>
        </p:spPr>
        <p:txBody>
          <a:bodyPr wrap="square" lIns="0" rIns="0" tIns="0" bIns="0">
            <a:spAutoFit/>
          </a:bodyPr>
          <a:lstStyle/>
          <a:p>
            <a:pPr>
              <a:lnSpc>
                <a:spcPct val="116000"/>
              </a:lnSpc>
              <a:spcAft>
                <a:spcPts val="0"/>
              </a:spcAft>
            </a:pPr>
            <a:r>
              <a:rPr sz="1300" b="0">
                <a:solidFill>
                  <a:srgbClr val="1B2A3A"/>
                </a:solidFill>
                <a:latin typeface="Malgun Gothic"/>
                <a:ea typeface="Malgun Gothic"/>
              </a:rPr>
              <a:t>별도 AI가 조건 누락·문서 간 충돌을 대조</a:t>
            </a:r>
          </a:p>
          <a:p>
            <a:pPr>
              <a:lnSpc>
                <a:spcPct val="116000"/>
              </a:lnSpc>
              <a:spcAft>
                <a:spcPts val="0"/>
              </a:spcAft>
            </a:pPr>
            <a:r>
              <a:rPr sz="1300" b="0">
                <a:solidFill>
                  <a:srgbClr val="1B2A3A"/>
                </a:solidFill>
                <a:latin typeface="Malgun Gothic"/>
                <a:ea typeface="Malgun Gothic"/>
              </a:rPr>
              <a:t>보안 신고 링크 오류 등 수정 후 재검수</a:t>
            </a:r>
          </a:p>
        </p:txBody>
      </p:sp>
      <p:sp>
        <p:nvSpPr>
          <p:cNvPr id="44" name="TextBox 43"/>
          <p:cNvSpPr txBox="1"/>
          <p:nvPr/>
        </p:nvSpPr>
        <p:spPr>
          <a:xfrm>
            <a:off x="685800" y="5440680"/>
            <a:ext cx="10835640" cy="365760"/>
          </a:xfrm>
          <a:prstGeom prst="rect">
            <a:avLst/>
          </a:prstGeom>
          <a:noFill/>
        </p:spPr>
        <p:txBody>
          <a:bodyPr wrap="square" lIns="0" rIns="0" tIns="0" bIns="0">
            <a:spAutoFit/>
          </a:bodyPr>
          <a:lstStyle/>
          <a:p>
            <a:pPr>
              <a:lnSpc>
                <a:spcPct val="110000"/>
              </a:lnSpc>
              <a:spcAft>
                <a:spcPts val="400"/>
              </a:spcAft>
            </a:pPr>
            <a:r>
              <a:rPr sz="1500" b="1">
                <a:solidFill>
                  <a:srgbClr val="13263C"/>
                </a:solidFill>
                <a:latin typeface="Malgun Gothic"/>
                <a:ea typeface="Malgun Gothic"/>
              </a:rPr>
              <a:t>52개 초기 문서 → 19개 업무 안내 추가 · 기존 본문 보강 → 총 71개</a:t>
            </a:r>
          </a:p>
        </p:txBody>
      </p:sp>
      <p:sp>
        <p:nvSpPr>
          <p:cNvPr id="45" name="TextBox 44"/>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관련 절에서 절차·역할·확인 항목 추출 → 이음웍스의 도구·기한·담당자로 재구성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흐름 ② 질문 분류</a:t>
            </a:r>
          </a:p>
        </p:txBody>
      </p:sp>
      <p:sp>
        <p:nvSpPr>
          <p:cNvPr id="3" name="Rounded Rectangle 2"/>
          <p:cNvSpPr/>
          <p:nvPr/>
        </p:nvSpPr>
        <p:spPr>
          <a:xfrm>
            <a:off x="5440680" y="329184"/>
            <a:ext cx="89611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문서 준비</a:t>
            </a:r>
          </a:p>
        </p:txBody>
      </p:sp>
      <p:sp>
        <p:nvSpPr>
          <p:cNvPr id="4" name="Rounded Rectangle 3"/>
          <p:cNvSpPr/>
          <p:nvPr/>
        </p:nvSpPr>
        <p:spPr>
          <a:xfrm>
            <a:off x="648309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① 접수</a:t>
            </a:r>
          </a:p>
        </p:txBody>
      </p:sp>
      <p:sp>
        <p:nvSpPr>
          <p:cNvPr id="5" name="Rounded Rectangle 4"/>
          <p:cNvSpPr/>
          <p:nvPr/>
        </p:nvSpPr>
        <p:spPr>
          <a:xfrm>
            <a:off x="7260336" y="329184"/>
            <a:ext cx="731520" cy="274320"/>
          </a:xfrm>
          <a:prstGeom prst="roundRect">
            <a:avLst>
              <a:gd name="adj" fmla="val 50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1">
                <a:solidFill>
                  <a:srgbClr val="FFFFFF"/>
                </a:solidFill>
                <a:latin typeface="Malgun Gothic"/>
                <a:ea typeface="Malgun Gothic"/>
              </a:rPr>
              <a:t>② 분류</a:t>
            </a:r>
          </a:p>
        </p:txBody>
      </p:sp>
      <p:sp>
        <p:nvSpPr>
          <p:cNvPr id="6" name="Rounded Rectangle 5"/>
          <p:cNvSpPr/>
          <p:nvPr/>
        </p:nvSpPr>
        <p:spPr>
          <a:xfrm>
            <a:off x="803757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③ 검색</a:t>
            </a:r>
          </a:p>
        </p:txBody>
      </p:sp>
      <p:sp>
        <p:nvSpPr>
          <p:cNvPr id="7" name="Rounded Rectangle 6"/>
          <p:cNvSpPr/>
          <p:nvPr/>
        </p:nvSpPr>
        <p:spPr>
          <a:xfrm>
            <a:off x="881481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④ 조립</a:t>
            </a:r>
          </a:p>
        </p:txBody>
      </p:sp>
      <p:sp>
        <p:nvSpPr>
          <p:cNvPr id="8" name="Rounded Rectangle 7"/>
          <p:cNvSpPr/>
          <p:nvPr/>
        </p:nvSpPr>
        <p:spPr>
          <a:xfrm>
            <a:off x="959205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⑤ 생성</a:t>
            </a:r>
          </a:p>
        </p:txBody>
      </p:sp>
      <p:sp>
        <p:nvSpPr>
          <p:cNvPr id="9" name="Rounded Rectangle 8"/>
          <p:cNvSpPr/>
          <p:nvPr/>
        </p:nvSpPr>
        <p:spPr>
          <a:xfrm>
            <a:off x="10369295" y="329184"/>
            <a:ext cx="107899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⑥ 응답 안내</a:t>
            </a:r>
          </a:p>
        </p:txBody>
      </p:sp>
      <p:sp>
        <p:nvSpPr>
          <p:cNvPr id="10" name="TextBox 9"/>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질문 분류: Routing 패턴을 참고했습니다</a:t>
            </a:r>
          </a:p>
        </p:txBody>
      </p:sp>
      <p:sp>
        <p:nvSpPr>
          <p:cNvPr id="11" name="TextBox 10"/>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초기에는 질문 유형에 따라 안내 방식을 나누려 했습니다</a:t>
            </a:r>
          </a:p>
        </p:txBody>
      </p:sp>
      <p:sp>
        <p:nvSpPr>
          <p:cNvPr id="12" name="TextBox 11"/>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13" name="TextBox 12"/>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07</a:t>
            </a:r>
          </a:p>
        </p:txBody>
      </p:sp>
      <p:sp>
        <p:nvSpPr>
          <p:cNvPr id="14" name="Rounded Rectangle 13"/>
          <p:cNvSpPr/>
          <p:nvPr/>
        </p:nvSpPr>
        <p:spPr>
          <a:xfrm>
            <a:off x="685800" y="1783080"/>
            <a:ext cx="5120640" cy="4069080"/>
          </a:xfrm>
          <a:prstGeom prst="roundRect">
            <a:avLst>
              <a:gd name="adj" fmla="val 5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60120" y="1938528"/>
            <a:ext cx="4572000" cy="320040"/>
          </a:xfrm>
          <a:prstGeom prst="rect">
            <a:avLst/>
          </a:prstGeom>
          <a:noFill/>
        </p:spPr>
        <p:txBody>
          <a:bodyPr wrap="square" lIns="0" rIns="0" tIns="0" bIns="0">
            <a:spAutoFit/>
          </a:bodyPr>
          <a:lstStyle/>
          <a:p>
            <a:pPr>
              <a:lnSpc>
                <a:spcPct val="110000"/>
              </a:lnSpc>
              <a:spcAft>
                <a:spcPts val="400"/>
              </a:spcAft>
            </a:pPr>
            <a:r>
              <a:rPr sz="1600" b="1">
                <a:solidFill>
                  <a:srgbClr val="075E63"/>
                </a:solidFill>
                <a:latin typeface="Malgun Gothic"/>
                <a:ea typeface="Malgun Gothic"/>
              </a:rPr>
              <a:t>Routing 패턴이란</a:t>
            </a:r>
          </a:p>
        </p:txBody>
      </p:sp>
      <p:sp>
        <p:nvSpPr>
          <p:cNvPr id="16" name="Rounded Rectangle 15"/>
          <p:cNvSpPr/>
          <p:nvPr/>
        </p:nvSpPr>
        <p:spPr>
          <a:xfrm>
            <a:off x="960120" y="2514600"/>
            <a:ext cx="1143000" cy="548640"/>
          </a:xfrm>
          <a:prstGeom prst="roundRect">
            <a:avLst>
              <a:gd name="adj" fmla="val 20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400" b="1">
                <a:solidFill>
                  <a:srgbClr val="1B2A3A"/>
                </a:solidFill>
                <a:latin typeface="Malgun Gothic"/>
                <a:ea typeface="Malgun Gothic"/>
              </a:rPr>
              <a:t>질문</a:t>
            </a:r>
          </a:p>
        </p:txBody>
      </p:sp>
      <p:sp>
        <p:nvSpPr>
          <p:cNvPr id="17" name="Rounded Rectangle 16"/>
          <p:cNvSpPr/>
          <p:nvPr/>
        </p:nvSpPr>
        <p:spPr>
          <a:xfrm>
            <a:off x="2377440" y="2514600"/>
            <a:ext cx="1143000" cy="548640"/>
          </a:xfrm>
          <a:prstGeom prst="roundRect">
            <a:avLst>
              <a:gd name="adj" fmla="val 2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400" b="1">
                <a:solidFill>
                  <a:srgbClr val="FFFFFF"/>
                </a:solidFill>
                <a:latin typeface="Malgun Gothic"/>
                <a:ea typeface="Malgun Gothic"/>
              </a:rPr>
              <a:t>분류</a:t>
            </a:r>
          </a:p>
        </p:txBody>
      </p:sp>
      <p:cxnSp>
        <p:nvCxnSpPr>
          <p:cNvPr id="18" name="Connector 17"/>
          <p:cNvCxnSpPr/>
          <p:nvPr/>
        </p:nvCxnSpPr>
        <p:spPr>
          <a:xfrm>
            <a:off x="2121408" y="2788920"/>
            <a:ext cx="237744" cy="0"/>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4069080" y="2240280"/>
            <a:ext cx="1371600" cy="365760"/>
          </a:xfrm>
          <a:prstGeom prst="roundRect">
            <a:avLst>
              <a:gd name="adj" fmla="val 3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075E63"/>
                </a:solidFill>
                <a:latin typeface="Malgun Gothic"/>
                <a:ea typeface="Malgun Gothic"/>
              </a:rPr>
              <a:t>처리 A</a:t>
            </a:r>
          </a:p>
        </p:txBody>
      </p:sp>
      <p:cxnSp>
        <p:nvCxnSpPr>
          <p:cNvPr id="20" name="Connector 19"/>
          <p:cNvCxnSpPr/>
          <p:nvPr/>
        </p:nvCxnSpPr>
        <p:spPr>
          <a:xfrm flipV="1">
            <a:off x="3538728" y="2423160"/>
            <a:ext cx="512063" cy="365760"/>
          </a:xfrm>
          <a:prstGeom prst="line">
            <a:avLst/>
          </a:prstGeom>
          <a:ln w="1397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4069080" y="2697480"/>
            <a:ext cx="1371600" cy="365760"/>
          </a:xfrm>
          <a:prstGeom prst="roundRect">
            <a:avLst>
              <a:gd name="adj" fmla="val 3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075E63"/>
                </a:solidFill>
                <a:latin typeface="Malgun Gothic"/>
                <a:ea typeface="Malgun Gothic"/>
              </a:rPr>
              <a:t>처리 B</a:t>
            </a:r>
          </a:p>
        </p:txBody>
      </p:sp>
      <p:cxnSp>
        <p:nvCxnSpPr>
          <p:cNvPr id="22" name="Connector 21"/>
          <p:cNvCxnSpPr/>
          <p:nvPr/>
        </p:nvCxnSpPr>
        <p:spPr>
          <a:xfrm>
            <a:off x="3538728" y="2788920"/>
            <a:ext cx="512063" cy="91440"/>
          </a:xfrm>
          <a:prstGeom prst="line">
            <a:avLst/>
          </a:prstGeom>
          <a:ln w="1397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4069080" y="3154680"/>
            <a:ext cx="1371600" cy="365760"/>
          </a:xfrm>
          <a:prstGeom prst="roundRect">
            <a:avLst>
              <a:gd name="adj" fmla="val 3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075E63"/>
                </a:solidFill>
                <a:latin typeface="Malgun Gothic"/>
                <a:ea typeface="Malgun Gothic"/>
              </a:rPr>
              <a:t>처리 C</a:t>
            </a:r>
          </a:p>
        </p:txBody>
      </p:sp>
      <p:cxnSp>
        <p:nvCxnSpPr>
          <p:cNvPr id="24" name="Connector 23"/>
          <p:cNvCxnSpPr/>
          <p:nvPr/>
        </p:nvCxnSpPr>
        <p:spPr>
          <a:xfrm>
            <a:off x="3538728" y="2788920"/>
            <a:ext cx="512063" cy="548640"/>
          </a:xfrm>
          <a:prstGeom prst="line">
            <a:avLst/>
          </a:prstGeom>
          <a:ln w="1397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960120" y="3794760"/>
            <a:ext cx="4617720" cy="1920240"/>
          </a:xfrm>
          <a:prstGeom prst="rect">
            <a:avLst/>
          </a:prstGeom>
          <a:noFill/>
        </p:spPr>
        <p:txBody>
          <a:bodyPr wrap="square" lIns="0" rIns="0" tIns="0" bIns="0">
            <a:spAutoFit/>
          </a:bodyPr>
          <a:lstStyle/>
          <a:p>
            <a:pPr>
              <a:lnSpc>
                <a:spcPct val="112000"/>
              </a:lnSpc>
              <a:spcAft>
                <a:spcPts val="800"/>
              </a:spcAft>
            </a:pPr>
            <a:r>
              <a:rPr sz="1400" b="0">
                <a:solidFill>
                  <a:srgbClr val="1B2A3A"/>
                </a:solidFill>
                <a:latin typeface="Malgun Gothic"/>
                <a:ea typeface="Malgun Gothic"/>
              </a:rPr>
              <a:t>서로 다르게 처리할 범주가 있고 분류를 정확하게 할 수 있을 때 적합</a:t>
            </a:r>
          </a:p>
          <a:p>
            <a:pPr>
              <a:lnSpc>
                <a:spcPct val="112000"/>
              </a:lnSpc>
              <a:spcAft>
                <a:spcPts val="800"/>
              </a:spcAft>
            </a:pPr>
            <a:r>
              <a:rPr sz="1200" b="0">
                <a:solidFill>
                  <a:srgbClr val="5B6B7C"/>
                </a:solidFill>
                <a:latin typeface="Malgun Gothic"/>
                <a:ea typeface="Malgun Gothic"/>
              </a:rPr>
              <a:t>Anthropic “Building Effective Agents” · LangChain 공식 예제</a:t>
            </a:r>
          </a:p>
        </p:txBody>
      </p:sp>
      <p:sp>
        <p:nvSpPr>
          <p:cNvPr id="26" name="TextBox 25"/>
          <p:cNvSpPr txBox="1"/>
          <p:nvPr/>
        </p:nvSpPr>
        <p:spPr>
          <a:xfrm>
            <a:off x="6172200" y="1801368"/>
            <a:ext cx="5303520" cy="320040"/>
          </a:xfrm>
          <a:prstGeom prst="rect">
            <a:avLst/>
          </a:prstGeom>
          <a:noFill/>
        </p:spPr>
        <p:txBody>
          <a:bodyPr wrap="square" lIns="0" rIns="0" tIns="0" bIns="0">
            <a:spAutoFit/>
          </a:bodyPr>
          <a:lstStyle/>
          <a:p>
            <a:pPr>
              <a:lnSpc>
                <a:spcPct val="110000"/>
              </a:lnSpc>
              <a:spcAft>
                <a:spcPts val="400"/>
              </a:spcAft>
            </a:pPr>
            <a:r>
              <a:rPr sz="1600" b="1">
                <a:solidFill>
                  <a:srgbClr val="13263C"/>
                </a:solidFill>
                <a:latin typeface="Malgun Gothic"/>
                <a:ea typeface="Malgun Gothic"/>
              </a:rPr>
              <a:t>초기에 구상한 세 가지 처리 방향</a:t>
            </a:r>
          </a:p>
        </p:txBody>
      </p:sp>
      <p:sp>
        <p:nvSpPr>
          <p:cNvPr id="27" name="Rounded Rectangle 26"/>
          <p:cNvSpPr/>
          <p:nvPr/>
        </p:nvSpPr>
        <p:spPr>
          <a:xfrm>
            <a:off x="6172200" y="2240280"/>
            <a:ext cx="5349240" cy="731520"/>
          </a:xfrm>
          <a:prstGeom prst="roundRect">
            <a:avLst>
              <a:gd name="adj" fmla="val 10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382512" y="2331720"/>
            <a:ext cx="3108960" cy="27432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SEARCH_KNOWLEDGE</a:t>
            </a:r>
          </a:p>
        </p:txBody>
      </p:sp>
      <p:sp>
        <p:nvSpPr>
          <p:cNvPr id="29" name="TextBox 28"/>
          <p:cNvSpPr txBox="1"/>
          <p:nvPr/>
        </p:nvSpPr>
        <p:spPr>
          <a:xfrm>
            <a:off x="6382512" y="2633472"/>
            <a:ext cx="3291840" cy="274320"/>
          </a:xfrm>
          <a:prstGeom prst="rect">
            <a:avLst/>
          </a:prstGeom>
          <a:noFill/>
        </p:spPr>
        <p:txBody>
          <a:bodyPr wrap="square" lIns="0" rIns="0" tIns="0" bIns="0">
            <a:spAutoFit/>
          </a:bodyPr>
          <a:lstStyle/>
          <a:p>
            <a:pPr>
              <a:lnSpc>
                <a:spcPct val="110000"/>
              </a:lnSpc>
              <a:spcAft>
                <a:spcPts val="400"/>
              </a:spcAft>
            </a:pPr>
            <a:r>
              <a:rPr sz="1300" b="0">
                <a:solidFill>
                  <a:srgbClr val="5B6B7C"/>
                </a:solidFill>
                <a:latin typeface="Malgun Gothic"/>
                <a:ea typeface="Malgun Gothic"/>
              </a:rPr>
              <a:t>회사 문서로 안내할 정보 요청</a:t>
            </a:r>
          </a:p>
        </p:txBody>
      </p:sp>
      <p:sp>
        <p:nvSpPr>
          <p:cNvPr id="30" name="Rounded Rectangle 29"/>
          <p:cNvSpPr/>
          <p:nvPr/>
        </p:nvSpPr>
        <p:spPr>
          <a:xfrm>
            <a:off x="9646920" y="2432304"/>
            <a:ext cx="1691640" cy="347472"/>
          </a:xfrm>
          <a:prstGeom prst="roundRect">
            <a:avLst>
              <a:gd name="adj" fmla="val 5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FFFFFF"/>
                </a:solidFill>
                <a:latin typeface="Malgun Gothic"/>
                <a:ea typeface="Malgun Gothic"/>
              </a:rPr>
              <a:t>문서 근거로 안내</a:t>
            </a:r>
          </a:p>
        </p:txBody>
      </p:sp>
      <p:sp>
        <p:nvSpPr>
          <p:cNvPr id="31" name="Rounded Rectangle 30"/>
          <p:cNvSpPr/>
          <p:nvPr/>
        </p:nvSpPr>
        <p:spPr>
          <a:xfrm>
            <a:off x="6172200" y="3108960"/>
            <a:ext cx="5349240" cy="731520"/>
          </a:xfrm>
          <a:prstGeom prst="roundRect">
            <a:avLst>
              <a:gd name="adj" fmla="val 10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382512" y="3200400"/>
            <a:ext cx="3108960" cy="27432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CLARIFY</a:t>
            </a:r>
          </a:p>
        </p:txBody>
      </p:sp>
      <p:sp>
        <p:nvSpPr>
          <p:cNvPr id="33" name="TextBox 32"/>
          <p:cNvSpPr txBox="1"/>
          <p:nvPr/>
        </p:nvSpPr>
        <p:spPr>
          <a:xfrm>
            <a:off x="6382512" y="3502152"/>
            <a:ext cx="3291840" cy="274320"/>
          </a:xfrm>
          <a:prstGeom prst="rect">
            <a:avLst/>
          </a:prstGeom>
          <a:noFill/>
        </p:spPr>
        <p:txBody>
          <a:bodyPr wrap="square" lIns="0" rIns="0" tIns="0" bIns="0">
            <a:spAutoFit/>
          </a:bodyPr>
          <a:lstStyle/>
          <a:p>
            <a:pPr>
              <a:lnSpc>
                <a:spcPct val="110000"/>
              </a:lnSpc>
              <a:spcAft>
                <a:spcPts val="400"/>
              </a:spcAft>
            </a:pPr>
            <a:r>
              <a:rPr sz="1300" b="0">
                <a:solidFill>
                  <a:srgbClr val="5B6B7C"/>
                </a:solidFill>
                <a:latin typeface="Malgun Gothic"/>
                <a:ea typeface="Malgun Gothic"/>
              </a:rPr>
              <a:t>대상이나 의도가 불분명한 요청</a:t>
            </a:r>
          </a:p>
        </p:txBody>
      </p:sp>
      <p:sp>
        <p:nvSpPr>
          <p:cNvPr id="34" name="Rounded Rectangle 33"/>
          <p:cNvSpPr/>
          <p:nvPr/>
        </p:nvSpPr>
        <p:spPr>
          <a:xfrm>
            <a:off x="9646920" y="3300984"/>
            <a:ext cx="1691640" cy="347472"/>
          </a:xfrm>
          <a:prstGeom prst="roundRect">
            <a:avLst>
              <a:gd name="adj" fmla="val 5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FFFFFF"/>
                </a:solidFill>
                <a:latin typeface="Malgun Gothic"/>
                <a:ea typeface="Malgun Gothic"/>
              </a:rPr>
              <a:t>구체적으로 되묻기</a:t>
            </a:r>
          </a:p>
        </p:txBody>
      </p:sp>
      <p:sp>
        <p:nvSpPr>
          <p:cNvPr id="35" name="Rounded Rectangle 34"/>
          <p:cNvSpPr/>
          <p:nvPr/>
        </p:nvSpPr>
        <p:spPr>
          <a:xfrm>
            <a:off x="6172200" y="3977639"/>
            <a:ext cx="5349240" cy="731520"/>
          </a:xfrm>
          <a:prstGeom prst="roundRect">
            <a:avLst>
              <a:gd name="adj" fmla="val 10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6382512" y="4069079"/>
            <a:ext cx="3108960" cy="27432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UNSUPPORTED</a:t>
            </a:r>
          </a:p>
        </p:txBody>
      </p:sp>
      <p:sp>
        <p:nvSpPr>
          <p:cNvPr id="37" name="TextBox 36"/>
          <p:cNvSpPr txBox="1"/>
          <p:nvPr/>
        </p:nvSpPr>
        <p:spPr>
          <a:xfrm>
            <a:off x="6382512" y="4370831"/>
            <a:ext cx="3291840" cy="274320"/>
          </a:xfrm>
          <a:prstGeom prst="rect">
            <a:avLst/>
          </a:prstGeom>
          <a:noFill/>
        </p:spPr>
        <p:txBody>
          <a:bodyPr wrap="square" lIns="0" rIns="0" tIns="0" bIns="0">
            <a:spAutoFit/>
          </a:bodyPr>
          <a:lstStyle/>
          <a:p>
            <a:pPr>
              <a:lnSpc>
                <a:spcPct val="110000"/>
              </a:lnSpc>
              <a:spcAft>
                <a:spcPts val="400"/>
              </a:spcAft>
            </a:pPr>
            <a:r>
              <a:rPr sz="1300" b="0">
                <a:solidFill>
                  <a:srgbClr val="5B6B7C"/>
                </a:solidFill>
                <a:latin typeface="Malgun Gothic"/>
                <a:ea typeface="Malgun Gothic"/>
              </a:rPr>
              <a:t>범위 밖 정보·조회·실행 요청</a:t>
            </a:r>
          </a:p>
        </p:txBody>
      </p:sp>
      <p:sp>
        <p:nvSpPr>
          <p:cNvPr id="38" name="Rounded Rectangle 37"/>
          <p:cNvSpPr/>
          <p:nvPr/>
        </p:nvSpPr>
        <p:spPr>
          <a:xfrm>
            <a:off x="9646920" y="4169663"/>
            <a:ext cx="1691640" cy="347472"/>
          </a:xfrm>
          <a:prstGeom prst="roundRect">
            <a:avLst>
              <a:gd name="adj" fmla="val 5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FFFFFF"/>
                </a:solidFill>
                <a:latin typeface="Malgun Gothic"/>
                <a:ea typeface="Malgun Gothic"/>
              </a:rPr>
              <a:t>지원 범위 안내</a:t>
            </a:r>
          </a:p>
        </p:txBody>
      </p:sp>
      <p:sp>
        <p:nvSpPr>
          <p:cNvPr id="39" name="Rounded Rectangle 38"/>
          <p:cNvSpPr/>
          <p:nvPr/>
        </p:nvSpPr>
        <p:spPr>
          <a:xfrm>
            <a:off x="6172200" y="4937760"/>
            <a:ext cx="5349240" cy="914400"/>
          </a:xfrm>
          <a:prstGeom prst="roundRect">
            <a:avLst>
              <a:gd name="adj" fmla="val 8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382512" y="5029200"/>
            <a:ext cx="4983480" cy="777240"/>
          </a:xfrm>
          <a:prstGeom prst="rect">
            <a:avLst/>
          </a:prstGeom>
          <a:noFill/>
        </p:spPr>
        <p:txBody>
          <a:bodyPr wrap="square" lIns="0" rIns="0" tIns="0" bIns="0">
            <a:spAutoFit/>
          </a:bodyPr>
          <a:lstStyle/>
          <a:p>
            <a:pPr>
              <a:lnSpc>
                <a:spcPct val="110000"/>
              </a:lnSpc>
              <a:spcAft>
                <a:spcPts val="400"/>
              </a:spcAft>
            </a:pPr>
            <a:r>
              <a:rPr sz="1300" b="1">
                <a:solidFill>
                  <a:srgbClr val="075E63"/>
                </a:solidFill>
                <a:latin typeface="Malgun Gothic"/>
                <a:ea typeface="Malgun Gothic"/>
              </a:rPr>
              <a:t>공개 자료에서 확인한 구성  </a:t>
            </a:r>
            <a:r>
              <a:rPr sz="1300" b="0">
                <a:solidFill>
                  <a:srgbClr val="1B2A3A"/>
                </a:solidFill>
                <a:latin typeface="Malgun Gothic"/>
                <a:ea typeface="Malgun Gothic"/>
              </a:rPr>
              <a:t>Google 질의 분류, AWS·NVIDIA 주제 가드레일처럼 입력 판단을 답변 생성과 별도 단계로 둔다</a:t>
            </a:r>
          </a:p>
        </p:txBody>
      </p:sp>
      <p:sp>
        <p:nvSpPr>
          <p:cNvPr id="41" name="TextBox 40"/>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세 질문 유형은 사내비가 정한 기준 · 실험을 거쳐 분류 결과를 활용하는 방식을 조정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흐름 ② 질문 분류</a:t>
            </a:r>
          </a:p>
        </p:txBody>
      </p:sp>
      <p:sp>
        <p:nvSpPr>
          <p:cNvPr id="3" name="Rounded Rectangle 2"/>
          <p:cNvSpPr/>
          <p:nvPr/>
        </p:nvSpPr>
        <p:spPr>
          <a:xfrm>
            <a:off x="5440680" y="329184"/>
            <a:ext cx="89611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문서 준비</a:t>
            </a:r>
          </a:p>
        </p:txBody>
      </p:sp>
      <p:sp>
        <p:nvSpPr>
          <p:cNvPr id="4" name="Rounded Rectangle 3"/>
          <p:cNvSpPr/>
          <p:nvPr/>
        </p:nvSpPr>
        <p:spPr>
          <a:xfrm>
            <a:off x="648309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① 접수</a:t>
            </a:r>
          </a:p>
        </p:txBody>
      </p:sp>
      <p:sp>
        <p:nvSpPr>
          <p:cNvPr id="5" name="Rounded Rectangle 4"/>
          <p:cNvSpPr/>
          <p:nvPr/>
        </p:nvSpPr>
        <p:spPr>
          <a:xfrm>
            <a:off x="7260336" y="329184"/>
            <a:ext cx="731520" cy="274320"/>
          </a:xfrm>
          <a:prstGeom prst="roundRect">
            <a:avLst>
              <a:gd name="adj" fmla="val 50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1">
                <a:solidFill>
                  <a:srgbClr val="FFFFFF"/>
                </a:solidFill>
                <a:latin typeface="Malgun Gothic"/>
                <a:ea typeface="Malgun Gothic"/>
              </a:rPr>
              <a:t>② 분류</a:t>
            </a:r>
          </a:p>
        </p:txBody>
      </p:sp>
      <p:sp>
        <p:nvSpPr>
          <p:cNvPr id="6" name="Rounded Rectangle 5"/>
          <p:cNvSpPr/>
          <p:nvPr/>
        </p:nvSpPr>
        <p:spPr>
          <a:xfrm>
            <a:off x="803757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③ 검색</a:t>
            </a:r>
          </a:p>
        </p:txBody>
      </p:sp>
      <p:sp>
        <p:nvSpPr>
          <p:cNvPr id="7" name="Rounded Rectangle 6"/>
          <p:cNvSpPr/>
          <p:nvPr/>
        </p:nvSpPr>
        <p:spPr>
          <a:xfrm>
            <a:off x="881481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④ 조립</a:t>
            </a:r>
          </a:p>
        </p:txBody>
      </p:sp>
      <p:sp>
        <p:nvSpPr>
          <p:cNvPr id="8" name="Rounded Rectangle 7"/>
          <p:cNvSpPr/>
          <p:nvPr/>
        </p:nvSpPr>
        <p:spPr>
          <a:xfrm>
            <a:off x="959205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⑤ 생성</a:t>
            </a:r>
          </a:p>
        </p:txBody>
      </p:sp>
      <p:sp>
        <p:nvSpPr>
          <p:cNvPr id="9" name="Rounded Rectangle 8"/>
          <p:cNvSpPr/>
          <p:nvPr/>
        </p:nvSpPr>
        <p:spPr>
          <a:xfrm>
            <a:off x="10369295" y="329184"/>
            <a:ext cx="107899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⑥ 응답 안내</a:t>
            </a:r>
          </a:p>
        </p:txBody>
      </p:sp>
      <p:sp>
        <p:nvSpPr>
          <p:cNvPr id="10" name="TextBox 9"/>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분류 결과의 역할을 조정했습니다</a:t>
            </a:r>
          </a:p>
        </p:txBody>
      </p:sp>
      <p:sp>
        <p:nvSpPr>
          <p:cNvPr id="11" name="TextBox 10"/>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평가 점수가 높아도, 정상 질문의 오분류가 답변 차단으로 이어졌습니다</a:t>
            </a:r>
          </a:p>
        </p:txBody>
      </p:sp>
      <p:sp>
        <p:nvSpPr>
          <p:cNvPr id="12" name="TextBox 11"/>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13" name="TextBox 12"/>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08</a:t>
            </a:r>
          </a:p>
        </p:txBody>
      </p:sp>
      <p:sp>
        <p:nvSpPr>
          <p:cNvPr id="14" name="Rounded Rectangle 13"/>
          <p:cNvSpPr/>
          <p:nvPr/>
        </p:nvSpPr>
        <p:spPr>
          <a:xfrm>
            <a:off x="685800" y="1783080"/>
            <a:ext cx="3429000" cy="3749039"/>
          </a:xfrm>
          <a:prstGeom prst="roundRect">
            <a:avLst>
              <a:gd name="adj" fmla="val 5000"/>
            </a:avLst>
          </a:prstGeom>
          <a:solidFill>
            <a:srgbClr val="FBE9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60120" y="1938528"/>
            <a:ext cx="2926080" cy="365760"/>
          </a:xfrm>
          <a:prstGeom prst="rect">
            <a:avLst/>
          </a:prstGeom>
          <a:noFill/>
        </p:spPr>
        <p:txBody>
          <a:bodyPr wrap="square" lIns="0" rIns="0" tIns="0" bIns="0">
            <a:spAutoFit/>
          </a:bodyPr>
          <a:lstStyle/>
          <a:p>
            <a:pPr>
              <a:lnSpc>
                <a:spcPct val="110000"/>
              </a:lnSpc>
              <a:spcAft>
                <a:spcPts val="400"/>
              </a:spcAft>
            </a:pPr>
            <a:r>
              <a:rPr sz="1900" b="1">
                <a:solidFill>
                  <a:srgbClr val="C2553F"/>
                </a:solidFill>
                <a:latin typeface="Malgun Gothic"/>
                <a:ea typeface="Malgun Gothic"/>
              </a:rPr>
              <a:t>1  유형별 강제 분기</a:t>
            </a:r>
          </a:p>
        </p:txBody>
      </p:sp>
      <p:sp>
        <p:nvSpPr>
          <p:cNvPr id="16" name="TextBox 15"/>
          <p:cNvSpPr txBox="1"/>
          <p:nvPr/>
        </p:nvSpPr>
        <p:spPr>
          <a:xfrm>
            <a:off x="960120" y="2423160"/>
            <a:ext cx="2926080" cy="685800"/>
          </a:xfrm>
          <a:prstGeom prst="rect">
            <a:avLst/>
          </a:prstGeom>
          <a:noFill/>
        </p:spPr>
        <p:txBody>
          <a:bodyPr wrap="square" lIns="0" rIns="0" tIns="0" bIns="0">
            <a:spAutoFit/>
          </a:bodyPr>
          <a:lstStyle/>
          <a:p>
            <a:pPr>
              <a:lnSpc>
                <a:spcPct val="108000"/>
              </a:lnSpc>
              <a:spcAft>
                <a:spcPts val="0"/>
              </a:spcAft>
            </a:pPr>
            <a:r>
              <a:rPr sz="1500" b="1">
                <a:solidFill>
                  <a:srgbClr val="1B2A3A"/>
                </a:solidFill>
                <a:latin typeface="Malgun Gothic"/>
                <a:ea typeface="Malgun Gothic"/>
              </a:rPr>
              <a:t>검색 유형만 답변 생성</a:t>
            </a:r>
          </a:p>
          <a:p>
            <a:pPr>
              <a:lnSpc>
                <a:spcPct val="108000"/>
              </a:lnSpc>
              <a:spcAft>
                <a:spcPts val="0"/>
              </a:spcAft>
            </a:pPr>
            <a:r>
              <a:rPr sz="1500" b="1">
                <a:solidFill>
                  <a:srgbClr val="1B2A3A"/>
                </a:solidFill>
                <a:latin typeface="Malgun Gothic"/>
                <a:ea typeface="Malgun Gothic"/>
              </a:rPr>
              <a:t>나머지는 고정 안내로 종료</a:t>
            </a:r>
          </a:p>
        </p:txBody>
      </p:sp>
      <p:cxnSp>
        <p:nvCxnSpPr>
          <p:cNvPr id="17" name="Connector 16"/>
          <p:cNvCxnSpPr/>
          <p:nvPr/>
        </p:nvCxnSpPr>
        <p:spPr>
          <a:xfrm>
            <a:off x="960120" y="3246120"/>
            <a:ext cx="2880360" cy="0"/>
          </a:xfrm>
          <a:prstGeom prst="line">
            <a:avLst/>
          </a:prstGeom>
          <a:ln w="19050">
            <a:solidFill>
              <a:srgbClr val="FFFFFF"/>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960120" y="3383280"/>
            <a:ext cx="2971800" cy="1188720"/>
          </a:xfrm>
          <a:prstGeom prst="rect">
            <a:avLst/>
          </a:prstGeom>
          <a:noFill/>
        </p:spPr>
        <p:txBody>
          <a:bodyPr wrap="square" lIns="0" rIns="0" tIns="0" bIns="0">
            <a:spAutoFit/>
          </a:bodyPr>
          <a:lstStyle/>
          <a:p>
            <a:pPr>
              <a:lnSpc>
                <a:spcPct val="110000"/>
              </a:lnSpc>
              <a:spcAft>
                <a:spcPts val="0"/>
              </a:spcAft>
            </a:pPr>
            <a:r>
              <a:rPr sz="1400" b="0">
                <a:solidFill>
                  <a:srgbClr val="1B2A3A"/>
                </a:solidFill>
                <a:latin typeface="Malgun Gothic"/>
                <a:ea typeface="Malgun Gothic"/>
              </a:rPr>
              <a:t>‘우리 회사 연차 규정에 대해</a:t>
            </a:r>
          </a:p>
          <a:p>
            <a:pPr>
              <a:lnSpc>
                <a:spcPct val="110000"/>
              </a:lnSpc>
              <a:spcAft>
                <a:spcPts val="0"/>
              </a:spcAft>
            </a:pPr>
            <a:r>
              <a:rPr sz="1400" b="0">
                <a:solidFill>
                  <a:srgbClr val="1B2A3A"/>
                </a:solidFill>
                <a:latin typeface="Malgun Gothic"/>
                <a:ea typeface="Malgun Gothic"/>
              </a:rPr>
              <a:t>알려줘’를 범위 밖으로 예측</a:t>
            </a:r>
          </a:p>
          <a:p>
            <a:pPr>
              <a:lnSpc>
                <a:spcPct val="110000"/>
              </a:lnSpc>
              <a:spcAft>
                <a:spcPts val="0"/>
              </a:spcAft>
            </a:pPr>
            <a:r>
              <a:rPr sz="1400" b="0">
                <a:solidFill>
                  <a:srgbClr val="1B2A3A"/>
                </a:solidFill>
                <a:latin typeface="Malgun Gothic"/>
                <a:ea typeface="Malgun Gothic"/>
              </a:rPr>
              <a:t>→ 문서가 있어도 답변 차단</a:t>
            </a:r>
          </a:p>
        </p:txBody>
      </p:sp>
      <p:sp>
        <p:nvSpPr>
          <p:cNvPr id="19" name="Rounded Rectangle 18"/>
          <p:cNvSpPr/>
          <p:nvPr/>
        </p:nvSpPr>
        <p:spPr>
          <a:xfrm>
            <a:off x="960120" y="4892040"/>
            <a:ext cx="2103120" cy="384048"/>
          </a:xfrm>
          <a:prstGeom prst="roundRect">
            <a:avLst>
              <a:gd name="adj" fmla="val 5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300" b="1">
                <a:solidFill>
                  <a:srgbClr val="C2553F"/>
                </a:solidFill>
                <a:latin typeface="Malgun Gothic"/>
                <a:ea typeface="Malgun Gothic"/>
              </a:rPr>
              <a:t>두 번 모두 통과 25/40</a:t>
            </a:r>
          </a:p>
        </p:txBody>
      </p:sp>
      <p:cxnSp>
        <p:nvCxnSpPr>
          <p:cNvPr id="20" name="Connector 19"/>
          <p:cNvCxnSpPr/>
          <p:nvPr/>
        </p:nvCxnSpPr>
        <p:spPr>
          <a:xfrm>
            <a:off x="4142231" y="3657600"/>
            <a:ext cx="219457" cy="0"/>
          </a:xfrm>
          <a:prstGeom prst="line">
            <a:avLst/>
          </a:prstGeom>
          <a:ln w="2286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4389120" y="1783080"/>
            <a:ext cx="3429000" cy="3749039"/>
          </a:xfrm>
          <a:prstGeom prst="roundRect">
            <a:avLst>
              <a:gd name="adj" fmla="val 5000"/>
            </a:avLst>
          </a:prstGeom>
          <a:solidFill>
            <a:srgbClr val="FBF1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663440" y="1938528"/>
            <a:ext cx="2926080" cy="365760"/>
          </a:xfrm>
          <a:prstGeom prst="rect">
            <a:avLst/>
          </a:prstGeom>
          <a:noFill/>
        </p:spPr>
        <p:txBody>
          <a:bodyPr wrap="square" lIns="0" rIns="0" tIns="0" bIns="0">
            <a:spAutoFit/>
          </a:bodyPr>
          <a:lstStyle/>
          <a:p>
            <a:pPr>
              <a:lnSpc>
                <a:spcPct val="110000"/>
              </a:lnSpc>
              <a:spcAft>
                <a:spcPts val="400"/>
              </a:spcAft>
            </a:pPr>
            <a:r>
              <a:rPr sz="1900" b="1">
                <a:solidFill>
                  <a:srgbClr val="B9822A"/>
                </a:solidFill>
                <a:latin typeface="Malgun Gothic"/>
                <a:ea typeface="Malgun Gothic"/>
              </a:rPr>
              <a:t>2  차단 없이 비교</a:t>
            </a:r>
          </a:p>
        </p:txBody>
      </p:sp>
      <p:sp>
        <p:nvSpPr>
          <p:cNvPr id="23" name="TextBox 22"/>
          <p:cNvSpPr txBox="1"/>
          <p:nvPr/>
        </p:nvSpPr>
        <p:spPr>
          <a:xfrm>
            <a:off x="4663440" y="2423160"/>
            <a:ext cx="2926080" cy="685800"/>
          </a:xfrm>
          <a:prstGeom prst="rect">
            <a:avLst/>
          </a:prstGeom>
          <a:noFill/>
        </p:spPr>
        <p:txBody>
          <a:bodyPr wrap="square" lIns="0" rIns="0" tIns="0" bIns="0">
            <a:spAutoFit/>
          </a:bodyPr>
          <a:lstStyle/>
          <a:p>
            <a:pPr>
              <a:lnSpc>
                <a:spcPct val="108000"/>
              </a:lnSpc>
              <a:spcAft>
                <a:spcPts val="0"/>
              </a:spcAft>
            </a:pPr>
            <a:r>
              <a:rPr sz="1500" b="1">
                <a:solidFill>
                  <a:srgbClr val="1B2A3A"/>
                </a:solidFill>
                <a:latin typeface="Malgun Gothic"/>
                <a:ea typeface="Malgun Gothic"/>
              </a:rPr>
              <a:t>분류는 기록만 하고</a:t>
            </a:r>
          </a:p>
          <a:p>
            <a:pPr>
              <a:lnSpc>
                <a:spcPct val="108000"/>
              </a:lnSpc>
              <a:spcAft>
                <a:spcPts val="0"/>
              </a:spcAft>
            </a:pPr>
            <a:r>
              <a:rPr sz="1500" b="1">
                <a:solidFill>
                  <a:srgbClr val="1B2A3A"/>
                </a:solidFill>
                <a:latin typeface="Malgun Gothic"/>
                <a:ea typeface="Malgun Gothic"/>
              </a:rPr>
              <a:t>질문과 문서로 답변 생성</a:t>
            </a:r>
          </a:p>
        </p:txBody>
      </p:sp>
      <p:cxnSp>
        <p:nvCxnSpPr>
          <p:cNvPr id="24" name="Connector 23"/>
          <p:cNvCxnSpPr/>
          <p:nvPr/>
        </p:nvCxnSpPr>
        <p:spPr>
          <a:xfrm>
            <a:off x="4663440" y="3246120"/>
            <a:ext cx="2880360" cy="0"/>
          </a:xfrm>
          <a:prstGeom prst="line">
            <a:avLst/>
          </a:prstGeom>
          <a:ln w="19050">
            <a:solidFill>
              <a:srgbClr val="FFFFFF"/>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663440" y="3383280"/>
            <a:ext cx="2971800" cy="1188720"/>
          </a:xfrm>
          <a:prstGeom prst="rect">
            <a:avLst/>
          </a:prstGeom>
          <a:noFill/>
        </p:spPr>
        <p:txBody>
          <a:bodyPr wrap="square" lIns="0" rIns="0" tIns="0" bIns="0">
            <a:spAutoFit/>
          </a:bodyPr>
          <a:lstStyle/>
          <a:p>
            <a:pPr>
              <a:lnSpc>
                <a:spcPct val="110000"/>
              </a:lnSpc>
              <a:spcAft>
                <a:spcPts val="0"/>
              </a:spcAft>
            </a:pPr>
            <a:r>
              <a:rPr sz="1400" b="0">
                <a:solidFill>
                  <a:srgbClr val="1B2A3A"/>
                </a:solidFill>
                <a:latin typeface="Malgun Gothic"/>
                <a:ea typeface="Malgun Gothic"/>
              </a:rPr>
              <a:t>연차 질문 2종 × 2회 모두 통과</a:t>
            </a:r>
          </a:p>
          <a:p>
            <a:pPr>
              <a:lnSpc>
                <a:spcPct val="110000"/>
              </a:lnSpc>
              <a:spcAft>
                <a:spcPts val="0"/>
              </a:spcAft>
            </a:pPr>
            <a:r>
              <a:rPr sz="1400" b="0">
                <a:solidFill>
                  <a:srgbClr val="1B2A3A"/>
                </a:solidFill>
                <a:latin typeface="Malgun Gothic"/>
                <a:ea typeface="Malgun Gothic"/>
              </a:rPr>
              <a:t>분류 오차가 답변 기회를</a:t>
            </a:r>
          </a:p>
          <a:p>
            <a:pPr>
              <a:lnSpc>
                <a:spcPct val="110000"/>
              </a:lnSpc>
              <a:spcAft>
                <a:spcPts val="0"/>
              </a:spcAft>
            </a:pPr>
            <a:r>
              <a:rPr sz="1400" b="0">
                <a:solidFill>
                  <a:srgbClr val="1B2A3A"/>
                </a:solidFill>
                <a:latin typeface="Malgun Gothic"/>
                <a:ea typeface="Malgun Gothic"/>
              </a:rPr>
              <a:t>막지 않도록 역할을 재검토</a:t>
            </a:r>
          </a:p>
        </p:txBody>
      </p:sp>
      <p:sp>
        <p:nvSpPr>
          <p:cNvPr id="26" name="Rounded Rectangle 25"/>
          <p:cNvSpPr/>
          <p:nvPr/>
        </p:nvSpPr>
        <p:spPr>
          <a:xfrm>
            <a:off x="4663440" y="4892040"/>
            <a:ext cx="2103120" cy="384048"/>
          </a:xfrm>
          <a:prstGeom prst="roundRect">
            <a:avLst>
              <a:gd name="adj" fmla="val 5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300" b="1">
                <a:solidFill>
                  <a:srgbClr val="B9822A"/>
                </a:solidFill>
                <a:latin typeface="Malgun Gothic"/>
                <a:ea typeface="Malgun Gothic"/>
              </a:rPr>
              <a:t>두 번 모두 통과 30/40</a:t>
            </a:r>
          </a:p>
        </p:txBody>
      </p:sp>
      <p:cxnSp>
        <p:nvCxnSpPr>
          <p:cNvPr id="27" name="Connector 26"/>
          <p:cNvCxnSpPr/>
          <p:nvPr/>
        </p:nvCxnSpPr>
        <p:spPr>
          <a:xfrm>
            <a:off x="7845552" y="3657600"/>
            <a:ext cx="219456" cy="0"/>
          </a:xfrm>
          <a:prstGeom prst="line">
            <a:avLst/>
          </a:prstGeom>
          <a:ln w="2286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8092440" y="1783080"/>
            <a:ext cx="3429000" cy="3749039"/>
          </a:xfrm>
          <a:prstGeom prst="roundRect">
            <a:avLst>
              <a:gd name="adj" fmla="val 5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366760" y="1938528"/>
            <a:ext cx="2926080" cy="365760"/>
          </a:xfrm>
          <a:prstGeom prst="rect">
            <a:avLst/>
          </a:prstGeom>
          <a:noFill/>
        </p:spPr>
        <p:txBody>
          <a:bodyPr wrap="square" lIns="0" rIns="0" tIns="0" bIns="0">
            <a:spAutoFit/>
          </a:bodyPr>
          <a:lstStyle/>
          <a:p>
            <a:pPr>
              <a:lnSpc>
                <a:spcPct val="110000"/>
              </a:lnSpc>
              <a:spcAft>
                <a:spcPts val="400"/>
              </a:spcAft>
            </a:pPr>
            <a:r>
              <a:rPr sz="1900" b="1">
                <a:solidFill>
                  <a:srgbClr val="0A7E85"/>
                </a:solidFill>
                <a:latin typeface="Malgun Gothic"/>
                <a:ea typeface="Malgun Gothic"/>
              </a:rPr>
              <a:t>3  라벨을 참고로 전달</a:t>
            </a:r>
          </a:p>
        </p:txBody>
      </p:sp>
      <p:sp>
        <p:nvSpPr>
          <p:cNvPr id="30" name="TextBox 29"/>
          <p:cNvSpPr txBox="1"/>
          <p:nvPr/>
        </p:nvSpPr>
        <p:spPr>
          <a:xfrm>
            <a:off x="8366760" y="2423160"/>
            <a:ext cx="2926080" cy="685800"/>
          </a:xfrm>
          <a:prstGeom prst="rect">
            <a:avLst/>
          </a:prstGeom>
          <a:noFill/>
        </p:spPr>
        <p:txBody>
          <a:bodyPr wrap="square" lIns="0" rIns="0" tIns="0" bIns="0">
            <a:spAutoFit/>
          </a:bodyPr>
          <a:lstStyle/>
          <a:p>
            <a:pPr>
              <a:lnSpc>
                <a:spcPct val="108000"/>
              </a:lnSpc>
              <a:spcAft>
                <a:spcPts val="0"/>
              </a:spcAft>
            </a:pPr>
            <a:r>
              <a:rPr sz="1500" b="1">
                <a:solidFill>
                  <a:srgbClr val="1B2A3A"/>
                </a:solidFill>
                <a:latin typeface="Malgun Gothic"/>
                <a:ea typeface="Malgun Gothic"/>
              </a:rPr>
              <a:t>질문·문서와 함께 라벨 전달</a:t>
            </a:r>
          </a:p>
          <a:p>
            <a:pPr>
              <a:lnSpc>
                <a:spcPct val="108000"/>
              </a:lnSpc>
              <a:spcAft>
                <a:spcPts val="0"/>
              </a:spcAft>
            </a:pPr>
            <a:r>
              <a:rPr sz="1500" b="1">
                <a:solidFill>
                  <a:srgbClr val="1B2A3A"/>
                </a:solidFill>
                <a:latin typeface="Malgun Gothic"/>
                <a:ea typeface="Malgun Gothic"/>
              </a:rPr>
              <a:t>틀릴 수 있는 참고 정보로 사용</a:t>
            </a:r>
          </a:p>
        </p:txBody>
      </p:sp>
      <p:cxnSp>
        <p:nvCxnSpPr>
          <p:cNvPr id="31" name="Connector 30"/>
          <p:cNvCxnSpPr/>
          <p:nvPr/>
        </p:nvCxnSpPr>
        <p:spPr>
          <a:xfrm>
            <a:off x="8366760" y="3246120"/>
            <a:ext cx="2880360" cy="0"/>
          </a:xfrm>
          <a:prstGeom prst="line">
            <a:avLst/>
          </a:prstGeom>
          <a:ln w="19050">
            <a:solidFill>
              <a:srgbClr val="FFFFFF"/>
            </a:solidFill>
          </a:ln>
        </p:spPr>
        <p:style>
          <a:lnRef idx="2">
            <a:schemeClr val="accent1"/>
          </a:lnRef>
          <a:fillRef idx="0">
            <a:schemeClr val="accent1"/>
          </a:fillRef>
          <a:effectRef idx="0">
            <a:schemeClr val="accent1"/>
          </a:effectRef>
          <a:fontRef idx="minor">
            <a:schemeClr val="tx1"/>
          </a:fontRef>
        </p:style>
      </p:cxnSp>
      <p:sp>
        <p:nvSpPr>
          <p:cNvPr id="32" name="TextBox 31"/>
          <p:cNvSpPr txBox="1"/>
          <p:nvPr/>
        </p:nvSpPr>
        <p:spPr>
          <a:xfrm>
            <a:off x="8366760" y="3383280"/>
            <a:ext cx="2971800" cy="1188720"/>
          </a:xfrm>
          <a:prstGeom prst="rect">
            <a:avLst/>
          </a:prstGeom>
          <a:noFill/>
        </p:spPr>
        <p:txBody>
          <a:bodyPr wrap="square" lIns="0" rIns="0" tIns="0" bIns="0">
            <a:spAutoFit/>
          </a:bodyPr>
          <a:lstStyle/>
          <a:p>
            <a:pPr>
              <a:lnSpc>
                <a:spcPct val="110000"/>
              </a:lnSpc>
              <a:spcAft>
                <a:spcPts val="0"/>
              </a:spcAft>
            </a:pPr>
            <a:r>
              <a:rPr sz="1400" b="0">
                <a:solidFill>
                  <a:srgbClr val="1B2A3A"/>
                </a:solidFill>
                <a:latin typeface="Malgun Gothic"/>
                <a:ea typeface="Malgun Gothic"/>
              </a:rPr>
              <a:t>라벨만으로 답변을 막지 않음</a:t>
            </a:r>
          </a:p>
          <a:p>
            <a:pPr>
              <a:lnSpc>
                <a:spcPct val="110000"/>
              </a:lnSpc>
              <a:spcAft>
                <a:spcPts val="0"/>
              </a:spcAft>
            </a:pPr>
            <a:r>
              <a:rPr sz="1400" b="0">
                <a:solidFill>
                  <a:srgbClr val="1B2A3A"/>
                </a:solidFill>
                <a:latin typeface="Malgun Gothic"/>
                <a:ea typeface="Malgun Gothic"/>
              </a:rPr>
              <a:t>원질문과 문서 근거를 우선</a:t>
            </a:r>
          </a:p>
          <a:p>
            <a:pPr>
              <a:lnSpc>
                <a:spcPct val="110000"/>
              </a:lnSpc>
              <a:spcAft>
                <a:spcPts val="0"/>
              </a:spcAft>
            </a:pPr>
            <a:r>
              <a:rPr sz="1400" b="0">
                <a:solidFill>
                  <a:srgbClr val="1B2A3A"/>
                </a:solidFill>
                <a:latin typeface="Malgun Gothic"/>
                <a:ea typeface="Malgun Gothic"/>
              </a:rPr>
              <a:t>질문 의도를 이해하는 데 참고</a:t>
            </a:r>
          </a:p>
        </p:txBody>
      </p:sp>
      <p:sp>
        <p:nvSpPr>
          <p:cNvPr id="33" name="Rounded Rectangle 32"/>
          <p:cNvSpPr/>
          <p:nvPr/>
        </p:nvSpPr>
        <p:spPr>
          <a:xfrm>
            <a:off x="8366760" y="4892040"/>
            <a:ext cx="2103120" cy="384048"/>
          </a:xfrm>
          <a:prstGeom prst="roundRect">
            <a:avLst>
              <a:gd name="adj" fmla="val 5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300" b="1">
                <a:solidFill>
                  <a:srgbClr val="0A7E85"/>
                </a:solidFill>
                <a:latin typeface="Malgun Gothic"/>
                <a:ea typeface="Malgun Gothic"/>
              </a:rPr>
              <a:t>현재 선택한 방식</a:t>
            </a:r>
          </a:p>
        </p:txBody>
      </p:sp>
      <p:sp>
        <p:nvSpPr>
          <p:cNvPr id="34" name="TextBox 33"/>
          <p:cNvSpPr txBox="1"/>
          <p:nvPr/>
        </p:nvSpPr>
        <p:spPr>
          <a:xfrm>
            <a:off x="685800" y="5669280"/>
            <a:ext cx="10835640" cy="320040"/>
          </a:xfrm>
          <a:prstGeom prst="rect">
            <a:avLst/>
          </a:prstGeom>
          <a:noFill/>
        </p:spPr>
        <p:txBody>
          <a:bodyPr wrap="square" lIns="0" rIns="0" tIns="0" bIns="0">
            <a:spAutoFit/>
          </a:bodyPr>
          <a:lstStyle/>
          <a:p>
            <a:pPr>
              <a:lnSpc>
                <a:spcPct val="110000"/>
              </a:lnSpc>
              <a:spcAft>
                <a:spcPts val="400"/>
              </a:spcAft>
            </a:pPr>
            <a:r>
              <a:rPr sz="1500" b="1">
                <a:solidFill>
                  <a:srgbClr val="075E63"/>
                </a:solidFill>
                <a:latin typeface="Malgun Gothic"/>
                <a:ea typeface="Malgun Gothic"/>
              </a:rPr>
              <a:t>분류의 역할: 답변 허용 여부를 결정하는 기준 → 질문 의도를 돕는 참고 정보</a:t>
            </a:r>
          </a:p>
        </p:txBody>
      </p:sp>
      <p:sp>
        <p:nvSpPr>
          <p:cNvPr id="35" name="TextBox 34"/>
          <p:cNvSpPr txBox="1"/>
          <p:nvPr/>
        </p:nvSpPr>
        <p:spPr>
          <a:xfrm>
            <a:off x="685800" y="6080760"/>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차단 비교: 전체 문서 입력 · 40문항 × 2회 / 후속 라벨 전달 비교에서는 일관된 품질 우위가 확인되지 않음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흐름 ② 질문 분류</a:t>
            </a:r>
          </a:p>
        </p:txBody>
      </p:sp>
      <p:sp>
        <p:nvSpPr>
          <p:cNvPr id="3" name="Rounded Rectangle 2"/>
          <p:cNvSpPr/>
          <p:nvPr/>
        </p:nvSpPr>
        <p:spPr>
          <a:xfrm>
            <a:off x="5440680" y="329184"/>
            <a:ext cx="89611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문서 준비</a:t>
            </a:r>
          </a:p>
        </p:txBody>
      </p:sp>
      <p:sp>
        <p:nvSpPr>
          <p:cNvPr id="4" name="Rounded Rectangle 3"/>
          <p:cNvSpPr/>
          <p:nvPr/>
        </p:nvSpPr>
        <p:spPr>
          <a:xfrm>
            <a:off x="648309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① 접수</a:t>
            </a:r>
          </a:p>
        </p:txBody>
      </p:sp>
      <p:sp>
        <p:nvSpPr>
          <p:cNvPr id="5" name="Rounded Rectangle 4"/>
          <p:cNvSpPr/>
          <p:nvPr/>
        </p:nvSpPr>
        <p:spPr>
          <a:xfrm>
            <a:off x="7260336" y="329184"/>
            <a:ext cx="731520" cy="274320"/>
          </a:xfrm>
          <a:prstGeom prst="roundRect">
            <a:avLst>
              <a:gd name="adj" fmla="val 50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1">
                <a:solidFill>
                  <a:srgbClr val="FFFFFF"/>
                </a:solidFill>
                <a:latin typeface="Malgun Gothic"/>
                <a:ea typeface="Malgun Gothic"/>
              </a:rPr>
              <a:t>② 분류</a:t>
            </a:r>
          </a:p>
        </p:txBody>
      </p:sp>
      <p:sp>
        <p:nvSpPr>
          <p:cNvPr id="6" name="Rounded Rectangle 5"/>
          <p:cNvSpPr/>
          <p:nvPr/>
        </p:nvSpPr>
        <p:spPr>
          <a:xfrm>
            <a:off x="803757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③ 검색</a:t>
            </a:r>
          </a:p>
        </p:txBody>
      </p:sp>
      <p:sp>
        <p:nvSpPr>
          <p:cNvPr id="7" name="Rounded Rectangle 6"/>
          <p:cNvSpPr/>
          <p:nvPr/>
        </p:nvSpPr>
        <p:spPr>
          <a:xfrm>
            <a:off x="881481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④ 조립</a:t>
            </a:r>
          </a:p>
        </p:txBody>
      </p:sp>
      <p:sp>
        <p:nvSpPr>
          <p:cNvPr id="8" name="Rounded Rectangle 7"/>
          <p:cNvSpPr/>
          <p:nvPr/>
        </p:nvSpPr>
        <p:spPr>
          <a:xfrm>
            <a:off x="959205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⑤ 생성</a:t>
            </a:r>
          </a:p>
        </p:txBody>
      </p:sp>
      <p:sp>
        <p:nvSpPr>
          <p:cNvPr id="9" name="Rounded Rectangle 8"/>
          <p:cNvSpPr/>
          <p:nvPr/>
        </p:nvSpPr>
        <p:spPr>
          <a:xfrm>
            <a:off x="10369295" y="329184"/>
            <a:ext cx="107899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⑥ 응답 안내</a:t>
            </a:r>
          </a:p>
        </p:txBody>
      </p:sp>
      <p:sp>
        <p:nvSpPr>
          <p:cNvPr id="10" name="TextBox 9"/>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질문을 준비하고, 분류 모델을 비교했습니다</a:t>
            </a:r>
          </a:p>
        </p:txBody>
      </p:sp>
      <p:sp>
        <p:nvSpPr>
          <p:cNvPr id="11" name="TextBox 10"/>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회사 문서 71개는 답변 근거 · 질문 900개는 요청 유형을 학습하고 평가할 자료</a:t>
            </a:r>
          </a:p>
        </p:txBody>
      </p:sp>
      <p:sp>
        <p:nvSpPr>
          <p:cNvPr id="12" name="TextBox 11"/>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13" name="TextBox 12"/>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09</a:t>
            </a:r>
          </a:p>
        </p:txBody>
      </p:sp>
      <p:graphicFrame>
        <p:nvGraphicFramePr>
          <p:cNvPr id="14" name="Table 13"/>
          <p:cNvGraphicFramePr>
            <a:graphicFrameLocks noGrp="1"/>
          </p:cNvGraphicFramePr>
          <p:nvPr/>
        </p:nvGraphicFramePr>
        <p:xfrm>
          <a:off x="685800" y="1828800"/>
          <a:ext cx="7315200" cy="3017520"/>
        </p:xfrm>
        <a:graphic>
          <a:graphicData uri="http://schemas.openxmlformats.org/drawingml/2006/table">
            <a:tbl>
              <a:tblPr firstRow="1" bandRow="1">
                <a:tableStyleId>{5C22544A-7EE6-4342-B048-85BDC9FD1C3A}</a:tableStyleId>
              </a:tblPr>
              <a:tblGrid>
                <a:gridCol w="2743200"/>
                <a:gridCol w="1325880"/>
                <a:gridCol w="1600200"/>
                <a:gridCol w="1645920"/>
              </a:tblGrid>
              <a:tr h="502920">
                <a:tc>
                  <a:txBody>
                    <a:bodyPr/>
                    <a:lstStyle/>
                    <a:p>
                      <a:pPr>
                        <a:lnSpc>
                          <a:spcPct val="100000"/>
                        </a:lnSpc>
                      </a:pPr>
                      <a:r>
                        <a:rPr sz="1400" b="1">
                          <a:solidFill>
                            <a:srgbClr val="FFFFFF"/>
                          </a:solidFill>
                          <a:latin typeface="Malgun Gothic"/>
                          <a:ea typeface="Malgun Gothic"/>
                        </a:rPr>
                        <a:t>모델</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FFFFFF"/>
                          </a:solidFill>
                          <a:latin typeface="Malgun Gothic"/>
                          <a:ea typeface="Malgun Gothic"/>
                        </a:rPr>
                        <a:t>검증 F1</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FFFFFF"/>
                          </a:solidFill>
                          <a:latin typeface="Malgun Gothic"/>
                          <a:ea typeface="Malgun Gothic"/>
                        </a:rPr>
                        <a:t>개발 test F1</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FFFFFF"/>
                          </a:solidFill>
                          <a:latin typeface="Malgun Gothic"/>
                          <a:ea typeface="Malgun Gothic"/>
                        </a:rPr>
                        <a:t>CPU ms/질문</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nSpc>
                          <a:spcPct val="100000"/>
                        </a:lnSpc>
                      </a:pPr>
                      <a:r>
                        <a:rPr sz="1400" b="0">
                          <a:solidFill>
                            <a:srgbClr val="1B2A3A"/>
                          </a:solidFill>
                          <a:latin typeface="Malgun Gothic"/>
                          <a:ea typeface="Malgun Gothic"/>
                        </a:rPr>
                        <a:t>TF-IDF + LR</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0.9550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0.9778</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0.32</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nSpc>
                          <a:spcPct val="100000"/>
                        </a:lnSpc>
                      </a:pPr>
                      <a:r>
                        <a:rPr sz="1400" b="0">
                          <a:solidFill>
                            <a:srgbClr val="1B2A3A"/>
                          </a:solidFill>
                          <a:latin typeface="Malgun Gothic"/>
                          <a:ea typeface="Malgun Gothic"/>
                        </a:rPr>
                        <a:t>BERT base</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0.9852</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0.9851</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20.20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nSpc>
                          <a:spcPct val="100000"/>
                        </a:lnSpc>
                      </a:pPr>
                      <a:r>
                        <a:rPr sz="1400" b="0">
                          <a:solidFill>
                            <a:srgbClr val="1B2A3A"/>
                          </a:solidFill>
                          <a:latin typeface="Malgun Gothic"/>
                          <a:ea typeface="Malgun Gothic"/>
                        </a:rPr>
                        <a:t>RoBERTa base</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1.0000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0.9629</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18.60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nSpc>
                          <a:spcPct val="100000"/>
                        </a:lnSpc>
                      </a:pPr>
                      <a:r>
                        <a:rPr sz="1400" b="1">
                          <a:solidFill>
                            <a:srgbClr val="075E63"/>
                          </a:solidFill>
                          <a:latin typeface="Malgun Gothic"/>
                          <a:ea typeface="Malgun Gothic"/>
                        </a:rPr>
                        <a:t>KoELECTRA base</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075E63"/>
                          </a:solidFill>
                          <a:latin typeface="Malgun Gothic"/>
                          <a:ea typeface="Malgun Gothic"/>
                        </a:rPr>
                        <a:t>0.9851</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075E63"/>
                          </a:solidFill>
                          <a:latin typeface="Malgun Gothic"/>
                          <a:ea typeface="Malgun Gothic"/>
                        </a:rPr>
                        <a:t>0.9851</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075E63"/>
                          </a:solidFill>
                          <a:latin typeface="Malgun Gothic"/>
                          <a:ea typeface="Malgun Gothic"/>
                        </a:rPr>
                        <a:t>17.91</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nSpc>
                          <a:spcPct val="100000"/>
                        </a:lnSpc>
                      </a:pPr>
                      <a:r>
                        <a:rPr sz="1400" b="0">
                          <a:solidFill>
                            <a:srgbClr val="1B2A3A"/>
                          </a:solidFill>
                          <a:latin typeface="Malgun Gothic"/>
                          <a:ea typeface="Malgun Gothic"/>
                        </a:rPr>
                        <a:t>Jev · API 비교</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0.9693</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0.9625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15" name="Rounded Rectangle 14"/>
          <p:cNvSpPr/>
          <p:nvPr/>
        </p:nvSpPr>
        <p:spPr>
          <a:xfrm>
            <a:off x="8275320" y="1828800"/>
            <a:ext cx="3246120" cy="1124712"/>
          </a:xfrm>
          <a:prstGeom prst="roundRect">
            <a:avLst>
              <a:gd name="adj" fmla="val 8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8458200" y="1975104"/>
            <a:ext cx="320040" cy="320040"/>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100" b="1">
                <a:solidFill>
                  <a:srgbClr val="FFFFFF"/>
                </a:solidFill>
                <a:latin typeface="Malgun Gothic"/>
                <a:ea typeface="Malgun Gothic"/>
              </a:rPr>
              <a:t>1</a:t>
            </a:r>
          </a:p>
        </p:txBody>
      </p:sp>
      <p:sp>
        <p:nvSpPr>
          <p:cNvPr id="17" name="TextBox 16"/>
          <p:cNvSpPr txBox="1"/>
          <p:nvPr/>
        </p:nvSpPr>
        <p:spPr>
          <a:xfrm>
            <a:off x="8933688" y="1956816"/>
            <a:ext cx="2423160" cy="32004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질문 작성 · 라벨 검수</a:t>
            </a:r>
          </a:p>
        </p:txBody>
      </p:sp>
      <p:sp>
        <p:nvSpPr>
          <p:cNvPr id="18" name="TextBox 17"/>
          <p:cNvSpPr txBox="1"/>
          <p:nvPr/>
        </p:nvSpPr>
        <p:spPr>
          <a:xfrm>
            <a:off x="8933688" y="2350008"/>
            <a:ext cx="2423160" cy="594360"/>
          </a:xfrm>
          <a:prstGeom prst="rect">
            <a:avLst/>
          </a:prstGeom>
          <a:noFill/>
        </p:spPr>
        <p:txBody>
          <a:bodyPr wrap="square" lIns="0" rIns="0" tIns="0" bIns="0">
            <a:spAutoFit/>
          </a:bodyPr>
          <a:lstStyle/>
          <a:p>
            <a:pPr>
              <a:lnSpc>
                <a:spcPct val="110000"/>
              </a:lnSpc>
              <a:spcAft>
                <a:spcPts val="0"/>
              </a:spcAft>
            </a:pPr>
            <a:r>
              <a:rPr sz="1300" b="0">
                <a:solidFill>
                  <a:srgbClr val="1B2A3A"/>
                </a:solidFill>
                <a:latin typeface="Malgun Gothic"/>
                <a:ea typeface="Malgun Gothic"/>
              </a:rPr>
              <a:t>AI 작성·독립 검수</a:t>
            </a:r>
          </a:p>
          <a:p>
            <a:pPr>
              <a:lnSpc>
                <a:spcPct val="110000"/>
              </a:lnSpc>
              <a:spcAft>
                <a:spcPts val="0"/>
              </a:spcAft>
            </a:pPr>
            <a:r>
              <a:rPr sz="1300" b="0">
                <a:solidFill>
                  <a:srgbClr val="1B2A3A"/>
                </a:solidFill>
                <a:latin typeface="Malgun Gothic"/>
                <a:ea typeface="Malgun Gothic"/>
              </a:rPr>
              <a:t>세 유형별 300개</a:t>
            </a:r>
          </a:p>
        </p:txBody>
      </p:sp>
      <p:cxnSp>
        <p:nvCxnSpPr>
          <p:cNvPr id="19" name="Connector 18"/>
          <p:cNvCxnSpPr/>
          <p:nvPr/>
        </p:nvCxnSpPr>
        <p:spPr>
          <a:xfrm>
            <a:off x="9893808" y="2971800"/>
            <a:ext cx="0" cy="146304"/>
          </a:xfrm>
          <a:prstGeom prst="line">
            <a:avLst/>
          </a:prstGeom>
          <a:ln w="1524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8275320" y="3136391"/>
            <a:ext cx="3246120" cy="1124712"/>
          </a:xfrm>
          <a:prstGeom prst="roundRect">
            <a:avLst>
              <a:gd name="adj" fmla="val 8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8458200" y="3282696"/>
            <a:ext cx="320040" cy="320040"/>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100" b="1">
                <a:solidFill>
                  <a:srgbClr val="FFFFFF"/>
                </a:solidFill>
                <a:latin typeface="Malgun Gothic"/>
                <a:ea typeface="Malgun Gothic"/>
              </a:rPr>
              <a:t>2</a:t>
            </a:r>
          </a:p>
        </p:txBody>
      </p:sp>
      <p:sp>
        <p:nvSpPr>
          <p:cNvPr id="22" name="TextBox 21"/>
          <p:cNvSpPr txBox="1"/>
          <p:nvPr/>
        </p:nvSpPr>
        <p:spPr>
          <a:xfrm>
            <a:off x="8933688" y="3264408"/>
            <a:ext cx="2423160" cy="32004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유사 상황을 묶어 분할</a:t>
            </a:r>
          </a:p>
        </p:txBody>
      </p:sp>
      <p:sp>
        <p:nvSpPr>
          <p:cNvPr id="23" name="TextBox 22"/>
          <p:cNvSpPr txBox="1"/>
          <p:nvPr/>
        </p:nvSpPr>
        <p:spPr>
          <a:xfrm>
            <a:off x="8933688" y="3657599"/>
            <a:ext cx="2423160" cy="594360"/>
          </a:xfrm>
          <a:prstGeom prst="rect">
            <a:avLst/>
          </a:prstGeom>
          <a:noFill/>
        </p:spPr>
        <p:txBody>
          <a:bodyPr wrap="square" lIns="0" rIns="0" tIns="0" bIns="0">
            <a:spAutoFit/>
          </a:bodyPr>
          <a:lstStyle/>
          <a:p>
            <a:pPr>
              <a:lnSpc>
                <a:spcPct val="110000"/>
              </a:lnSpc>
              <a:spcAft>
                <a:spcPts val="0"/>
              </a:spcAft>
            </a:pPr>
            <a:r>
              <a:rPr sz="1300" b="0">
                <a:solidFill>
                  <a:srgbClr val="1B2A3A"/>
                </a:solidFill>
                <a:latin typeface="Malgun Gothic"/>
                <a:ea typeface="Malgun Gothic"/>
              </a:rPr>
              <a:t>비슷한 질문이 학습과</a:t>
            </a:r>
          </a:p>
          <a:p>
            <a:pPr>
              <a:lnSpc>
                <a:spcPct val="110000"/>
              </a:lnSpc>
              <a:spcAft>
                <a:spcPts val="0"/>
              </a:spcAft>
            </a:pPr>
            <a:r>
              <a:rPr sz="1300" b="0">
                <a:solidFill>
                  <a:srgbClr val="1B2A3A"/>
                </a:solidFill>
                <a:latin typeface="Malgun Gothic"/>
                <a:ea typeface="Malgun Gothic"/>
              </a:rPr>
              <a:t>평가에 섞이지 않도록</a:t>
            </a:r>
          </a:p>
        </p:txBody>
      </p:sp>
      <p:cxnSp>
        <p:nvCxnSpPr>
          <p:cNvPr id="24" name="Connector 23"/>
          <p:cNvCxnSpPr/>
          <p:nvPr/>
        </p:nvCxnSpPr>
        <p:spPr>
          <a:xfrm>
            <a:off x="9893808" y="4279392"/>
            <a:ext cx="0" cy="146304"/>
          </a:xfrm>
          <a:prstGeom prst="line">
            <a:avLst/>
          </a:prstGeom>
          <a:ln w="1524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8275320" y="4443983"/>
            <a:ext cx="3246120" cy="1124712"/>
          </a:xfrm>
          <a:prstGeom prst="roundRect">
            <a:avLst>
              <a:gd name="adj" fmla="val 8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8458200" y="4590288"/>
            <a:ext cx="320040" cy="320040"/>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100" b="1">
                <a:solidFill>
                  <a:srgbClr val="FFFFFF"/>
                </a:solidFill>
                <a:latin typeface="Malgun Gothic"/>
                <a:ea typeface="Malgun Gothic"/>
              </a:rPr>
              <a:t>3</a:t>
            </a:r>
          </a:p>
        </p:txBody>
      </p:sp>
      <p:sp>
        <p:nvSpPr>
          <p:cNvPr id="27" name="TextBox 26"/>
          <p:cNvSpPr txBox="1"/>
          <p:nvPr/>
        </p:nvSpPr>
        <p:spPr>
          <a:xfrm>
            <a:off x="8933688" y="4571999"/>
            <a:ext cx="2423160" cy="32004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같은 자료로 학습 · 비교</a:t>
            </a:r>
          </a:p>
        </p:txBody>
      </p:sp>
      <p:sp>
        <p:nvSpPr>
          <p:cNvPr id="28" name="TextBox 27"/>
          <p:cNvSpPr txBox="1"/>
          <p:nvPr/>
        </p:nvSpPr>
        <p:spPr>
          <a:xfrm>
            <a:off x="8933688" y="4965192"/>
            <a:ext cx="2423160" cy="594360"/>
          </a:xfrm>
          <a:prstGeom prst="rect">
            <a:avLst/>
          </a:prstGeom>
          <a:noFill/>
        </p:spPr>
        <p:txBody>
          <a:bodyPr wrap="square" lIns="0" rIns="0" tIns="0" bIns="0">
            <a:spAutoFit/>
          </a:bodyPr>
          <a:lstStyle/>
          <a:p>
            <a:pPr>
              <a:lnSpc>
                <a:spcPct val="110000"/>
              </a:lnSpc>
              <a:spcAft>
                <a:spcPts val="0"/>
              </a:spcAft>
            </a:pPr>
            <a:r>
              <a:rPr sz="1300" b="0">
                <a:solidFill>
                  <a:srgbClr val="1B2A3A"/>
                </a:solidFill>
                <a:latin typeface="Malgun Gothic"/>
                <a:ea typeface="Malgun Gothic"/>
              </a:rPr>
              <a:t>TF-IDF + 사전학습 5종</a:t>
            </a:r>
          </a:p>
          <a:p>
            <a:pPr>
              <a:lnSpc>
                <a:spcPct val="110000"/>
              </a:lnSpc>
              <a:spcAft>
                <a:spcPts val="0"/>
              </a:spcAft>
            </a:pPr>
            <a:r>
              <a:rPr sz="1300" b="0">
                <a:solidFill>
                  <a:srgbClr val="1B2A3A"/>
                </a:solidFill>
                <a:latin typeface="Malgun Gothic"/>
                <a:ea typeface="Malgun Gothic"/>
              </a:rPr>
              <a:t>Jev는 별도 API 비교</a:t>
            </a:r>
          </a:p>
        </p:txBody>
      </p:sp>
      <p:sp>
        <p:nvSpPr>
          <p:cNvPr id="29" name="TextBox 28"/>
          <p:cNvSpPr txBox="1"/>
          <p:nvPr/>
        </p:nvSpPr>
        <p:spPr>
          <a:xfrm>
            <a:off x="731520" y="5047488"/>
            <a:ext cx="7315200" cy="320040"/>
          </a:xfrm>
          <a:prstGeom prst="rect">
            <a:avLst/>
          </a:prstGeom>
          <a:noFill/>
        </p:spPr>
        <p:txBody>
          <a:bodyPr wrap="square" lIns="0" rIns="0" tIns="0" bIns="0">
            <a:spAutoFit/>
          </a:bodyPr>
          <a:lstStyle/>
          <a:p>
            <a:pPr>
              <a:lnSpc>
                <a:spcPct val="110000"/>
              </a:lnSpc>
              <a:spcAft>
                <a:spcPts val="400"/>
              </a:spcAft>
            </a:pPr>
            <a:r>
              <a:rPr sz="1300" b="0">
                <a:solidFill>
                  <a:srgbClr val="5B6B7C"/>
                </a:solidFill>
                <a:latin typeface="Malgun Gothic"/>
                <a:ea typeface="Malgun Gothic"/>
              </a:rPr>
              <a:t>Jev: 학습 예시 12개 사용 · 평균 HTTP 요청 194.50ms</a:t>
            </a:r>
          </a:p>
        </p:txBody>
      </p:sp>
      <p:sp>
        <p:nvSpPr>
          <p:cNvPr id="30" name="TextBox 29"/>
          <p:cNvSpPr txBox="1"/>
          <p:nvPr/>
        </p:nvSpPr>
        <p:spPr>
          <a:xfrm>
            <a:off x="731520" y="5522976"/>
            <a:ext cx="10789920" cy="365760"/>
          </a:xfrm>
          <a:prstGeom prst="rect">
            <a:avLst/>
          </a:prstGeom>
          <a:noFill/>
        </p:spPr>
        <p:txBody>
          <a:bodyPr wrap="square" lIns="0" rIns="0" tIns="0" bIns="0">
            <a:spAutoFit/>
          </a:bodyPr>
          <a:lstStyle/>
          <a:p>
            <a:pPr>
              <a:lnSpc>
                <a:spcPct val="110000"/>
              </a:lnSpc>
              <a:spcAft>
                <a:spcPts val="400"/>
              </a:spcAft>
            </a:pPr>
            <a:r>
              <a:rPr sz="1500" b="1">
                <a:solidFill>
                  <a:srgbClr val="075E63"/>
                </a:solidFill>
                <a:latin typeface="Malgun Gothic"/>
                <a:ea typeface="Malgun Gothic"/>
              </a:rPr>
              <a:t>KoELECTRA 선택  ·  개발 test 133/135 정답  ·  BERT와 같은 정답 수, 더 짧은 CPU 추론</a:t>
            </a:r>
          </a:p>
        </p:txBody>
      </p:sp>
      <p:sp>
        <p:nvSpPr>
          <p:cNvPr id="31" name="TextBox 30"/>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F1 = Macro-F1 · 학습 632 / 검증 133 / 개발 test 135 · CPU 연산과 HTTP 요청 시간은 측정 범위가 다름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흐름 ③ 근거 검색</a:t>
            </a:r>
          </a:p>
        </p:txBody>
      </p:sp>
      <p:sp>
        <p:nvSpPr>
          <p:cNvPr id="3" name="Rounded Rectangle 2"/>
          <p:cNvSpPr/>
          <p:nvPr/>
        </p:nvSpPr>
        <p:spPr>
          <a:xfrm>
            <a:off x="5440680" y="329184"/>
            <a:ext cx="89611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문서 준비</a:t>
            </a:r>
          </a:p>
        </p:txBody>
      </p:sp>
      <p:sp>
        <p:nvSpPr>
          <p:cNvPr id="4" name="Rounded Rectangle 3"/>
          <p:cNvSpPr/>
          <p:nvPr/>
        </p:nvSpPr>
        <p:spPr>
          <a:xfrm>
            <a:off x="648309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① 접수</a:t>
            </a:r>
          </a:p>
        </p:txBody>
      </p:sp>
      <p:sp>
        <p:nvSpPr>
          <p:cNvPr id="5" name="Rounded Rectangle 4"/>
          <p:cNvSpPr/>
          <p:nvPr/>
        </p:nvSpPr>
        <p:spPr>
          <a:xfrm>
            <a:off x="726033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② 분류</a:t>
            </a:r>
          </a:p>
        </p:txBody>
      </p:sp>
      <p:sp>
        <p:nvSpPr>
          <p:cNvPr id="6" name="Rounded Rectangle 5"/>
          <p:cNvSpPr/>
          <p:nvPr/>
        </p:nvSpPr>
        <p:spPr>
          <a:xfrm>
            <a:off x="8037575" y="329184"/>
            <a:ext cx="731520" cy="274320"/>
          </a:xfrm>
          <a:prstGeom prst="roundRect">
            <a:avLst>
              <a:gd name="adj" fmla="val 50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1">
                <a:solidFill>
                  <a:srgbClr val="FFFFFF"/>
                </a:solidFill>
                <a:latin typeface="Malgun Gothic"/>
                <a:ea typeface="Malgun Gothic"/>
              </a:rPr>
              <a:t>③ 검색</a:t>
            </a:r>
          </a:p>
        </p:txBody>
      </p:sp>
      <p:sp>
        <p:nvSpPr>
          <p:cNvPr id="7" name="Rounded Rectangle 6"/>
          <p:cNvSpPr/>
          <p:nvPr/>
        </p:nvSpPr>
        <p:spPr>
          <a:xfrm>
            <a:off x="881481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④ 조립</a:t>
            </a:r>
          </a:p>
        </p:txBody>
      </p:sp>
      <p:sp>
        <p:nvSpPr>
          <p:cNvPr id="8" name="Rounded Rectangle 7"/>
          <p:cNvSpPr/>
          <p:nvPr/>
        </p:nvSpPr>
        <p:spPr>
          <a:xfrm>
            <a:off x="959205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⑤ 생성</a:t>
            </a:r>
          </a:p>
        </p:txBody>
      </p:sp>
      <p:sp>
        <p:nvSpPr>
          <p:cNvPr id="9" name="Rounded Rectangle 8"/>
          <p:cNvSpPr/>
          <p:nvPr/>
        </p:nvSpPr>
        <p:spPr>
          <a:xfrm>
            <a:off x="10369295" y="329184"/>
            <a:ext cx="107899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⑥ 응답 안내</a:t>
            </a:r>
          </a:p>
        </p:txBody>
      </p:sp>
      <p:sp>
        <p:nvSpPr>
          <p:cNvPr id="10" name="TextBox 9"/>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왜 RAG를 도입했나</a:t>
            </a:r>
          </a:p>
        </p:txBody>
      </p:sp>
      <p:sp>
        <p:nvSpPr>
          <p:cNvPr id="11" name="TextBox 10"/>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RAG: 관련 문서를 검색해, 생성 모델이 답변의 근거로 사용하게 하는 방식</a:t>
            </a:r>
          </a:p>
        </p:txBody>
      </p:sp>
      <p:sp>
        <p:nvSpPr>
          <p:cNvPr id="12" name="TextBox 11"/>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13" name="TextBox 12"/>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10</a:t>
            </a:r>
          </a:p>
        </p:txBody>
      </p:sp>
      <p:sp>
        <p:nvSpPr>
          <p:cNvPr id="14" name="Rounded Rectangle 13"/>
          <p:cNvSpPr/>
          <p:nvPr/>
        </p:nvSpPr>
        <p:spPr>
          <a:xfrm>
            <a:off x="685800" y="1847088"/>
            <a:ext cx="3429000" cy="3291840"/>
          </a:xfrm>
          <a:prstGeom prst="roundRect">
            <a:avLst>
              <a:gd name="adj" fmla="val 6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960120" y="2103120"/>
            <a:ext cx="530352" cy="530352"/>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800" b="1">
                <a:solidFill>
                  <a:srgbClr val="FFFFFF"/>
                </a:solidFill>
                <a:latin typeface="Malgun Gothic"/>
                <a:ea typeface="Malgun Gothic"/>
              </a:rPr>
              <a:t>1</a:t>
            </a:r>
          </a:p>
        </p:txBody>
      </p:sp>
      <p:sp>
        <p:nvSpPr>
          <p:cNvPr id="16" name="TextBox 15"/>
          <p:cNvSpPr txBox="1"/>
          <p:nvPr/>
        </p:nvSpPr>
        <p:spPr>
          <a:xfrm>
            <a:off x="960120" y="2852928"/>
            <a:ext cx="2926080" cy="420624"/>
          </a:xfrm>
          <a:prstGeom prst="rect">
            <a:avLst/>
          </a:prstGeom>
          <a:noFill/>
        </p:spPr>
        <p:txBody>
          <a:bodyPr wrap="square" lIns="0" rIns="0" tIns="0" bIns="0">
            <a:spAutoFit/>
          </a:bodyPr>
          <a:lstStyle/>
          <a:p>
            <a:pPr>
              <a:lnSpc>
                <a:spcPct val="110000"/>
              </a:lnSpc>
              <a:spcAft>
                <a:spcPts val="400"/>
              </a:spcAft>
            </a:pPr>
            <a:r>
              <a:rPr sz="2200" b="1">
                <a:solidFill>
                  <a:srgbClr val="13263C"/>
                </a:solidFill>
                <a:latin typeface="Malgun Gothic"/>
                <a:ea typeface="Malgun Gothic"/>
              </a:rPr>
              <a:t>외부 지식 활용</a:t>
            </a:r>
          </a:p>
        </p:txBody>
      </p:sp>
      <p:sp>
        <p:nvSpPr>
          <p:cNvPr id="17" name="TextBox 16"/>
          <p:cNvSpPr txBox="1"/>
          <p:nvPr/>
        </p:nvSpPr>
        <p:spPr>
          <a:xfrm>
            <a:off x="960120" y="3529584"/>
            <a:ext cx="2907792" cy="1051560"/>
          </a:xfrm>
          <a:prstGeom prst="rect">
            <a:avLst/>
          </a:prstGeom>
          <a:noFill/>
        </p:spPr>
        <p:txBody>
          <a:bodyPr wrap="square" lIns="0" rIns="0" tIns="0" bIns="0">
            <a:spAutoFit/>
          </a:bodyPr>
          <a:lstStyle/>
          <a:p>
            <a:pPr>
              <a:lnSpc>
                <a:spcPct val="122000"/>
              </a:lnSpc>
              <a:spcAft>
                <a:spcPts val="400"/>
              </a:spcAft>
            </a:pPr>
            <a:r>
              <a:rPr sz="1600" b="0">
                <a:solidFill>
                  <a:srgbClr val="1B2A3A"/>
                </a:solidFill>
                <a:latin typeface="Malgun Gothic"/>
                <a:ea typeface="Malgun Gothic"/>
              </a:rPr>
              <a:t>모델이 학습하지 않은</a:t>
            </a:r>
          </a:p>
          <a:p>
            <a:pPr>
              <a:lnSpc>
                <a:spcPct val="122000"/>
              </a:lnSpc>
              <a:spcAft>
                <a:spcPts val="400"/>
              </a:spcAft>
            </a:pPr>
            <a:r>
              <a:rPr sz="1600" b="0">
                <a:solidFill>
                  <a:srgbClr val="1B2A3A"/>
                </a:solidFill>
                <a:latin typeface="Malgun Gothic"/>
                <a:ea typeface="Malgun Gothic"/>
              </a:rPr>
              <a:t>회사 규정과 업무 절차를</a:t>
            </a:r>
          </a:p>
          <a:p>
            <a:pPr>
              <a:lnSpc>
                <a:spcPct val="122000"/>
              </a:lnSpc>
              <a:spcAft>
                <a:spcPts val="400"/>
              </a:spcAft>
            </a:pPr>
            <a:r>
              <a:rPr sz="1600" b="0">
                <a:solidFill>
                  <a:srgbClr val="1B2A3A"/>
                </a:solidFill>
                <a:latin typeface="Malgun Gothic"/>
                <a:ea typeface="Malgun Gothic"/>
              </a:rPr>
              <a:t>답변에 활용</a:t>
            </a:r>
          </a:p>
        </p:txBody>
      </p:sp>
      <p:sp>
        <p:nvSpPr>
          <p:cNvPr id="18" name="TextBox 17"/>
          <p:cNvSpPr txBox="1"/>
          <p:nvPr/>
        </p:nvSpPr>
        <p:spPr>
          <a:xfrm>
            <a:off x="960120" y="4681728"/>
            <a:ext cx="2907792" cy="292608"/>
          </a:xfrm>
          <a:prstGeom prst="rect">
            <a:avLst/>
          </a:prstGeom>
          <a:noFill/>
        </p:spPr>
        <p:txBody>
          <a:bodyPr wrap="square" lIns="0" rIns="0" tIns="0" bIns="0">
            <a:spAutoFit/>
          </a:bodyPr>
          <a:lstStyle/>
          <a:p>
            <a:pPr>
              <a:lnSpc>
                <a:spcPct val="110000"/>
              </a:lnSpc>
              <a:spcAft>
                <a:spcPts val="400"/>
              </a:spcAft>
            </a:pPr>
            <a:r>
              <a:rPr sz="1300" b="1">
                <a:solidFill>
                  <a:srgbClr val="075E63"/>
                </a:solidFill>
                <a:latin typeface="Malgun Gothic"/>
                <a:ea typeface="Malgun Gothic"/>
              </a:rPr>
              <a:t>우리 회사의 지식</a:t>
            </a:r>
          </a:p>
        </p:txBody>
      </p:sp>
      <p:sp>
        <p:nvSpPr>
          <p:cNvPr id="19" name="Rounded Rectangle 18"/>
          <p:cNvSpPr/>
          <p:nvPr/>
        </p:nvSpPr>
        <p:spPr>
          <a:xfrm>
            <a:off x="4389120" y="1847088"/>
            <a:ext cx="3429000" cy="3291840"/>
          </a:xfrm>
          <a:prstGeom prst="roundRect">
            <a:avLst>
              <a:gd name="adj" fmla="val 6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663440" y="2103120"/>
            <a:ext cx="530352" cy="530352"/>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800" b="1">
                <a:solidFill>
                  <a:srgbClr val="FFFFFF"/>
                </a:solidFill>
                <a:latin typeface="Malgun Gothic"/>
                <a:ea typeface="Malgun Gothic"/>
              </a:rPr>
              <a:t>2</a:t>
            </a:r>
          </a:p>
        </p:txBody>
      </p:sp>
      <p:sp>
        <p:nvSpPr>
          <p:cNvPr id="21" name="TextBox 20"/>
          <p:cNvSpPr txBox="1"/>
          <p:nvPr/>
        </p:nvSpPr>
        <p:spPr>
          <a:xfrm>
            <a:off x="4663440" y="2852928"/>
            <a:ext cx="2926080" cy="420624"/>
          </a:xfrm>
          <a:prstGeom prst="rect">
            <a:avLst/>
          </a:prstGeom>
          <a:noFill/>
        </p:spPr>
        <p:txBody>
          <a:bodyPr wrap="square" lIns="0" rIns="0" tIns="0" bIns="0">
            <a:spAutoFit/>
          </a:bodyPr>
          <a:lstStyle/>
          <a:p>
            <a:pPr>
              <a:lnSpc>
                <a:spcPct val="110000"/>
              </a:lnSpc>
              <a:spcAft>
                <a:spcPts val="400"/>
              </a:spcAft>
            </a:pPr>
            <a:r>
              <a:rPr sz="2200" b="1">
                <a:solidFill>
                  <a:srgbClr val="13263C"/>
                </a:solidFill>
                <a:latin typeface="Malgun Gothic"/>
                <a:ea typeface="Malgun Gothic"/>
              </a:rPr>
              <a:t>관련 문서 선별</a:t>
            </a:r>
          </a:p>
        </p:txBody>
      </p:sp>
      <p:sp>
        <p:nvSpPr>
          <p:cNvPr id="22" name="TextBox 21"/>
          <p:cNvSpPr txBox="1"/>
          <p:nvPr/>
        </p:nvSpPr>
        <p:spPr>
          <a:xfrm>
            <a:off x="4663440" y="3529584"/>
            <a:ext cx="2907792" cy="1051560"/>
          </a:xfrm>
          <a:prstGeom prst="rect">
            <a:avLst/>
          </a:prstGeom>
          <a:noFill/>
        </p:spPr>
        <p:txBody>
          <a:bodyPr wrap="square" lIns="0" rIns="0" tIns="0" bIns="0">
            <a:spAutoFit/>
          </a:bodyPr>
          <a:lstStyle/>
          <a:p>
            <a:pPr>
              <a:lnSpc>
                <a:spcPct val="122000"/>
              </a:lnSpc>
              <a:spcAft>
                <a:spcPts val="400"/>
              </a:spcAft>
            </a:pPr>
            <a:r>
              <a:rPr sz="1600" b="0">
                <a:solidFill>
                  <a:srgbClr val="1B2A3A"/>
                </a:solidFill>
                <a:latin typeface="Malgun Gothic"/>
                <a:ea typeface="Malgun Gothic"/>
              </a:rPr>
              <a:t>질문에 필요한 문서와 조항을</a:t>
            </a:r>
          </a:p>
          <a:p>
            <a:pPr>
              <a:lnSpc>
                <a:spcPct val="122000"/>
              </a:lnSpc>
              <a:spcAft>
                <a:spcPts val="400"/>
              </a:spcAft>
            </a:pPr>
            <a:r>
              <a:rPr sz="1600" b="0">
                <a:solidFill>
                  <a:srgbClr val="1B2A3A"/>
                </a:solidFill>
                <a:latin typeface="Malgun Gothic"/>
                <a:ea typeface="Malgun Gothic"/>
              </a:rPr>
              <a:t>찾아 생성 모델에 전달</a:t>
            </a:r>
          </a:p>
        </p:txBody>
      </p:sp>
      <p:sp>
        <p:nvSpPr>
          <p:cNvPr id="23" name="TextBox 22"/>
          <p:cNvSpPr txBox="1"/>
          <p:nvPr/>
        </p:nvSpPr>
        <p:spPr>
          <a:xfrm>
            <a:off x="4663440" y="4681728"/>
            <a:ext cx="2907792" cy="292608"/>
          </a:xfrm>
          <a:prstGeom prst="rect">
            <a:avLst/>
          </a:prstGeom>
          <a:noFill/>
        </p:spPr>
        <p:txBody>
          <a:bodyPr wrap="square" lIns="0" rIns="0" tIns="0" bIns="0">
            <a:spAutoFit/>
          </a:bodyPr>
          <a:lstStyle/>
          <a:p>
            <a:pPr>
              <a:lnSpc>
                <a:spcPct val="110000"/>
              </a:lnSpc>
              <a:spcAft>
                <a:spcPts val="400"/>
              </a:spcAft>
            </a:pPr>
            <a:r>
              <a:rPr sz="1300" b="1">
                <a:solidFill>
                  <a:srgbClr val="075E63"/>
                </a:solidFill>
                <a:latin typeface="Malgun Gothic"/>
                <a:ea typeface="Malgun Gothic"/>
              </a:rPr>
              <a:t>질문에 맞는 근거</a:t>
            </a:r>
          </a:p>
        </p:txBody>
      </p:sp>
      <p:sp>
        <p:nvSpPr>
          <p:cNvPr id="24" name="Rounded Rectangle 23"/>
          <p:cNvSpPr/>
          <p:nvPr/>
        </p:nvSpPr>
        <p:spPr>
          <a:xfrm>
            <a:off x="8092440" y="1847088"/>
            <a:ext cx="3429000" cy="3291840"/>
          </a:xfrm>
          <a:prstGeom prst="roundRect">
            <a:avLst>
              <a:gd name="adj" fmla="val 6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Oval 24"/>
          <p:cNvSpPr/>
          <p:nvPr/>
        </p:nvSpPr>
        <p:spPr>
          <a:xfrm>
            <a:off x="8366760" y="2103120"/>
            <a:ext cx="530352" cy="530352"/>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800" b="1">
                <a:solidFill>
                  <a:srgbClr val="FFFFFF"/>
                </a:solidFill>
                <a:latin typeface="Malgun Gothic"/>
                <a:ea typeface="Malgun Gothic"/>
              </a:rPr>
              <a:t>3</a:t>
            </a:r>
          </a:p>
        </p:txBody>
      </p:sp>
      <p:sp>
        <p:nvSpPr>
          <p:cNvPr id="26" name="TextBox 25"/>
          <p:cNvSpPr txBox="1"/>
          <p:nvPr/>
        </p:nvSpPr>
        <p:spPr>
          <a:xfrm>
            <a:off x="8366760" y="2852928"/>
            <a:ext cx="2926080" cy="420624"/>
          </a:xfrm>
          <a:prstGeom prst="rect">
            <a:avLst/>
          </a:prstGeom>
          <a:noFill/>
        </p:spPr>
        <p:txBody>
          <a:bodyPr wrap="square" lIns="0" rIns="0" tIns="0" bIns="0">
            <a:spAutoFit/>
          </a:bodyPr>
          <a:lstStyle/>
          <a:p>
            <a:pPr>
              <a:lnSpc>
                <a:spcPct val="110000"/>
              </a:lnSpc>
              <a:spcAft>
                <a:spcPts val="400"/>
              </a:spcAft>
            </a:pPr>
            <a:r>
              <a:rPr sz="2200" b="1">
                <a:solidFill>
                  <a:srgbClr val="13263C"/>
                </a:solidFill>
                <a:latin typeface="Malgun Gothic"/>
                <a:ea typeface="Malgun Gothic"/>
              </a:rPr>
              <a:t>답변 신뢰성 개선</a:t>
            </a:r>
          </a:p>
        </p:txBody>
      </p:sp>
      <p:sp>
        <p:nvSpPr>
          <p:cNvPr id="27" name="TextBox 26"/>
          <p:cNvSpPr txBox="1"/>
          <p:nvPr/>
        </p:nvSpPr>
        <p:spPr>
          <a:xfrm>
            <a:off x="8366760" y="3529584"/>
            <a:ext cx="2907792" cy="1051560"/>
          </a:xfrm>
          <a:prstGeom prst="rect">
            <a:avLst/>
          </a:prstGeom>
          <a:noFill/>
        </p:spPr>
        <p:txBody>
          <a:bodyPr wrap="square" lIns="0" rIns="0" tIns="0" bIns="0">
            <a:spAutoFit/>
          </a:bodyPr>
          <a:lstStyle/>
          <a:p>
            <a:pPr>
              <a:lnSpc>
                <a:spcPct val="122000"/>
              </a:lnSpc>
              <a:spcAft>
                <a:spcPts val="400"/>
              </a:spcAft>
            </a:pPr>
            <a:r>
              <a:rPr sz="1600" b="0">
                <a:solidFill>
                  <a:srgbClr val="1B2A3A"/>
                </a:solidFill>
                <a:latin typeface="Malgun Gothic"/>
                <a:ea typeface="Malgun Gothic"/>
              </a:rPr>
              <a:t>검색된 근거를 기준으로 답변해</a:t>
            </a:r>
          </a:p>
          <a:p>
            <a:pPr>
              <a:lnSpc>
                <a:spcPct val="122000"/>
              </a:lnSpc>
              <a:spcAft>
                <a:spcPts val="400"/>
              </a:spcAft>
            </a:pPr>
            <a:r>
              <a:rPr sz="1600" b="0">
                <a:solidFill>
                  <a:srgbClr val="1B2A3A"/>
                </a:solidFill>
                <a:latin typeface="Malgun Gothic"/>
                <a:ea typeface="Malgun Gothic"/>
              </a:rPr>
              <a:t>사실 오류를 줄이는 것이 목표</a:t>
            </a:r>
          </a:p>
        </p:txBody>
      </p:sp>
      <p:sp>
        <p:nvSpPr>
          <p:cNvPr id="28" name="TextBox 27"/>
          <p:cNvSpPr txBox="1"/>
          <p:nvPr/>
        </p:nvSpPr>
        <p:spPr>
          <a:xfrm>
            <a:off x="8366760" y="4681728"/>
            <a:ext cx="2907792" cy="292608"/>
          </a:xfrm>
          <a:prstGeom prst="rect">
            <a:avLst/>
          </a:prstGeom>
          <a:noFill/>
        </p:spPr>
        <p:txBody>
          <a:bodyPr wrap="square" lIns="0" rIns="0" tIns="0" bIns="0">
            <a:spAutoFit/>
          </a:bodyPr>
          <a:lstStyle/>
          <a:p>
            <a:pPr>
              <a:lnSpc>
                <a:spcPct val="110000"/>
              </a:lnSpc>
              <a:spcAft>
                <a:spcPts val="400"/>
              </a:spcAft>
            </a:pPr>
            <a:r>
              <a:rPr sz="1300" b="1">
                <a:solidFill>
                  <a:srgbClr val="075E63"/>
                </a:solidFill>
                <a:latin typeface="Malgun Gothic"/>
                <a:ea typeface="Malgun Gothic"/>
              </a:rPr>
              <a:t>근거에 기반한 안내</a:t>
            </a:r>
          </a:p>
        </p:txBody>
      </p:sp>
      <p:sp>
        <p:nvSpPr>
          <p:cNvPr id="29" name="Rounded Rectangle 28"/>
          <p:cNvSpPr/>
          <p:nvPr/>
        </p:nvSpPr>
        <p:spPr>
          <a:xfrm>
            <a:off x="685800" y="5431536"/>
            <a:ext cx="10835640" cy="585216"/>
          </a:xfrm>
          <a:prstGeom prst="roundRect">
            <a:avLst>
              <a:gd name="adj" fmla="val 10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886968" y="5559552"/>
            <a:ext cx="1097280" cy="310896"/>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5B6B7C"/>
                </a:solidFill>
                <a:latin typeface="Malgun Gothic"/>
                <a:ea typeface="Malgun Gothic"/>
              </a:rPr>
              <a:t>부가 이점</a:t>
            </a:r>
          </a:p>
        </p:txBody>
      </p:sp>
      <p:sp>
        <p:nvSpPr>
          <p:cNvPr id="31" name="TextBox 30"/>
          <p:cNvSpPr txBox="1"/>
          <p:nvPr/>
        </p:nvSpPr>
        <p:spPr>
          <a:xfrm>
            <a:off x="2194560" y="5559552"/>
            <a:ext cx="8961120" cy="310896"/>
          </a:xfrm>
          <a:prstGeom prst="rect">
            <a:avLst/>
          </a:prstGeom>
          <a:noFill/>
        </p:spPr>
        <p:txBody>
          <a:bodyPr wrap="square" lIns="0" rIns="0" tIns="0" bIns="0">
            <a:spAutoFit/>
          </a:bodyPr>
          <a:lstStyle/>
          <a:p>
            <a:pPr>
              <a:lnSpc>
                <a:spcPct val="110000"/>
              </a:lnSpc>
              <a:spcAft>
                <a:spcPts val="400"/>
              </a:spcAft>
            </a:pPr>
            <a:r>
              <a:rPr sz="1400" b="0">
                <a:solidFill>
                  <a:srgbClr val="5B6B7C"/>
                </a:solidFill>
                <a:latin typeface="Malgun Gothic"/>
                <a:ea typeface="Malgun Gothic"/>
              </a:rPr>
              <a:t>토큰 비용 절약  ·  전체 문서를 매번 넣지 않아 입력 토큰과 비용 부담을 줄일 수 있음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흐름 ③ 근거 검색</a:t>
            </a:r>
          </a:p>
        </p:txBody>
      </p:sp>
      <p:sp>
        <p:nvSpPr>
          <p:cNvPr id="3" name="Rounded Rectangle 2"/>
          <p:cNvSpPr/>
          <p:nvPr/>
        </p:nvSpPr>
        <p:spPr>
          <a:xfrm>
            <a:off x="5440680" y="329184"/>
            <a:ext cx="89611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문서 준비</a:t>
            </a:r>
          </a:p>
        </p:txBody>
      </p:sp>
      <p:sp>
        <p:nvSpPr>
          <p:cNvPr id="4" name="Rounded Rectangle 3"/>
          <p:cNvSpPr/>
          <p:nvPr/>
        </p:nvSpPr>
        <p:spPr>
          <a:xfrm>
            <a:off x="648309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① 접수</a:t>
            </a:r>
          </a:p>
        </p:txBody>
      </p:sp>
      <p:sp>
        <p:nvSpPr>
          <p:cNvPr id="5" name="Rounded Rectangle 4"/>
          <p:cNvSpPr/>
          <p:nvPr/>
        </p:nvSpPr>
        <p:spPr>
          <a:xfrm>
            <a:off x="726033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② 분류</a:t>
            </a:r>
          </a:p>
        </p:txBody>
      </p:sp>
      <p:sp>
        <p:nvSpPr>
          <p:cNvPr id="6" name="Rounded Rectangle 5"/>
          <p:cNvSpPr/>
          <p:nvPr/>
        </p:nvSpPr>
        <p:spPr>
          <a:xfrm>
            <a:off x="8037575" y="329184"/>
            <a:ext cx="731520" cy="274320"/>
          </a:xfrm>
          <a:prstGeom prst="roundRect">
            <a:avLst>
              <a:gd name="adj" fmla="val 50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1">
                <a:solidFill>
                  <a:srgbClr val="FFFFFF"/>
                </a:solidFill>
                <a:latin typeface="Malgun Gothic"/>
                <a:ea typeface="Malgun Gothic"/>
              </a:rPr>
              <a:t>③ 검색</a:t>
            </a:r>
          </a:p>
        </p:txBody>
      </p:sp>
      <p:sp>
        <p:nvSpPr>
          <p:cNvPr id="7" name="Rounded Rectangle 6"/>
          <p:cNvSpPr/>
          <p:nvPr/>
        </p:nvSpPr>
        <p:spPr>
          <a:xfrm>
            <a:off x="881481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④ 조립</a:t>
            </a:r>
          </a:p>
        </p:txBody>
      </p:sp>
      <p:sp>
        <p:nvSpPr>
          <p:cNvPr id="8" name="Rounded Rectangle 7"/>
          <p:cNvSpPr/>
          <p:nvPr/>
        </p:nvSpPr>
        <p:spPr>
          <a:xfrm>
            <a:off x="959205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⑤ 생성</a:t>
            </a:r>
          </a:p>
        </p:txBody>
      </p:sp>
      <p:sp>
        <p:nvSpPr>
          <p:cNvPr id="9" name="Rounded Rectangle 8"/>
          <p:cNvSpPr/>
          <p:nvPr/>
        </p:nvSpPr>
        <p:spPr>
          <a:xfrm>
            <a:off x="10369295" y="329184"/>
            <a:ext cx="107899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⑥ 응답 안내</a:t>
            </a:r>
          </a:p>
        </p:txBody>
      </p:sp>
      <p:sp>
        <p:nvSpPr>
          <p:cNvPr id="10" name="TextBox 9"/>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전체 문서에서, 질문에 필요한 근거로</a:t>
            </a:r>
          </a:p>
        </p:txBody>
      </p:sp>
      <p:sp>
        <p:nvSpPr>
          <p:cNvPr id="11" name="TextBox 10"/>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회사 문서를 활용하는 목적은 유지하고, 생성 모델에 전달할 문맥을 검색으로 구성했습니다</a:t>
            </a:r>
          </a:p>
        </p:txBody>
      </p:sp>
      <p:sp>
        <p:nvSpPr>
          <p:cNvPr id="12" name="TextBox 11"/>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13" name="TextBox 12"/>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11</a:t>
            </a:r>
          </a:p>
        </p:txBody>
      </p:sp>
      <p:sp>
        <p:nvSpPr>
          <p:cNvPr id="14" name="Rounded Rectangle 13"/>
          <p:cNvSpPr/>
          <p:nvPr/>
        </p:nvSpPr>
        <p:spPr>
          <a:xfrm>
            <a:off x="685800" y="1810512"/>
            <a:ext cx="3246120" cy="4041648"/>
          </a:xfrm>
          <a:prstGeom prst="roundRect">
            <a:avLst>
              <a:gd name="adj" fmla="val 6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960120" y="2039112"/>
            <a:ext cx="914400" cy="320040"/>
          </a:xfrm>
          <a:prstGeom prst="roundRect">
            <a:avLst>
              <a:gd name="adj" fmla="val 5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5B6B7C"/>
                </a:solidFill>
                <a:latin typeface="Malgun Gothic"/>
                <a:ea typeface="Malgun Gothic"/>
              </a:rPr>
              <a:t>처음</a:t>
            </a:r>
          </a:p>
        </p:txBody>
      </p:sp>
      <p:sp>
        <p:nvSpPr>
          <p:cNvPr id="16" name="TextBox 15"/>
          <p:cNvSpPr txBox="1"/>
          <p:nvPr/>
        </p:nvSpPr>
        <p:spPr>
          <a:xfrm>
            <a:off x="960120" y="2670048"/>
            <a:ext cx="2697480" cy="932688"/>
          </a:xfrm>
          <a:prstGeom prst="rect">
            <a:avLst/>
          </a:prstGeom>
          <a:noFill/>
        </p:spPr>
        <p:txBody>
          <a:bodyPr wrap="square" lIns="0" rIns="0" tIns="0" bIns="0">
            <a:spAutoFit/>
          </a:bodyPr>
          <a:lstStyle/>
          <a:p>
            <a:pPr>
              <a:lnSpc>
                <a:spcPct val="116000"/>
              </a:lnSpc>
              <a:spcAft>
                <a:spcPts val="400"/>
              </a:spcAft>
            </a:pPr>
            <a:r>
              <a:rPr sz="2500" b="1">
                <a:solidFill>
                  <a:srgbClr val="13263C"/>
                </a:solidFill>
                <a:latin typeface="Malgun Gothic"/>
                <a:ea typeface="Malgun Gothic"/>
              </a:rPr>
              <a:t>문서 71개를</a:t>
            </a:r>
          </a:p>
          <a:p>
            <a:pPr>
              <a:lnSpc>
                <a:spcPct val="116000"/>
              </a:lnSpc>
              <a:spcAft>
                <a:spcPts val="400"/>
              </a:spcAft>
            </a:pPr>
            <a:r>
              <a:rPr sz="2500" b="1">
                <a:solidFill>
                  <a:srgbClr val="13263C"/>
                </a:solidFill>
                <a:latin typeface="Malgun Gothic"/>
                <a:ea typeface="Malgun Gothic"/>
              </a:rPr>
              <a:t>매번 모두 입력</a:t>
            </a:r>
          </a:p>
        </p:txBody>
      </p:sp>
      <p:sp>
        <p:nvSpPr>
          <p:cNvPr id="17" name="Rounded Rectangle 16"/>
          <p:cNvSpPr/>
          <p:nvPr/>
        </p:nvSpPr>
        <p:spPr>
          <a:xfrm>
            <a:off x="1051560" y="3913632"/>
            <a:ext cx="1389888" cy="667512"/>
          </a:xfrm>
          <a:prstGeom prst="roundRect">
            <a:avLst>
              <a:gd name="adj" fmla="val 3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1234440" y="4123944"/>
            <a:ext cx="1014984" cy="0"/>
          </a:xfrm>
          <a:prstGeom prst="line">
            <a:avLst/>
          </a:prstGeom>
          <a:ln w="19050">
            <a:solidFill>
              <a:srgbClr val="C9D6E3"/>
            </a:solidFill>
          </a:ln>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1399031" y="4023360"/>
            <a:ext cx="1389888" cy="667512"/>
          </a:xfrm>
          <a:prstGeom prst="roundRect">
            <a:avLst>
              <a:gd name="adj" fmla="val 3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a:off x="1581912" y="4233672"/>
            <a:ext cx="1014984" cy="0"/>
          </a:xfrm>
          <a:prstGeom prst="line">
            <a:avLst/>
          </a:prstGeom>
          <a:ln w="19050">
            <a:solidFill>
              <a:srgbClr val="C9D6E3"/>
            </a:solidFill>
          </a:ln>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1746504" y="4133088"/>
            <a:ext cx="1389888" cy="667512"/>
          </a:xfrm>
          <a:prstGeom prst="roundRect">
            <a:avLst>
              <a:gd name="adj" fmla="val 3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1929384" y="4343400"/>
            <a:ext cx="1014984" cy="0"/>
          </a:xfrm>
          <a:prstGeom prst="line">
            <a:avLst/>
          </a:prstGeom>
          <a:ln w="19050">
            <a:solidFill>
              <a:srgbClr val="C9D6E3"/>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960120" y="5157216"/>
            <a:ext cx="2697480" cy="502920"/>
          </a:xfrm>
          <a:prstGeom prst="rect">
            <a:avLst/>
          </a:prstGeom>
          <a:noFill/>
        </p:spPr>
        <p:txBody>
          <a:bodyPr wrap="square" lIns="0" rIns="0" tIns="0" bIns="0">
            <a:spAutoFit/>
          </a:bodyPr>
          <a:lstStyle/>
          <a:p>
            <a:pPr>
              <a:lnSpc>
                <a:spcPct val="110000"/>
              </a:lnSpc>
              <a:spcAft>
                <a:spcPts val="400"/>
              </a:spcAft>
            </a:pPr>
            <a:r>
              <a:rPr sz="1600" b="1">
                <a:solidFill>
                  <a:srgbClr val="5B6B7C"/>
                </a:solidFill>
                <a:latin typeface="Malgun Gothic"/>
                <a:ea typeface="Malgun Gothic"/>
              </a:rPr>
              <a:t>긴 입력의 처리 부담</a:t>
            </a:r>
          </a:p>
        </p:txBody>
      </p:sp>
      <p:cxnSp>
        <p:nvCxnSpPr>
          <p:cNvPr id="24" name="Connector 23"/>
          <p:cNvCxnSpPr/>
          <p:nvPr/>
        </p:nvCxnSpPr>
        <p:spPr>
          <a:xfrm>
            <a:off x="4078224" y="3794760"/>
            <a:ext cx="512064" cy="0"/>
          </a:xfrm>
          <a:prstGeom prst="line">
            <a:avLst/>
          </a:prstGeom>
          <a:ln w="27940">
            <a:solidFill>
              <a:srgbClr val="0A7E85"/>
            </a:solidFill>
            <a:tailEnd type="triangle"/>
          </a:ln>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4754880" y="1810512"/>
            <a:ext cx="6766560" cy="685800"/>
          </a:xfrm>
          <a:prstGeom prst="roundRect">
            <a:avLst>
              <a:gd name="adj" fmla="val 6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10912" y="1993392"/>
            <a:ext cx="6263640" cy="329184"/>
          </a:xfrm>
          <a:prstGeom prst="rect">
            <a:avLst/>
          </a:prstGeom>
          <a:noFill/>
        </p:spPr>
        <p:txBody>
          <a:bodyPr wrap="square" lIns="0" rIns="0" tIns="0" bIns="0">
            <a:spAutoFit/>
          </a:bodyPr>
          <a:lstStyle/>
          <a:p>
            <a:pPr>
              <a:lnSpc>
                <a:spcPct val="110000"/>
              </a:lnSpc>
              <a:spcAft>
                <a:spcPts val="400"/>
              </a:spcAft>
            </a:pPr>
            <a:r>
              <a:rPr sz="2000" b="1">
                <a:solidFill>
                  <a:srgbClr val="075E63"/>
                </a:solidFill>
                <a:latin typeface="Malgun Gothic"/>
                <a:ea typeface="Malgun Gothic"/>
              </a:rPr>
              <a:t>지금  ·  질문과 관련된 근거를 찾아 전달</a:t>
            </a:r>
          </a:p>
        </p:txBody>
      </p:sp>
      <p:sp>
        <p:nvSpPr>
          <p:cNvPr id="27" name="Oval 26"/>
          <p:cNvSpPr/>
          <p:nvPr/>
        </p:nvSpPr>
        <p:spPr>
          <a:xfrm>
            <a:off x="4901184" y="2816352"/>
            <a:ext cx="393192" cy="393192"/>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300" b="1">
                <a:solidFill>
                  <a:srgbClr val="FFFFFF"/>
                </a:solidFill>
                <a:latin typeface="Malgun Gothic"/>
                <a:ea typeface="Malgun Gothic"/>
              </a:rPr>
              <a:t>1</a:t>
            </a:r>
          </a:p>
        </p:txBody>
      </p:sp>
      <p:sp>
        <p:nvSpPr>
          <p:cNvPr id="28" name="TextBox 27"/>
          <p:cNvSpPr txBox="1"/>
          <p:nvPr/>
        </p:nvSpPr>
        <p:spPr>
          <a:xfrm>
            <a:off x="5513832" y="2734056"/>
            <a:ext cx="5394960" cy="274320"/>
          </a:xfrm>
          <a:prstGeom prst="rect">
            <a:avLst/>
          </a:prstGeom>
          <a:noFill/>
        </p:spPr>
        <p:txBody>
          <a:bodyPr wrap="square" lIns="0" rIns="0" tIns="0" bIns="0">
            <a:spAutoFit/>
          </a:bodyPr>
          <a:lstStyle/>
          <a:p>
            <a:pPr>
              <a:lnSpc>
                <a:spcPct val="110000"/>
              </a:lnSpc>
              <a:spcAft>
                <a:spcPts val="400"/>
              </a:spcAft>
            </a:pPr>
            <a:r>
              <a:rPr sz="1600" b="1">
                <a:solidFill>
                  <a:srgbClr val="13263C"/>
                </a:solidFill>
                <a:latin typeface="Malgun Gothic"/>
                <a:ea typeface="Malgun Gothic"/>
              </a:rPr>
              <a:t>질문 임베딩</a:t>
            </a:r>
          </a:p>
        </p:txBody>
      </p:sp>
      <p:sp>
        <p:nvSpPr>
          <p:cNvPr id="29" name="TextBox 28"/>
          <p:cNvSpPr txBox="1"/>
          <p:nvPr/>
        </p:nvSpPr>
        <p:spPr>
          <a:xfrm>
            <a:off x="5513832" y="3081528"/>
            <a:ext cx="5440680" cy="283464"/>
          </a:xfrm>
          <a:prstGeom prst="rect">
            <a:avLst/>
          </a:prstGeom>
          <a:noFill/>
        </p:spPr>
        <p:txBody>
          <a:bodyPr wrap="square" lIns="0" rIns="0" tIns="0" bIns="0">
            <a:spAutoFit/>
          </a:bodyPr>
          <a:lstStyle/>
          <a:p>
            <a:pPr>
              <a:lnSpc>
                <a:spcPct val="110000"/>
              </a:lnSpc>
              <a:spcAft>
                <a:spcPts val="400"/>
              </a:spcAft>
            </a:pPr>
            <a:r>
              <a:rPr sz="1400" b="0">
                <a:solidFill>
                  <a:srgbClr val="5B6B7C"/>
                </a:solidFill>
                <a:latin typeface="Malgun Gothic"/>
                <a:ea typeface="Malgun Gothic"/>
              </a:rPr>
              <a:t>질문을 의미를 담은 벡터로 변환</a:t>
            </a:r>
          </a:p>
        </p:txBody>
      </p:sp>
      <p:cxnSp>
        <p:nvCxnSpPr>
          <p:cNvPr id="30" name="Connector 29"/>
          <p:cNvCxnSpPr/>
          <p:nvPr/>
        </p:nvCxnSpPr>
        <p:spPr>
          <a:xfrm>
            <a:off x="5102352" y="3227832"/>
            <a:ext cx="0" cy="274320"/>
          </a:xfrm>
          <a:prstGeom prst="line">
            <a:avLst/>
          </a:prstGeom>
          <a:ln w="16510">
            <a:solidFill>
              <a:srgbClr val="C9D6E3"/>
            </a:solidFill>
            <a:tailEnd type="triangle"/>
          </a:ln>
        </p:spPr>
        <p:style>
          <a:lnRef idx="2">
            <a:schemeClr val="accent1"/>
          </a:lnRef>
          <a:fillRef idx="0">
            <a:schemeClr val="accent1"/>
          </a:fillRef>
          <a:effectRef idx="0">
            <a:schemeClr val="accent1"/>
          </a:effectRef>
          <a:fontRef idx="minor">
            <a:schemeClr val="tx1"/>
          </a:fontRef>
        </p:style>
      </p:cxnSp>
      <p:sp>
        <p:nvSpPr>
          <p:cNvPr id="31" name="Oval 30"/>
          <p:cNvSpPr/>
          <p:nvPr/>
        </p:nvSpPr>
        <p:spPr>
          <a:xfrm>
            <a:off x="4901184" y="3611880"/>
            <a:ext cx="393192" cy="393192"/>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300" b="1">
                <a:solidFill>
                  <a:srgbClr val="FFFFFF"/>
                </a:solidFill>
                <a:latin typeface="Malgun Gothic"/>
                <a:ea typeface="Malgun Gothic"/>
              </a:rPr>
              <a:t>2</a:t>
            </a:r>
          </a:p>
        </p:txBody>
      </p:sp>
      <p:sp>
        <p:nvSpPr>
          <p:cNvPr id="32" name="TextBox 31"/>
          <p:cNvSpPr txBox="1"/>
          <p:nvPr/>
        </p:nvSpPr>
        <p:spPr>
          <a:xfrm>
            <a:off x="5513832" y="3529584"/>
            <a:ext cx="5394960" cy="274320"/>
          </a:xfrm>
          <a:prstGeom prst="rect">
            <a:avLst/>
          </a:prstGeom>
          <a:noFill/>
        </p:spPr>
        <p:txBody>
          <a:bodyPr wrap="square" lIns="0" rIns="0" tIns="0" bIns="0">
            <a:spAutoFit/>
          </a:bodyPr>
          <a:lstStyle/>
          <a:p>
            <a:pPr>
              <a:lnSpc>
                <a:spcPct val="110000"/>
              </a:lnSpc>
              <a:spcAft>
                <a:spcPts val="400"/>
              </a:spcAft>
            </a:pPr>
            <a:r>
              <a:rPr sz="1600" b="1">
                <a:solidFill>
                  <a:srgbClr val="13263C"/>
                </a:solidFill>
                <a:latin typeface="Malgun Gothic"/>
                <a:ea typeface="Malgun Gothic"/>
              </a:rPr>
              <a:t>관련 구간 검색</a:t>
            </a:r>
          </a:p>
        </p:txBody>
      </p:sp>
      <p:sp>
        <p:nvSpPr>
          <p:cNvPr id="33" name="TextBox 32"/>
          <p:cNvSpPr txBox="1"/>
          <p:nvPr/>
        </p:nvSpPr>
        <p:spPr>
          <a:xfrm>
            <a:off x="5513832" y="3877056"/>
            <a:ext cx="5440680" cy="283464"/>
          </a:xfrm>
          <a:prstGeom prst="rect">
            <a:avLst/>
          </a:prstGeom>
          <a:noFill/>
        </p:spPr>
        <p:txBody>
          <a:bodyPr wrap="square" lIns="0" rIns="0" tIns="0" bIns="0">
            <a:spAutoFit/>
          </a:bodyPr>
          <a:lstStyle/>
          <a:p>
            <a:pPr>
              <a:lnSpc>
                <a:spcPct val="110000"/>
              </a:lnSpc>
              <a:spcAft>
                <a:spcPts val="400"/>
              </a:spcAft>
            </a:pPr>
            <a:r>
              <a:rPr sz="1400" b="0">
                <a:solidFill>
                  <a:srgbClr val="5B6B7C"/>
                </a:solidFill>
                <a:latin typeface="Malgun Gothic"/>
                <a:ea typeface="Malgun Gothic"/>
              </a:rPr>
              <a:t>KURE로 유사도 비교 · 상위 20구간 선택</a:t>
            </a:r>
          </a:p>
        </p:txBody>
      </p:sp>
      <p:cxnSp>
        <p:nvCxnSpPr>
          <p:cNvPr id="34" name="Connector 33"/>
          <p:cNvCxnSpPr/>
          <p:nvPr/>
        </p:nvCxnSpPr>
        <p:spPr>
          <a:xfrm>
            <a:off x="5102352" y="4023360"/>
            <a:ext cx="0" cy="274320"/>
          </a:xfrm>
          <a:prstGeom prst="line">
            <a:avLst/>
          </a:prstGeom>
          <a:ln w="16510">
            <a:solidFill>
              <a:srgbClr val="C9D6E3"/>
            </a:solidFill>
            <a:tailEnd type="triangle"/>
          </a:ln>
        </p:spPr>
        <p:style>
          <a:lnRef idx="2">
            <a:schemeClr val="accent1"/>
          </a:lnRef>
          <a:fillRef idx="0">
            <a:schemeClr val="accent1"/>
          </a:fillRef>
          <a:effectRef idx="0">
            <a:schemeClr val="accent1"/>
          </a:effectRef>
          <a:fontRef idx="minor">
            <a:schemeClr val="tx1"/>
          </a:fontRef>
        </p:style>
      </p:cxnSp>
      <p:sp>
        <p:nvSpPr>
          <p:cNvPr id="35" name="Oval 34"/>
          <p:cNvSpPr/>
          <p:nvPr/>
        </p:nvSpPr>
        <p:spPr>
          <a:xfrm>
            <a:off x="4901184" y="4407407"/>
            <a:ext cx="393192" cy="393192"/>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300" b="1">
                <a:solidFill>
                  <a:srgbClr val="FFFFFF"/>
                </a:solidFill>
                <a:latin typeface="Malgun Gothic"/>
                <a:ea typeface="Malgun Gothic"/>
              </a:rPr>
              <a:t>3</a:t>
            </a:r>
          </a:p>
        </p:txBody>
      </p:sp>
      <p:sp>
        <p:nvSpPr>
          <p:cNvPr id="36" name="TextBox 35"/>
          <p:cNvSpPr txBox="1"/>
          <p:nvPr/>
        </p:nvSpPr>
        <p:spPr>
          <a:xfrm>
            <a:off x="5513832" y="4325112"/>
            <a:ext cx="5394960" cy="274320"/>
          </a:xfrm>
          <a:prstGeom prst="rect">
            <a:avLst/>
          </a:prstGeom>
          <a:noFill/>
        </p:spPr>
        <p:txBody>
          <a:bodyPr wrap="square" lIns="0" rIns="0" tIns="0" bIns="0">
            <a:spAutoFit/>
          </a:bodyPr>
          <a:lstStyle/>
          <a:p>
            <a:pPr>
              <a:lnSpc>
                <a:spcPct val="110000"/>
              </a:lnSpc>
              <a:spcAft>
                <a:spcPts val="400"/>
              </a:spcAft>
            </a:pPr>
            <a:r>
              <a:rPr sz="1600" b="1">
                <a:solidFill>
                  <a:srgbClr val="13263C"/>
                </a:solidFill>
                <a:latin typeface="Malgun Gothic"/>
                <a:ea typeface="Malgun Gothic"/>
              </a:rPr>
              <a:t>원문 문맥 구성</a:t>
            </a:r>
          </a:p>
        </p:txBody>
      </p:sp>
      <p:sp>
        <p:nvSpPr>
          <p:cNvPr id="37" name="TextBox 36"/>
          <p:cNvSpPr txBox="1"/>
          <p:nvPr/>
        </p:nvSpPr>
        <p:spPr>
          <a:xfrm>
            <a:off x="5513832" y="4672583"/>
            <a:ext cx="5440680" cy="283464"/>
          </a:xfrm>
          <a:prstGeom prst="rect">
            <a:avLst/>
          </a:prstGeom>
          <a:noFill/>
        </p:spPr>
        <p:txBody>
          <a:bodyPr wrap="square" lIns="0" rIns="0" tIns="0" bIns="0">
            <a:spAutoFit/>
          </a:bodyPr>
          <a:lstStyle/>
          <a:p>
            <a:pPr>
              <a:lnSpc>
                <a:spcPct val="110000"/>
              </a:lnSpc>
              <a:spcAft>
                <a:spcPts val="400"/>
              </a:spcAft>
            </a:pPr>
            <a:r>
              <a:rPr sz="1400" b="0">
                <a:solidFill>
                  <a:srgbClr val="5B6B7C"/>
                </a:solidFill>
                <a:latin typeface="Malgun Gothic"/>
                <a:ea typeface="Malgun Gothic"/>
              </a:rPr>
              <a:t>겹친 구간을 합치고 필요한 주변 절 보충</a:t>
            </a:r>
          </a:p>
        </p:txBody>
      </p:sp>
      <p:cxnSp>
        <p:nvCxnSpPr>
          <p:cNvPr id="38" name="Connector 37"/>
          <p:cNvCxnSpPr/>
          <p:nvPr/>
        </p:nvCxnSpPr>
        <p:spPr>
          <a:xfrm>
            <a:off x="5102352" y="4818888"/>
            <a:ext cx="0" cy="274319"/>
          </a:xfrm>
          <a:prstGeom prst="line">
            <a:avLst/>
          </a:prstGeom>
          <a:ln w="16510">
            <a:solidFill>
              <a:srgbClr val="C9D6E3"/>
            </a:solidFill>
            <a:tailEnd type="triangle"/>
          </a:ln>
        </p:spPr>
        <p:style>
          <a:lnRef idx="2">
            <a:schemeClr val="accent1"/>
          </a:lnRef>
          <a:fillRef idx="0">
            <a:schemeClr val="accent1"/>
          </a:fillRef>
          <a:effectRef idx="0">
            <a:schemeClr val="accent1"/>
          </a:effectRef>
          <a:fontRef idx="minor">
            <a:schemeClr val="tx1"/>
          </a:fontRef>
        </p:style>
      </p:cxnSp>
      <p:sp>
        <p:nvSpPr>
          <p:cNvPr id="39" name="Oval 38"/>
          <p:cNvSpPr/>
          <p:nvPr/>
        </p:nvSpPr>
        <p:spPr>
          <a:xfrm>
            <a:off x="4901184" y="5202936"/>
            <a:ext cx="393192" cy="393192"/>
          </a:xfrm>
          <a:prstGeom prst="ellipse">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18288" bIns="18288"/>
          <a:lstStyle/>
          <a:p>
            <a:pPr algn="ctr">
              <a:lnSpc>
                <a:spcPct val="105000"/>
              </a:lnSpc>
            </a:pPr>
            <a:r>
              <a:rPr sz="1300" b="1">
                <a:solidFill>
                  <a:srgbClr val="FFFFFF"/>
                </a:solidFill>
                <a:latin typeface="Malgun Gothic"/>
                <a:ea typeface="Malgun Gothic"/>
              </a:rPr>
              <a:t>4</a:t>
            </a:r>
          </a:p>
        </p:txBody>
      </p:sp>
      <p:sp>
        <p:nvSpPr>
          <p:cNvPr id="40" name="TextBox 39"/>
          <p:cNvSpPr txBox="1"/>
          <p:nvPr/>
        </p:nvSpPr>
        <p:spPr>
          <a:xfrm>
            <a:off x="5513832" y="5120640"/>
            <a:ext cx="5394960" cy="274320"/>
          </a:xfrm>
          <a:prstGeom prst="rect">
            <a:avLst/>
          </a:prstGeom>
          <a:noFill/>
        </p:spPr>
        <p:txBody>
          <a:bodyPr wrap="square" lIns="0" rIns="0" tIns="0" bIns="0">
            <a:spAutoFit/>
          </a:bodyPr>
          <a:lstStyle/>
          <a:p>
            <a:pPr>
              <a:lnSpc>
                <a:spcPct val="110000"/>
              </a:lnSpc>
              <a:spcAft>
                <a:spcPts val="400"/>
              </a:spcAft>
            </a:pPr>
            <a:r>
              <a:rPr sz="1600" b="1">
                <a:solidFill>
                  <a:srgbClr val="13263C"/>
                </a:solidFill>
                <a:latin typeface="Malgun Gothic"/>
                <a:ea typeface="Malgun Gothic"/>
              </a:rPr>
              <a:t>생성에 전달</a:t>
            </a:r>
          </a:p>
        </p:txBody>
      </p:sp>
      <p:sp>
        <p:nvSpPr>
          <p:cNvPr id="41" name="TextBox 40"/>
          <p:cNvSpPr txBox="1"/>
          <p:nvPr/>
        </p:nvSpPr>
        <p:spPr>
          <a:xfrm>
            <a:off x="5513832" y="5468112"/>
            <a:ext cx="5440680" cy="283464"/>
          </a:xfrm>
          <a:prstGeom prst="rect">
            <a:avLst/>
          </a:prstGeom>
          <a:noFill/>
        </p:spPr>
        <p:txBody>
          <a:bodyPr wrap="square" lIns="0" rIns="0" tIns="0" bIns="0">
            <a:spAutoFit/>
          </a:bodyPr>
          <a:lstStyle/>
          <a:p>
            <a:pPr>
              <a:lnSpc>
                <a:spcPct val="110000"/>
              </a:lnSpc>
              <a:spcAft>
                <a:spcPts val="400"/>
              </a:spcAft>
            </a:pPr>
            <a:r>
              <a:rPr sz="1400" b="0">
                <a:solidFill>
                  <a:srgbClr val="5B6B7C"/>
                </a:solidFill>
                <a:latin typeface="Malgun Gothic"/>
                <a:ea typeface="Malgun Gothic"/>
              </a:rPr>
              <a:t>원질문과 문서 근거를 함께 전달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흐름 ③ 근거 검색</a:t>
            </a:r>
          </a:p>
        </p:txBody>
      </p:sp>
      <p:sp>
        <p:nvSpPr>
          <p:cNvPr id="3" name="Rounded Rectangle 2"/>
          <p:cNvSpPr/>
          <p:nvPr/>
        </p:nvSpPr>
        <p:spPr>
          <a:xfrm>
            <a:off x="5440680" y="329184"/>
            <a:ext cx="89611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문서 준비</a:t>
            </a:r>
          </a:p>
        </p:txBody>
      </p:sp>
      <p:sp>
        <p:nvSpPr>
          <p:cNvPr id="4" name="Rounded Rectangle 3"/>
          <p:cNvSpPr/>
          <p:nvPr/>
        </p:nvSpPr>
        <p:spPr>
          <a:xfrm>
            <a:off x="648309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① 접수</a:t>
            </a:r>
          </a:p>
        </p:txBody>
      </p:sp>
      <p:sp>
        <p:nvSpPr>
          <p:cNvPr id="5" name="Rounded Rectangle 4"/>
          <p:cNvSpPr/>
          <p:nvPr/>
        </p:nvSpPr>
        <p:spPr>
          <a:xfrm>
            <a:off x="726033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② 분류</a:t>
            </a:r>
          </a:p>
        </p:txBody>
      </p:sp>
      <p:sp>
        <p:nvSpPr>
          <p:cNvPr id="6" name="Rounded Rectangle 5"/>
          <p:cNvSpPr/>
          <p:nvPr/>
        </p:nvSpPr>
        <p:spPr>
          <a:xfrm>
            <a:off x="8037575" y="329184"/>
            <a:ext cx="731520" cy="274320"/>
          </a:xfrm>
          <a:prstGeom prst="roundRect">
            <a:avLst>
              <a:gd name="adj" fmla="val 50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1">
                <a:solidFill>
                  <a:srgbClr val="FFFFFF"/>
                </a:solidFill>
                <a:latin typeface="Malgun Gothic"/>
                <a:ea typeface="Malgun Gothic"/>
              </a:rPr>
              <a:t>③ 검색</a:t>
            </a:r>
          </a:p>
        </p:txBody>
      </p:sp>
      <p:sp>
        <p:nvSpPr>
          <p:cNvPr id="7" name="Rounded Rectangle 6"/>
          <p:cNvSpPr/>
          <p:nvPr/>
        </p:nvSpPr>
        <p:spPr>
          <a:xfrm>
            <a:off x="881481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④ 조립</a:t>
            </a:r>
          </a:p>
        </p:txBody>
      </p:sp>
      <p:sp>
        <p:nvSpPr>
          <p:cNvPr id="8" name="Rounded Rectangle 7"/>
          <p:cNvSpPr/>
          <p:nvPr/>
        </p:nvSpPr>
        <p:spPr>
          <a:xfrm>
            <a:off x="959205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⑤ 생성</a:t>
            </a:r>
          </a:p>
        </p:txBody>
      </p:sp>
      <p:sp>
        <p:nvSpPr>
          <p:cNvPr id="9" name="Rounded Rectangle 8"/>
          <p:cNvSpPr/>
          <p:nvPr/>
        </p:nvSpPr>
        <p:spPr>
          <a:xfrm>
            <a:off x="10369295" y="329184"/>
            <a:ext cx="107899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⑥ 응답 안내</a:t>
            </a:r>
          </a:p>
        </p:txBody>
      </p:sp>
      <p:sp>
        <p:nvSpPr>
          <p:cNvPr id="10" name="TextBox 9"/>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필요한 근거를 유지하며, 전달량을 줄였습니다</a:t>
            </a:r>
          </a:p>
        </p:txBody>
      </p:sp>
      <p:sp>
        <p:nvSpPr>
          <p:cNvPr id="11" name="TextBox 10"/>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Tiny C와 KURE 검색 구성 비교 · 신규 확인 40문항</a:t>
            </a:r>
          </a:p>
        </p:txBody>
      </p:sp>
      <p:sp>
        <p:nvSpPr>
          <p:cNvPr id="12" name="TextBox 11"/>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13" name="TextBox 12"/>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12</a:t>
            </a:r>
          </a:p>
        </p:txBody>
      </p:sp>
      <p:sp>
        <p:nvSpPr>
          <p:cNvPr id="14" name="Rounded Rectangle 13"/>
          <p:cNvSpPr/>
          <p:nvPr/>
        </p:nvSpPr>
        <p:spPr>
          <a:xfrm>
            <a:off x="685800" y="1828800"/>
            <a:ext cx="3749039" cy="2743200"/>
          </a:xfrm>
          <a:prstGeom prst="roundRect">
            <a:avLst>
              <a:gd name="adj" fmla="val 5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60120" y="2039112"/>
            <a:ext cx="3200400" cy="365760"/>
          </a:xfrm>
          <a:prstGeom prst="rect">
            <a:avLst/>
          </a:prstGeom>
          <a:noFill/>
        </p:spPr>
        <p:txBody>
          <a:bodyPr wrap="square" lIns="0" rIns="0" tIns="0" bIns="0">
            <a:spAutoFit/>
          </a:bodyPr>
          <a:lstStyle/>
          <a:p>
            <a:pPr>
              <a:lnSpc>
                <a:spcPct val="110000"/>
              </a:lnSpc>
              <a:spcAft>
                <a:spcPts val="400"/>
              </a:spcAft>
            </a:pPr>
            <a:r>
              <a:rPr sz="1900" b="1">
                <a:solidFill>
                  <a:srgbClr val="FFFFFF"/>
                </a:solidFill>
                <a:latin typeface="Malgun Gothic"/>
                <a:ea typeface="Malgun Gothic"/>
              </a:rPr>
              <a:t>필수 근거 완전 포함</a:t>
            </a:r>
          </a:p>
        </p:txBody>
      </p:sp>
      <p:sp>
        <p:nvSpPr>
          <p:cNvPr id="16" name="TextBox 15"/>
          <p:cNvSpPr txBox="1"/>
          <p:nvPr/>
        </p:nvSpPr>
        <p:spPr>
          <a:xfrm>
            <a:off x="960120" y="2697480"/>
            <a:ext cx="3200400" cy="822960"/>
          </a:xfrm>
          <a:prstGeom prst="rect">
            <a:avLst/>
          </a:prstGeom>
          <a:noFill/>
        </p:spPr>
        <p:txBody>
          <a:bodyPr wrap="square" lIns="0" rIns="0" tIns="0" bIns="0">
            <a:spAutoFit/>
          </a:bodyPr>
          <a:lstStyle/>
          <a:p>
            <a:pPr>
              <a:lnSpc>
                <a:spcPct val="110000"/>
              </a:lnSpc>
              <a:spcAft>
                <a:spcPts val="400"/>
              </a:spcAft>
            </a:pPr>
            <a:r>
              <a:rPr sz="4300" b="1">
                <a:solidFill>
                  <a:srgbClr val="FFFFFF"/>
                </a:solidFill>
                <a:latin typeface="Malgun Gothic"/>
                <a:ea typeface="Malgun Gothic"/>
              </a:rPr>
              <a:t>25 / 25</a:t>
            </a:r>
          </a:p>
        </p:txBody>
      </p:sp>
      <p:sp>
        <p:nvSpPr>
          <p:cNvPr id="17" name="TextBox 16"/>
          <p:cNvSpPr txBox="1"/>
          <p:nvPr/>
        </p:nvSpPr>
        <p:spPr>
          <a:xfrm>
            <a:off x="960120" y="3840480"/>
            <a:ext cx="3200400" cy="457200"/>
          </a:xfrm>
          <a:prstGeom prst="rect">
            <a:avLst/>
          </a:prstGeom>
          <a:noFill/>
        </p:spPr>
        <p:txBody>
          <a:bodyPr wrap="square" lIns="0" rIns="0" tIns="0" bIns="0">
            <a:spAutoFit/>
          </a:bodyPr>
          <a:lstStyle/>
          <a:p>
            <a:pPr>
              <a:lnSpc>
                <a:spcPct val="110000"/>
              </a:lnSpc>
              <a:spcAft>
                <a:spcPts val="400"/>
              </a:spcAft>
            </a:pPr>
            <a:r>
              <a:rPr sz="1600" b="0">
                <a:solidFill>
                  <a:srgbClr val="B9E1DD"/>
                </a:solidFill>
                <a:latin typeface="Malgun Gothic"/>
                <a:ea typeface="Malgun Gothic"/>
              </a:rPr>
              <a:t>Tiny C와 KURE 모두 유지</a:t>
            </a:r>
          </a:p>
        </p:txBody>
      </p:sp>
      <p:sp>
        <p:nvSpPr>
          <p:cNvPr id="18" name="TextBox 17"/>
          <p:cNvSpPr txBox="1"/>
          <p:nvPr/>
        </p:nvSpPr>
        <p:spPr>
          <a:xfrm>
            <a:off x="4846320" y="1874519"/>
            <a:ext cx="6309360" cy="320040"/>
          </a:xfrm>
          <a:prstGeom prst="rect">
            <a:avLst/>
          </a:prstGeom>
          <a:noFill/>
        </p:spPr>
        <p:txBody>
          <a:bodyPr wrap="square" lIns="0" rIns="0" tIns="0" bIns="0">
            <a:spAutoFit/>
          </a:bodyPr>
          <a:lstStyle/>
          <a:p>
            <a:pPr>
              <a:lnSpc>
                <a:spcPct val="110000"/>
              </a:lnSpc>
              <a:spcAft>
                <a:spcPts val="400"/>
              </a:spcAft>
            </a:pPr>
            <a:r>
              <a:rPr sz="1700" b="1">
                <a:solidFill>
                  <a:srgbClr val="13263C"/>
                </a:solidFill>
                <a:latin typeface="Malgun Gothic"/>
                <a:ea typeface="Malgun Gothic"/>
              </a:rPr>
              <a:t>문항당 평균 전달 문자</a:t>
            </a:r>
          </a:p>
        </p:txBody>
      </p:sp>
      <p:graphicFrame>
        <p:nvGraphicFramePr>
          <p:cNvPr id="19" name="Chart 18"/>
          <p:cNvGraphicFramePr>
            <a:graphicFrameLocks noGrp="1"/>
          </p:cNvGraphicFramePr>
          <p:nvPr/>
        </p:nvGraphicFramePr>
        <p:xfrm>
          <a:off x="4636008" y="2258568"/>
          <a:ext cx="6812280" cy="1764792"/>
        </p:xfrm>
        <a:graphic>
          <a:graphicData uri="http://schemas.openxmlformats.org/drawingml/2006/chart">
            <c:chart xmlns:c="http://schemas.openxmlformats.org/drawingml/2006/chart" r:id="rId2"/>
          </a:graphicData>
        </a:graphic>
      </p:graphicFrame>
      <p:sp>
        <p:nvSpPr>
          <p:cNvPr id="20" name="TextBox 19"/>
          <p:cNvSpPr txBox="1"/>
          <p:nvPr/>
        </p:nvSpPr>
        <p:spPr>
          <a:xfrm>
            <a:off x="4983480" y="4133087"/>
            <a:ext cx="6217920" cy="329184"/>
          </a:xfrm>
          <a:prstGeom prst="rect">
            <a:avLst/>
          </a:prstGeom>
          <a:noFill/>
        </p:spPr>
        <p:txBody>
          <a:bodyPr wrap="square" lIns="0" rIns="0" tIns="0" bIns="0">
            <a:spAutoFit/>
          </a:bodyPr>
          <a:lstStyle/>
          <a:p>
            <a:pPr>
              <a:lnSpc>
                <a:spcPct val="110000"/>
              </a:lnSpc>
              <a:spcAft>
                <a:spcPts val="400"/>
              </a:spcAft>
            </a:pPr>
            <a:r>
              <a:rPr sz="1800" b="1">
                <a:solidFill>
                  <a:srgbClr val="075E63"/>
                </a:solidFill>
                <a:latin typeface="Malgun Gothic"/>
                <a:ea typeface="Malgun Gothic"/>
              </a:rPr>
              <a:t>Tiny C 대비 전달 문자 약 82% 감소</a:t>
            </a:r>
          </a:p>
        </p:txBody>
      </p:sp>
      <p:sp>
        <p:nvSpPr>
          <p:cNvPr id="21" name="Rounded Rectangle 20"/>
          <p:cNvSpPr/>
          <p:nvPr/>
        </p:nvSpPr>
        <p:spPr>
          <a:xfrm>
            <a:off x="685800" y="4846320"/>
            <a:ext cx="5349240" cy="896112"/>
          </a:xfrm>
          <a:prstGeom prst="roundRect">
            <a:avLst>
              <a:gd name="adj" fmla="val 7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14400" y="5010912"/>
            <a:ext cx="2057400" cy="292608"/>
          </a:xfrm>
          <a:prstGeom prst="rect">
            <a:avLst/>
          </a:prstGeom>
          <a:noFill/>
        </p:spPr>
        <p:txBody>
          <a:bodyPr wrap="square" lIns="0" rIns="0" tIns="0" bIns="0">
            <a:spAutoFit/>
          </a:bodyPr>
          <a:lstStyle/>
          <a:p>
            <a:pPr>
              <a:lnSpc>
                <a:spcPct val="110000"/>
              </a:lnSpc>
              <a:spcAft>
                <a:spcPts val="400"/>
              </a:spcAft>
            </a:pPr>
            <a:r>
              <a:rPr sz="1500" b="1">
                <a:solidFill>
                  <a:srgbClr val="13263C"/>
                </a:solidFill>
                <a:latin typeface="Malgun Gothic"/>
                <a:ea typeface="Malgun Gothic"/>
              </a:rPr>
              <a:t>관련 질문 오차단</a:t>
            </a:r>
          </a:p>
        </p:txBody>
      </p:sp>
      <p:sp>
        <p:nvSpPr>
          <p:cNvPr id="23" name="TextBox 22"/>
          <p:cNvSpPr txBox="1"/>
          <p:nvPr/>
        </p:nvSpPr>
        <p:spPr>
          <a:xfrm>
            <a:off x="3063240" y="4965192"/>
            <a:ext cx="2651760" cy="365760"/>
          </a:xfrm>
          <a:prstGeom prst="rect">
            <a:avLst/>
          </a:prstGeom>
          <a:noFill/>
        </p:spPr>
        <p:txBody>
          <a:bodyPr wrap="square" lIns="0" rIns="0" tIns="0" bIns="0">
            <a:spAutoFit/>
          </a:bodyPr>
          <a:lstStyle/>
          <a:p>
            <a:pPr>
              <a:lnSpc>
                <a:spcPct val="110000"/>
              </a:lnSpc>
              <a:spcAft>
                <a:spcPts val="400"/>
              </a:spcAft>
            </a:pPr>
            <a:r>
              <a:rPr sz="2200" b="1">
                <a:solidFill>
                  <a:srgbClr val="075E63"/>
                </a:solidFill>
                <a:latin typeface="Malgun Gothic"/>
                <a:ea typeface="Malgun Gothic"/>
              </a:rPr>
              <a:t>0 / 30</a:t>
            </a:r>
          </a:p>
        </p:txBody>
      </p:sp>
      <p:sp>
        <p:nvSpPr>
          <p:cNvPr id="24" name="TextBox 23"/>
          <p:cNvSpPr txBox="1"/>
          <p:nvPr/>
        </p:nvSpPr>
        <p:spPr>
          <a:xfrm>
            <a:off x="3063240" y="5431536"/>
            <a:ext cx="2697480" cy="22860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두 구성 동일</a:t>
            </a:r>
          </a:p>
        </p:txBody>
      </p:sp>
      <p:sp>
        <p:nvSpPr>
          <p:cNvPr id="25" name="Rounded Rectangle 24"/>
          <p:cNvSpPr/>
          <p:nvPr/>
        </p:nvSpPr>
        <p:spPr>
          <a:xfrm>
            <a:off x="6172200" y="4846320"/>
            <a:ext cx="5349240" cy="896112"/>
          </a:xfrm>
          <a:prstGeom prst="roundRect">
            <a:avLst>
              <a:gd name="adj" fmla="val 7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400800" y="5010912"/>
            <a:ext cx="2057400" cy="292608"/>
          </a:xfrm>
          <a:prstGeom prst="rect">
            <a:avLst/>
          </a:prstGeom>
          <a:noFill/>
        </p:spPr>
        <p:txBody>
          <a:bodyPr wrap="square" lIns="0" rIns="0" tIns="0" bIns="0">
            <a:spAutoFit/>
          </a:bodyPr>
          <a:lstStyle/>
          <a:p>
            <a:pPr>
              <a:lnSpc>
                <a:spcPct val="110000"/>
              </a:lnSpc>
              <a:spcAft>
                <a:spcPts val="400"/>
              </a:spcAft>
            </a:pPr>
            <a:r>
              <a:rPr sz="1500" b="1">
                <a:solidFill>
                  <a:srgbClr val="13263C"/>
                </a:solidFill>
                <a:latin typeface="Malgun Gothic"/>
                <a:ea typeface="Malgun Gothic"/>
              </a:rPr>
              <a:t>무관 질문 차단</a:t>
            </a:r>
          </a:p>
        </p:txBody>
      </p:sp>
      <p:sp>
        <p:nvSpPr>
          <p:cNvPr id="27" name="TextBox 26"/>
          <p:cNvSpPr txBox="1"/>
          <p:nvPr/>
        </p:nvSpPr>
        <p:spPr>
          <a:xfrm>
            <a:off x="8549640" y="4965192"/>
            <a:ext cx="2651760" cy="365760"/>
          </a:xfrm>
          <a:prstGeom prst="rect">
            <a:avLst/>
          </a:prstGeom>
          <a:noFill/>
        </p:spPr>
        <p:txBody>
          <a:bodyPr wrap="square" lIns="0" rIns="0" tIns="0" bIns="0">
            <a:spAutoFit/>
          </a:bodyPr>
          <a:lstStyle/>
          <a:p>
            <a:pPr>
              <a:lnSpc>
                <a:spcPct val="110000"/>
              </a:lnSpc>
              <a:spcAft>
                <a:spcPts val="400"/>
              </a:spcAft>
            </a:pPr>
            <a:r>
              <a:rPr sz="2200" b="1">
                <a:solidFill>
                  <a:srgbClr val="5B6B7C"/>
                </a:solidFill>
                <a:latin typeface="Malgun Gothic"/>
                <a:ea typeface="Malgun Gothic"/>
              </a:rPr>
              <a:t>4 / 10</a:t>
            </a:r>
          </a:p>
        </p:txBody>
      </p:sp>
      <p:sp>
        <p:nvSpPr>
          <p:cNvPr id="28" name="TextBox 27"/>
          <p:cNvSpPr txBox="1"/>
          <p:nvPr/>
        </p:nvSpPr>
        <p:spPr>
          <a:xfrm>
            <a:off x="8549640" y="5431536"/>
            <a:ext cx="2697480" cy="22860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두 구성 동일</a:t>
            </a:r>
          </a:p>
        </p:txBody>
      </p:sp>
      <p:sp>
        <p:nvSpPr>
          <p:cNvPr id="29" name="TextBox 28"/>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문맥 보충 전 고정 검색 평가 · 82%는 전달 문자 감소이며 토큰·비용·정확도의 변화율이 아님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흐름 ④ 입력 조립</a:t>
            </a:r>
          </a:p>
        </p:txBody>
      </p:sp>
      <p:sp>
        <p:nvSpPr>
          <p:cNvPr id="3" name="Rounded Rectangle 2"/>
          <p:cNvSpPr/>
          <p:nvPr/>
        </p:nvSpPr>
        <p:spPr>
          <a:xfrm>
            <a:off x="5440680" y="329184"/>
            <a:ext cx="89611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문서 준비</a:t>
            </a:r>
          </a:p>
        </p:txBody>
      </p:sp>
      <p:sp>
        <p:nvSpPr>
          <p:cNvPr id="4" name="Rounded Rectangle 3"/>
          <p:cNvSpPr/>
          <p:nvPr/>
        </p:nvSpPr>
        <p:spPr>
          <a:xfrm>
            <a:off x="648309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① 접수</a:t>
            </a:r>
          </a:p>
        </p:txBody>
      </p:sp>
      <p:sp>
        <p:nvSpPr>
          <p:cNvPr id="5" name="Rounded Rectangle 4"/>
          <p:cNvSpPr/>
          <p:nvPr/>
        </p:nvSpPr>
        <p:spPr>
          <a:xfrm>
            <a:off x="726033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② 분류</a:t>
            </a:r>
          </a:p>
        </p:txBody>
      </p:sp>
      <p:sp>
        <p:nvSpPr>
          <p:cNvPr id="6" name="Rounded Rectangle 5"/>
          <p:cNvSpPr/>
          <p:nvPr/>
        </p:nvSpPr>
        <p:spPr>
          <a:xfrm>
            <a:off x="803757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③ 검색</a:t>
            </a:r>
          </a:p>
        </p:txBody>
      </p:sp>
      <p:sp>
        <p:nvSpPr>
          <p:cNvPr id="7" name="Rounded Rectangle 6"/>
          <p:cNvSpPr/>
          <p:nvPr/>
        </p:nvSpPr>
        <p:spPr>
          <a:xfrm>
            <a:off x="8814815" y="329184"/>
            <a:ext cx="731520" cy="274320"/>
          </a:xfrm>
          <a:prstGeom prst="roundRect">
            <a:avLst>
              <a:gd name="adj" fmla="val 50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1">
                <a:solidFill>
                  <a:srgbClr val="FFFFFF"/>
                </a:solidFill>
                <a:latin typeface="Malgun Gothic"/>
                <a:ea typeface="Malgun Gothic"/>
              </a:rPr>
              <a:t>④ 조립</a:t>
            </a:r>
          </a:p>
        </p:txBody>
      </p:sp>
      <p:sp>
        <p:nvSpPr>
          <p:cNvPr id="8" name="Rounded Rectangle 7"/>
          <p:cNvSpPr/>
          <p:nvPr/>
        </p:nvSpPr>
        <p:spPr>
          <a:xfrm>
            <a:off x="959205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⑤ 생성</a:t>
            </a:r>
          </a:p>
        </p:txBody>
      </p:sp>
      <p:sp>
        <p:nvSpPr>
          <p:cNvPr id="9" name="Rounded Rectangle 8"/>
          <p:cNvSpPr/>
          <p:nvPr/>
        </p:nvSpPr>
        <p:spPr>
          <a:xfrm>
            <a:off x="10369295" y="329184"/>
            <a:ext cx="107899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⑥ 응답 안내</a:t>
            </a:r>
          </a:p>
        </p:txBody>
      </p:sp>
      <p:sp>
        <p:nvSpPr>
          <p:cNvPr id="10" name="TextBox 9"/>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찾은 근거를 답변으로 연결</a:t>
            </a:r>
          </a:p>
        </p:txBody>
      </p:sp>
      <p:sp>
        <p:nvSpPr>
          <p:cNvPr id="11" name="TextBox 10"/>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LangChain으로 질문·문서·참고 정보를 묶어, 문서에 근거한 답변을 요청</a:t>
            </a:r>
          </a:p>
        </p:txBody>
      </p:sp>
      <p:sp>
        <p:nvSpPr>
          <p:cNvPr id="12" name="TextBox 11"/>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13" name="TextBox 12"/>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13</a:t>
            </a:r>
          </a:p>
        </p:txBody>
      </p:sp>
      <p:sp>
        <p:nvSpPr>
          <p:cNvPr id="14" name="Rounded Rectangle 13"/>
          <p:cNvSpPr/>
          <p:nvPr/>
        </p:nvSpPr>
        <p:spPr>
          <a:xfrm>
            <a:off x="685800" y="1828800"/>
            <a:ext cx="3017520" cy="484632"/>
          </a:xfrm>
          <a:prstGeom prst="roundRect">
            <a:avLst>
              <a:gd name="adj" fmla="val 12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300" b="1">
                <a:solidFill>
                  <a:srgbClr val="13263C"/>
                </a:solidFill>
                <a:latin typeface="Malgun Gothic"/>
                <a:ea typeface="Malgun Gothic"/>
              </a:rPr>
              <a:t>원질문 · 무엇을 알고 싶은가</a:t>
            </a:r>
          </a:p>
        </p:txBody>
      </p:sp>
      <p:cxnSp>
        <p:nvCxnSpPr>
          <p:cNvPr id="15" name="Connector 14"/>
          <p:cNvCxnSpPr/>
          <p:nvPr/>
        </p:nvCxnSpPr>
        <p:spPr>
          <a:xfrm>
            <a:off x="3721608" y="2066543"/>
            <a:ext cx="484632" cy="621793"/>
          </a:xfrm>
          <a:prstGeom prst="line">
            <a:avLst/>
          </a:prstGeom>
          <a:ln w="1524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685800" y="2432304"/>
            <a:ext cx="3017520" cy="484632"/>
          </a:xfrm>
          <a:prstGeom prst="roundRect">
            <a:avLst>
              <a:gd name="adj" fmla="val 12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300" b="1">
                <a:solidFill>
                  <a:srgbClr val="13263C"/>
                </a:solidFill>
                <a:latin typeface="Malgun Gothic"/>
                <a:ea typeface="Malgun Gothic"/>
              </a:rPr>
              <a:t>검색 문서 · 답변 근거와 조건</a:t>
            </a:r>
          </a:p>
        </p:txBody>
      </p:sp>
      <p:cxnSp>
        <p:nvCxnSpPr>
          <p:cNvPr id="17" name="Connector 16"/>
          <p:cNvCxnSpPr/>
          <p:nvPr/>
        </p:nvCxnSpPr>
        <p:spPr>
          <a:xfrm>
            <a:off x="3721608" y="2670048"/>
            <a:ext cx="484632" cy="18288"/>
          </a:xfrm>
          <a:prstGeom prst="line">
            <a:avLst/>
          </a:prstGeom>
          <a:ln w="1524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18" name="Rounded Rectangle 17"/>
          <p:cNvSpPr/>
          <p:nvPr/>
        </p:nvSpPr>
        <p:spPr>
          <a:xfrm>
            <a:off x="685800" y="3035808"/>
            <a:ext cx="3017520" cy="484632"/>
          </a:xfrm>
          <a:prstGeom prst="roundRect">
            <a:avLst>
              <a:gd name="adj" fmla="val 12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300" b="1">
                <a:solidFill>
                  <a:srgbClr val="13263C"/>
                </a:solidFill>
                <a:latin typeface="Malgun Gothic"/>
                <a:ea typeface="Malgun Gothic"/>
              </a:rPr>
              <a:t>분류 라벨 · 질문 의도 참고</a:t>
            </a:r>
          </a:p>
        </p:txBody>
      </p:sp>
      <p:cxnSp>
        <p:nvCxnSpPr>
          <p:cNvPr id="19" name="Connector 18"/>
          <p:cNvCxnSpPr/>
          <p:nvPr/>
        </p:nvCxnSpPr>
        <p:spPr>
          <a:xfrm flipV="1">
            <a:off x="3721608" y="2688336"/>
            <a:ext cx="484632" cy="585216"/>
          </a:xfrm>
          <a:prstGeom prst="line">
            <a:avLst/>
          </a:prstGeom>
          <a:ln w="1524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4251960" y="1828800"/>
            <a:ext cx="4114800" cy="1691640"/>
          </a:xfrm>
          <a:prstGeom prst="roundRect">
            <a:avLst>
              <a:gd name="adj" fmla="val 5000"/>
            </a:avLst>
          </a:prstGeom>
          <a:solidFill>
            <a:srgbClr val="FFFFFF"/>
          </a:solidFill>
          <a:ln w="19050">
            <a:solidFill>
              <a:srgbClr val="0A7E8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unded Rectangle 20"/>
          <p:cNvSpPr/>
          <p:nvPr/>
        </p:nvSpPr>
        <p:spPr>
          <a:xfrm>
            <a:off x="4251960" y="1828800"/>
            <a:ext cx="4114800" cy="521207"/>
          </a:xfrm>
          <a:prstGeom prst="roundRect">
            <a:avLst>
              <a:gd name="adj" fmla="val 5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600" b="1">
                <a:solidFill>
                  <a:srgbClr val="FFFFFF"/>
                </a:solidFill>
                <a:latin typeface="Malgun Gothic"/>
                <a:ea typeface="Malgun Gothic"/>
              </a:rPr>
              <a:t>LangChain · 생성 입력</a:t>
            </a:r>
          </a:p>
        </p:txBody>
      </p:sp>
      <p:sp>
        <p:nvSpPr>
          <p:cNvPr id="22" name="TextBox 21"/>
          <p:cNvSpPr txBox="1"/>
          <p:nvPr/>
        </p:nvSpPr>
        <p:spPr>
          <a:xfrm>
            <a:off x="4526280" y="2587752"/>
            <a:ext cx="3566160" cy="713232"/>
          </a:xfrm>
          <a:prstGeom prst="rect">
            <a:avLst/>
          </a:prstGeom>
          <a:noFill/>
        </p:spPr>
        <p:txBody>
          <a:bodyPr wrap="square" lIns="0" rIns="0" tIns="0" bIns="0">
            <a:spAutoFit/>
          </a:bodyPr>
          <a:lstStyle/>
          <a:p>
            <a:pPr>
              <a:lnSpc>
                <a:spcPct val="124000"/>
              </a:lnSpc>
              <a:spcAft>
                <a:spcPts val="400"/>
              </a:spcAft>
            </a:pPr>
            <a:r>
              <a:rPr sz="1500" b="0">
                <a:solidFill>
                  <a:srgbClr val="1B2A3A"/>
                </a:solidFill>
                <a:latin typeface="Malgun Gothic"/>
                <a:ea typeface="Malgun Gothic"/>
              </a:rPr>
              <a:t>문서에 근거해 직접 안내</a:t>
            </a:r>
          </a:p>
          <a:p>
            <a:pPr>
              <a:lnSpc>
                <a:spcPct val="124000"/>
              </a:lnSpc>
              <a:spcAft>
                <a:spcPts val="400"/>
              </a:spcAft>
            </a:pPr>
            <a:r>
              <a:rPr sz="1500" b="0">
                <a:solidFill>
                  <a:srgbClr val="1B2A3A"/>
                </a:solidFill>
                <a:latin typeface="Malgun Gothic"/>
                <a:ea typeface="Malgun Gothic"/>
              </a:rPr>
              <a:t>자료 부족·조회·실행 한계 구분</a:t>
            </a:r>
          </a:p>
        </p:txBody>
      </p:sp>
      <p:cxnSp>
        <p:nvCxnSpPr>
          <p:cNvPr id="23" name="Connector 22"/>
          <p:cNvCxnSpPr/>
          <p:nvPr/>
        </p:nvCxnSpPr>
        <p:spPr>
          <a:xfrm>
            <a:off x="8385048" y="2688336"/>
            <a:ext cx="530352" cy="0"/>
          </a:xfrm>
          <a:prstGeom prst="line">
            <a:avLst/>
          </a:prstGeom>
          <a:ln w="2032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8961120" y="2203704"/>
            <a:ext cx="2560320" cy="969264"/>
          </a:xfrm>
          <a:prstGeom prst="roundRect">
            <a:avLst>
              <a:gd name="adj" fmla="val 1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2000" b="1">
                <a:solidFill>
                  <a:srgbClr val="FFFFFF"/>
                </a:solidFill>
                <a:latin typeface="Malgun Gothic"/>
                <a:ea typeface="Malgun Gothic"/>
              </a:rPr>
              <a:t>GPT-6 Luna</a:t>
            </a:r>
          </a:p>
        </p:txBody>
      </p:sp>
      <p:sp>
        <p:nvSpPr>
          <p:cNvPr id="25" name="TextBox 24"/>
          <p:cNvSpPr txBox="1"/>
          <p:nvPr/>
        </p:nvSpPr>
        <p:spPr>
          <a:xfrm>
            <a:off x="8961120" y="3310128"/>
            <a:ext cx="2560320" cy="274320"/>
          </a:xfrm>
          <a:prstGeom prst="rect">
            <a:avLst/>
          </a:prstGeom>
          <a:noFill/>
        </p:spPr>
        <p:txBody>
          <a:bodyPr wrap="square" lIns="0" rIns="0" tIns="0" bIns="0">
            <a:spAutoFit/>
          </a:bodyPr>
          <a:lstStyle/>
          <a:p>
            <a:pPr algn="ctr">
              <a:lnSpc>
                <a:spcPct val="110000"/>
              </a:lnSpc>
              <a:spcAft>
                <a:spcPts val="400"/>
              </a:spcAft>
            </a:pPr>
            <a:r>
              <a:rPr sz="1300" b="1">
                <a:solidFill>
                  <a:srgbClr val="075E63"/>
                </a:solidFill>
                <a:latin typeface="Malgun Gothic"/>
                <a:ea typeface="Malgun Gothic"/>
              </a:rPr>
              <a:t>문서 기반 업무 안내</a:t>
            </a:r>
          </a:p>
        </p:txBody>
      </p:sp>
      <p:sp>
        <p:nvSpPr>
          <p:cNvPr id="26" name="TextBox 25"/>
          <p:cNvSpPr txBox="1"/>
          <p:nvPr/>
        </p:nvSpPr>
        <p:spPr>
          <a:xfrm>
            <a:off x="685800" y="3858768"/>
            <a:ext cx="10835640" cy="338328"/>
          </a:xfrm>
          <a:prstGeom prst="rect">
            <a:avLst/>
          </a:prstGeom>
          <a:noFill/>
        </p:spPr>
        <p:txBody>
          <a:bodyPr wrap="square" lIns="0" rIns="0" tIns="0" bIns="0">
            <a:spAutoFit/>
          </a:bodyPr>
          <a:lstStyle/>
          <a:p>
            <a:pPr>
              <a:lnSpc>
                <a:spcPct val="110000"/>
              </a:lnSpc>
              <a:spcAft>
                <a:spcPts val="400"/>
              </a:spcAft>
            </a:pPr>
            <a:r>
              <a:rPr sz="1800" b="1">
                <a:solidFill>
                  <a:srgbClr val="13263C"/>
                </a:solidFill>
                <a:latin typeface="Malgun Gothic"/>
                <a:ea typeface="Malgun Gothic"/>
              </a:rPr>
              <a:t>프롬프트를 다듬으며 부딪힌 문제</a:t>
            </a:r>
          </a:p>
        </p:txBody>
      </p:sp>
      <p:sp>
        <p:nvSpPr>
          <p:cNvPr id="27" name="Rounded Rectangle 26"/>
          <p:cNvSpPr/>
          <p:nvPr/>
        </p:nvSpPr>
        <p:spPr>
          <a:xfrm>
            <a:off x="685800" y="4389120"/>
            <a:ext cx="3429000" cy="1325880"/>
          </a:xfrm>
          <a:prstGeom prst="roundRect">
            <a:avLst>
              <a:gd name="adj" fmla="val 7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886968" y="4572000"/>
            <a:ext cx="3026664" cy="320040"/>
          </a:xfrm>
          <a:prstGeom prst="rect">
            <a:avLst/>
          </a:prstGeom>
          <a:noFill/>
        </p:spPr>
        <p:txBody>
          <a:bodyPr wrap="square" lIns="0" rIns="0" tIns="0" bIns="0">
            <a:spAutoFit/>
          </a:bodyPr>
          <a:lstStyle/>
          <a:p>
            <a:pPr>
              <a:lnSpc>
                <a:spcPct val="110000"/>
              </a:lnSpc>
              <a:spcAft>
                <a:spcPts val="400"/>
              </a:spcAft>
            </a:pPr>
            <a:r>
              <a:rPr sz="1500" b="1">
                <a:solidFill>
                  <a:srgbClr val="075E63"/>
                </a:solidFill>
                <a:latin typeface="Malgun Gothic"/>
                <a:ea typeface="Malgun Gothic"/>
              </a:rPr>
              <a:t>작성 규칙이 답변에 드러남</a:t>
            </a:r>
          </a:p>
        </p:txBody>
      </p:sp>
      <p:sp>
        <p:nvSpPr>
          <p:cNvPr id="29" name="TextBox 28"/>
          <p:cNvSpPr txBox="1"/>
          <p:nvPr/>
        </p:nvSpPr>
        <p:spPr>
          <a:xfrm>
            <a:off x="886968" y="5065776"/>
            <a:ext cx="3026664" cy="594360"/>
          </a:xfrm>
          <a:prstGeom prst="rect">
            <a:avLst/>
          </a:prstGeom>
          <a:noFill/>
        </p:spPr>
        <p:txBody>
          <a:bodyPr wrap="square" lIns="0" rIns="0" tIns="0" bIns="0">
            <a:spAutoFit/>
          </a:bodyPr>
          <a:lstStyle/>
          <a:p>
            <a:pPr>
              <a:lnSpc>
                <a:spcPct val="118000"/>
              </a:lnSpc>
              <a:spcAft>
                <a:spcPts val="0"/>
              </a:spcAft>
            </a:pPr>
            <a:r>
              <a:rPr sz="1200" b="0">
                <a:solidFill>
                  <a:srgbClr val="1B2A3A"/>
                </a:solidFill>
                <a:latin typeface="Malgun Gothic"/>
                <a:ea typeface="Malgun Gothic"/>
              </a:rPr>
              <a:t>‘제공된 문서에는…’ 같은 설명</a:t>
            </a:r>
          </a:p>
          <a:p>
            <a:pPr>
              <a:lnSpc>
                <a:spcPct val="118000"/>
              </a:lnSpc>
              <a:spcAft>
                <a:spcPts val="0"/>
              </a:spcAft>
            </a:pPr>
            <a:r>
              <a:rPr sz="1200" b="0">
                <a:solidFill>
                  <a:srgbClr val="1B2A3A"/>
                </a:solidFill>
                <a:latin typeface="Malgun Gothic"/>
                <a:ea typeface="Malgun Gothic"/>
              </a:rPr>
              <a:t>→ 질문에 바로 답하는 예시로 수정</a:t>
            </a:r>
          </a:p>
        </p:txBody>
      </p:sp>
      <p:sp>
        <p:nvSpPr>
          <p:cNvPr id="30" name="Rounded Rectangle 29"/>
          <p:cNvSpPr/>
          <p:nvPr/>
        </p:nvSpPr>
        <p:spPr>
          <a:xfrm>
            <a:off x="4389120" y="4389120"/>
            <a:ext cx="3429000" cy="1325880"/>
          </a:xfrm>
          <a:prstGeom prst="roundRect">
            <a:avLst>
              <a:gd name="adj" fmla="val 7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590288" y="4572000"/>
            <a:ext cx="3026664" cy="320040"/>
          </a:xfrm>
          <a:prstGeom prst="rect">
            <a:avLst/>
          </a:prstGeom>
          <a:noFill/>
        </p:spPr>
        <p:txBody>
          <a:bodyPr wrap="square" lIns="0" rIns="0" tIns="0" bIns="0">
            <a:spAutoFit/>
          </a:bodyPr>
          <a:lstStyle/>
          <a:p>
            <a:pPr>
              <a:lnSpc>
                <a:spcPct val="110000"/>
              </a:lnSpc>
              <a:spcAft>
                <a:spcPts val="400"/>
              </a:spcAft>
            </a:pPr>
            <a:r>
              <a:rPr sz="1500" b="1">
                <a:solidFill>
                  <a:srgbClr val="075E63"/>
                </a:solidFill>
                <a:latin typeface="Malgun Gothic"/>
                <a:ea typeface="Malgun Gothic"/>
              </a:rPr>
              <a:t>말투를 고치다 조건이 바뀜</a:t>
            </a:r>
          </a:p>
        </p:txBody>
      </p:sp>
      <p:sp>
        <p:nvSpPr>
          <p:cNvPr id="32" name="TextBox 31"/>
          <p:cNvSpPr txBox="1"/>
          <p:nvPr/>
        </p:nvSpPr>
        <p:spPr>
          <a:xfrm>
            <a:off x="4590288" y="5065776"/>
            <a:ext cx="3026664" cy="594360"/>
          </a:xfrm>
          <a:prstGeom prst="rect">
            <a:avLst/>
          </a:prstGeom>
          <a:noFill/>
        </p:spPr>
        <p:txBody>
          <a:bodyPr wrap="square" lIns="0" rIns="0" tIns="0" bIns="0">
            <a:spAutoFit/>
          </a:bodyPr>
          <a:lstStyle/>
          <a:p>
            <a:pPr>
              <a:lnSpc>
                <a:spcPct val="118000"/>
              </a:lnSpc>
              <a:spcAft>
                <a:spcPts val="0"/>
              </a:spcAft>
            </a:pPr>
            <a:r>
              <a:rPr sz="1200" b="0">
                <a:solidFill>
                  <a:srgbClr val="1B2A3A"/>
                </a:solidFill>
                <a:latin typeface="Malgun Gothic"/>
                <a:ea typeface="Malgun Gothic"/>
              </a:rPr>
              <a:t>15분 기다리라는 잘못된 안내</a:t>
            </a:r>
          </a:p>
          <a:p>
            <a:pPr>
              <a:lnSpc>
                <a:spcPct val="118000"/>
              </a:lnSpc>
              <a:spcAft>
                <a:spcPts val="0"/>
              </a:spcAft>
            </a:pPr>
            <a:r>
              <a:rPr sz="1200" b="0">
                <a:solidFill>
                  <a:srgbClr val="1B2A3A"/>
                </a:solidFill>
                <a:latin typeface="Malgun Gothic"/>
                <a:ea typeface="Malgun Gothic"/>
              </a:rPr>
              <a:t>→ 시간·선택 조건 보존을 명시</a:t>
            </a:r>
          </a:p>
        </p:txBody>
      </p:sp>
      <p:sp>
        <p:nvSpPr>
          <p:cNvPr id="33" name="Rounded Rectangle 32"/>
          <p:cNvSpPr/>
          <p:nvPr/>
        </p:nvSpPr>
        <p:spPr>
          <a:xfrm>
            <a:off x="8092440" y="4389120"/>
            <a:ext cx="3429000" cy="1325880"/>
          </a:xfrm>
          <a:prstGeom prst="roundRect">
            <a:avLst>
              <a:gd name="adj" fmla="val 7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93608" y="4572000"/>
            <a:ext cx="3026664" cy="320040"/>
          </a:xfrm>
          <a:prstGeom prst="rect">
            <a:avLst/>
          </a:prstGeom>
          <a:noFill/>
        </p:spPr>
        <p:txBody>
          <a:bodyPr wrap="square" lIns="0" rIns="0" tIns="0" bIns="0">
            <a:spAutoFit/>
          </a:bodyPr>
          <a:lstStyle/>
          <a:p>
            <a:pPr>
              <a:lnSpc>
                <a:spcPct val="110000"/>
              </a:lnSpc>
              <a:spcAft>
                <a:spcPts val="400"/>
              </a:spcAft>
            </a:pPr>
            <a:r>
              <a:rPr sz="1500" b="1">
                <a:solidFill>
                  <a:srgbClr val="075E63"/>
                </a:solidFill>
                <a:latin typeface="Malgun Gothic"/>
                <a:ea typeface="Malgun Gothic"/>
              </a:rPr>
              <a:t>읽기 편해져도 안내 누락</a:t>
            </a:r>
          </a:p>
        </p:txBody>
      </p:sp>
      <p:sp>
        <p:nvSpPr>
          <p:cNvPr id="35" name="TextBox 34"/>
          <p:cNvSpPr txBox="1"/>
          <p:nvPr/>
        </p:nvSpPr>
        <p:spPr>
          <a:xfrm>
            <a:off x="8293608" y="5065776"/>
            <a:ext cx="3026664" cy="594360"/>
          </a:xfrm>
          <a:prstGeom prst="rect">
            <a:avLst/>
          </a:prstGeom>
          <a:noFill/>
        </p:spPr>
        <p:txBody>
          <a:bodyPr wrap="square" lIns="0" rIns="0" tIns="0" bIns="0">
            <a:spAutoFit/>
          </a:bodyPr>
          <a:lstStyle/>
          <a:p>
            <a:pPr>
              <a:lnSpc>
                <a:spcPct val="118000"/>
              </a:lnSpc>
              <a:spcAft>
                <a:spcPts val="0"/>
              </a:spcAft>
            </a:pPr>
            <a:r>
              <a:rPr sz="1200" b="0">
                <a:solidFill>
                  <a:srgbClr val="1B2A3A"/>
                </a:solidFill>
                <a:latin typeface="Malgun Gothic"/>
                <a:ea typeface="Malgun Gothic"/>
              </a:rPr>
              <a:t>요약·불릿·절차 번호로 정리</a:t>
            </a:r>
          </a:p>
          <a:p>
            <a:pPr>
              <a:lnSpc>
                <a:spcPct val="118000"/>
              </a:lnSpc>
              <a:spcAft>
                <a:spcPts val="0"/>
              </a:spcAft>
            </a:pPr>
            <a:r>
              <a:rPr sz="1200" b="0">
                <a:solidFill>
                  <a:srgbClr val="1B2A3A"/>
                </a:solidFill>
                <a:latin typeface="Malgun Gothic"/>
                <a:ea typeface="Malgun Gothic"/>
              </a:rPr>
              <a:t>→ 후속 인계·기한도 함께 점검</a:t>
            </a:r>
          </a:p>
        </p:txBody>
      </p:sp>
      <p:sp>
        <p:nvSpPr>
          <p:cNvPr id="36" name="TextBox 35"/>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말투·가독성과 정보의 완전성을 함께 비교 · 일부 후속 안내 누락은 남아 있음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흐름 ⑤ 답변 생성</a:t>
            </a:r>
          </a:p>
        </p:txBody>
      </p:sp>
      <p:sp>
        <p:nvSpPr>
          <p:cNvPr id="3" name="Rounded Rectangle 2"/>
          <p:cNvSpPr/>
          <p:nvPr/>
        </p:nvSpPr>
        <p:spPr>
          <a:xfrm>
            <a:off x="5440680" y="329184"/>
            <a:ext cx="89611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문서 준비</a:t>
            </a:r>
          </a:p>
        </p:txBody>
      </p:sp>
      <p:sp>
        <p:nvSpPr>
          <p:cNvPr id="4" name="Rounded Rectangle 3"/>
          <p:cNvSpPr/>
          <p:nvPr/>
        </p:nvSpPr>
        <p:spPr>
          <a:xfrm>
            <a:off x="648309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① 접수</a:t>
            </a:r>
          </a:p>
        </p:txBody>
      </p:sp>
      <p:sp>
        <p:nvSpPr>
          <p:cNvPr id="5" name="Rounded Rectangle 4"/>
          <p:cNvSpPr/>
          <p:nvPr/>
        </p:nvSpPr>
        <p:spPr>
          <a:xfrm>
            <a:off x="726033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② 분류</a:t>
            </a:r>
          </a:p>
        </p:txBody>
      </p:sp>
      <p:sp>
        <p:nvSpPr>
          <p:cNvPr id="6" name="Rounded Rectangle 5"/>
          <p:cNvSpPr/>
          <p:nvPr/>
        </p:nvSpPr>
        <p:spPr>
          <a:xfrm>
            <a:off x="803757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③ 검색</a:t>
            </a:r>
          </a:p>
        </p:txBody>
      </p:sp>
      <p:sp>
        <p:nvSpPr>
          <p:cNvPr id="7" name="Rounded Rectangle 6"/>
          <p:cNvSpPr/>
          <p:nvPr/>
        </p:nvSpPr>
        <p:spPr>
          <a:xfrm>
            <a:off x="881481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④ 조립</a:t>
            </a:r>
          </a:p>
        </p:txBody>
      </p:sp>
      <p:sp>
        <p:nvSpPr>
          <p:cNvPr id="8" name="Rounded Rectangle 7"/>
          <p:cNvSpPr/>
          <p:nvPr/>
        </p:nvSpPr>
        <p:spPr>
          <a:xfrm>
            <a:off x="9592055" y="329184"/>
            <a:ext cx="731520" cy="274320"/>
          </a:xfrm>
          <a:prstGeom prst="roundRect">
            <a:avLst>
              <a:gd name="adj" fmla="val 50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1">
                <a:solidFill>
                  <a:srgbClr val="FFFFFF"/>
                </a:solidFill>
                <a:latin typeface="Malgun Gothic"/>
                <a:ea typeface="Malgun Gothic"/>
              </a:rPr>
              <a:t>⑤ 생성</a:t>
            </a:r>
          </a:p>
        </p:txBody>
      </p:sp>
      <p:sp>
        <p:nvSpPr>
          <p:cNvPr id="9" name="Rounded Rectangle 8"/>
          <p:cNvSpPr/>
          <p:nvPr/>
        </p:nvSpPr>
        <p:spPr>
          <a:xfrm>
            <a:off x="10369295" y="329184"/>
            <a:ext cx="107899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⑥ 응답 안내</a:t>
            </a:r>
          </a:p>
        </p:txBody>
      </p:sp>
      <p:sp>
        <p:nvSpPr>
          <p:cNvPr id="10" name="TextBox 9"/>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답변 모델을 선택한 과정</a:t>
            </a:r>
          </a:p>
        </p:txBody>
      </p:sp>
      <p:sp>
        <p:nvSpPr>
          <p:cNvPr id="11" name="TextBox 10"/>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당시 전체 71문서 입력 · 모델별 20문항 × 2회 · 모델명을 가린 AI 판정</a:t>
            </a:r>
          </a:p>
        </p:txBody>
      </p:sp>
      <p:sp>
        <p:nvSpPr>
          <p:cNvPr id="12" name="TextBox 11"/>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13" name="TextBox 12"/>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14</a:t>
            </a:r>
          </a:p>
        </p:txBody>
      </p:sp>
      <p:sp>
        <p:nvSpPr>
          <p:cNvPr id="14" name="Rounded Rectangle 13"/>
          <p:cNvSpPr/>
          <p:nvPr/>
        </p:nvSpPr>
        <p:spPr>
          <a:xfrm>
            <a:off x="685800" y="1801368"/>
            <a:ext cx="2212848" cy="850392"/>
          </a:xfrm>
          <a:prstGeom prst="roundRect">
            <a:avLst>
              <a:gd name="adj" fmla="val 8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50392" y="1947672"/>
            <a:ext cx="1938528" cy="320040"/>
          </a:xfrm>
          <a:prstGeom prst="rect">
            <a:avLst/>
          </a:prstGeom>
          <a:noFill/>
        </p:spPr>
        <p:txBody>
          <a:bodyPr wrap="square" lIns="0" rIns="0" tIns="0" bIns="0">
            <a:spAutoFit/>
          </a:bodyPr>
          <a:lstStyle/>
          <a:p>
            <a:pPr>
              <a:lnSpc>
                <a:spcPct val="110000"/>
              </a:lnSpc>
              <a:spcAft>
                <a:spcPts val="400"/>
              </a:spcAft>
            </a:pPr>
            <a:r>
              <a:rPr sz="1800" b="1">
                <a:solidFill>
                  <a:srgbClr val="5B6B7C"/>
                </a:solidFill>
                <a:latin typeface="Malgun Gothic"/>
                <a:ea typeface="Malgun Gothic"/>
              </a:rPr>
              <a:t>Qwen3 4B</a:t>
            </a:r>
          </a:p>
        </p:txBody>
      </p:sp>
      <p:sp>
        <p:nvSpPr>
          <p:cNvPr id="16" name="TextBox 15"/>
          <p:cNvSpPr txBox="1"/>
          <p:nvPr/>
        </p:nvSpPr>
        <p:spPr>
          <a:xfrm>
            <a:off x="850392" y="2350008"/>
            <a:ext cx="1938528" cy="228600"/>
          </a:xfrm>
          <a:prstGeom prst="rect">
            <a:avLst/>
          </a:prstGeom>
          <a:noFill/>
        </p:spPr>
        <p:txBody>
          <a:bodyPr wrap="square" lIns="0" rIns="0" tIns="0" bIns="0">
            <a:spAutoFit/>
          </a:bodyPr>
          <a:lstStyle/>
          <a:p>
            <a:pPr>
              <a:lnSpc>
                <a:spcPct val="110000"/>
              </a:lnSpc>
              <a:spcAft>
                <a:spcPts val="400"/>
              </a:spcAft>
            </a:pPr>
            <a:r>
              <a:rPr sz="1200" b="0">
                <a:solidFill>
                  <a:srgbClr val="5B6B7C"/>
                </a:solidFill>
                <a:latin typeface="Malgun Gothic"/>
                <a:ea typeface="Malgun Gothic"/>
              </a:rPr>
              <a:t>로컬 · 양자화 모델</a:t>
            </a:r>
          </a:p>
        </p:txBody>
      </p:sp>
      <p:sp>
        <p:nvSpPr>
          <p:cNvPr id="17" name="Rounded Rectangle 16"/>
          <p:cNvSpPr/>
          <p:nvPr/>
        </p:nvSpPr>
        <p:spPr>
          <a:xfrm>
            <a:off x="3063240" y="1801368"/>
            <a:ext cx="2212848" cy="850392"/>
          </a:xfrm>
          <a:prstGeom prst="roundRect">
            <a:avLst>
              <a:gd name="adj" fmla="val 8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227832" y="1947672"/>
            <a:ext cx="1938528" cy="320040"/>
          </a:xfrm>
          <a:prstGeom prst="rect">
            <a:avLst/>
          </a:prstGeom>
          <a:noFill/>
        </p:spPr>
        <p:txBody>
          <a:bodyPr wrap="square" lIns="0" rIns="0" tIns="0" bIns="0">
            <a:spAutoFit/>
          </a:bodyPr>
          <a:lstStyle/>
          <a:p>
            <a:pPr>
              <a:lnSpc>
                <a:spcPct val="110000"/>
              </a:lnSpc>
              <a:spcAft>
                <a:spcPts val="400"/>
              </a:spcAft>
            </a:pPr>
            <a:r>
              <a:rPr sz="1800" b="1">
                <a:solidFill>
                  <a:srgbClr val="075E63"/>
                </a:solidFill>
                <a:latin typeface="Malgun Gothic"/>
                <a:ea typeface="Malgun Gothic"/>
              </a:rPr>
              <a:t>GPT-6 Luna</a:t>
            </a:r>
          </a:p>
        </p:txBody>
      </p:sp>
      <p:sp>
        <p:nvSpPr>
          <p:cNvPr id="19" name="TextBox 18"/>
          <p:cNvSpPr txBox="1"/>
          <p:nvPr/>
        </p:nvSpPr>
        <p:spPr>
          <a:xfrm>
            <a:off x="3227832" y="2350008"/>
            <a:ext cx="1938528" cy="228600"/>
          </a:xfrm>
          <a:prstGeom prst="rect">
            <a:avLst/>
          </a:prstGeom>
          <a:noFill/>
        </p:spPr>
        <p:txBody>
          <a:bodyPr wrap="square" lIns="0" rIns="0" tIns="0" bIns="0">
            <a:spAutoFit/>
          </a:bodyPr>
          <a:lstStyle/>
          <a:p>
            <a:pPr>
              <a:lnSpc>
                <a:spcPct val="110000"/>
              </a:lnSpc>
              <a:spcAft>
                <a:spcPts val="400"/>
              </a:spcAft>
            </a:pPr>
            <a:r>
              <a:rPr sz="1200" b="0">
                <a:solidFill>
                  <a:srgbClr val="5B6B7C"/>
                </a:solidFill>
                <a:latin typeface="Malgun Gothic"/>
                <a:ea typeface="Malgun Gothic"/>
              </a:rPr>
              <a:t>상용 API</a:t>
            </a:r>
          </a:p>
        </p:txBody>
      </p:sp>
      <p:sp>
        <p:nvSpPr>
          <p:cNvPr id="20" name="TextBox 19"/>
          <p:cNvSpPr txBox="1"/>
          <p:nvPr/>
        </p:nvSpPr>
        <p:spPr>
          <a:xfrm>
            <a:off x="731520" y="2871216"/>
            <a:ext cx="4480560" cy="292608"/>
          </a:xfrm>
          <a:prstGeom prst="rect">
            <a:avLst/>
          </a:prstGeom>
          <a:noFill/>
        </p:spPr>
        <p:txBody>
          <a:bodyPr wrap="square" lIns="0" rIns="0" tIns="0" bIns="0">
            <a:spAutoFit/>
          </a:bodyPr>
          <a:lstStyle/>
          <a:p>
            <a:pPr>
              <a:lnSpc>
                <a:spcPct val="110000"/>
              </a:lnSpc>
              <a:spcAft>
                <a:spcPts val="400"/>
              </a:spcAft>
            </a:pPr>
            <a:r>
              <a:rPr sz="1400" b="1">
                <a:solidFill>
                  <a:srgbClr val="13263C"/>
                </a:solidFill>
                <a:latin typeface="Malgun Gothic"/>
                <a:ea typeface="Malgun Gothic"/>
              </a:rPr>
              <a:t>모델별 40응답 판정</a:t>
            </a:r>
          </a:p>
        </p:txBody>
      </p:sp>
      <p:graphicFrame>
        <p:nvGraphicFramePr>
          <p:cNvPr id="21" name="Chart 20"/>
          <p:cNvGraphicFramePr>
            <a:graphicFrameLocks noGrp="1"/>
          </p:cNvGraphicFramePr>
          <p:nvPr/>
        </p:nvGraphicFramePr>
        <p:xfrm>
          <a:off x="502920" y="3227832"/>
          <a:ext cx="4800600" cy="1737360"/>
        </p:xfrm>
        <a:graphic>
          <a:graphicData uri="http://schemas.openxmlformats.org/drawingml/2006/chart">
            <c:chart xmlns:c="http://schemas.openxmlformats.org/drawingml/2006/chart" r:id="rId2"/>
          </a:graphicData>
        </a:graphic>
      </p:graphicFrame>
      <p:graphicFrame>
        <p:nvGraphicFramePr>
          <p:cNvPr id="22" name="Table 21"/>
          <p:cNvGraphicFramePr>
            <a:graphicFrameLocks noGrp="1"/>
          </p:cNvGraphicFramePr>
          <p:nvPr/>
        </p:nvGraphicFramePr>
        <p:xfrm>
          <a:off x="5486400" y="1810512"/>
          <a:ext cx="6035040" cy="3584448"/>
        </p:xfrm>
        <a:graphic>
          <a:graphicData uri="http://schemas.openxmlformats.org/drawingml/2006/table">
            <a:tbl>
              <a:tblPr firstRow="1" bandRow="1">
                <a:tableStyleId>{5C22544A-7EE6-4342-B048-85BDC9FD1C3A}</a:tableStyleId>
              </a:tblPr>
              <a:tblGrid>
                <a:gridCol w="2651760"/>
                <a:gridCol w="1691640"/>
                <a:gridCol w="1691640"/>
              </a:tblGrid>
              <a:tr h="512064">
                <a:tc>
                  <a:txBody>
                    <a:bodyPr/>
                    <a:lstStyle/>
                    <a:p>
                      <a:pPr>
                        <a:lnSpc>
                          <a:spcPct val="100000"/>
                        </a:lnSpc>
                      </a:pPr>
                      <a:r>
                        <a:rPr sz="1400" b="1">
                          <a:solidFill>
                            <a:srgbClr val="FFFFFF"/>
                          </a:solidFill>
                          <a:latin typeface="Malgun Gothic"/>
                          <a:ea typeface="Malgun Gothic"/>
                        </a:rPr>
                        <a:t>평가 항목</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FFFFFF"/>
                          </a:solidFill>
                          <a:latin typeface="Malgun Gothic"/>
                          <a:ea typeface="Malgun Gothic"/>
                        </a:rPr>
                        <a:t>Qwen</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FFFFFF"/>
                          </a:solidFill>
                          <a:latin typeface="Malgun Gothic"/>
                          <a:ea typeface="Malgun Gothic"/>
                        </a:rPr>
                        <a:t>Luna</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512064">
                <a:tc>
                  <a:txBody>
                    <a:bodyPr/>
                    <a:lstStyle/>
                    <a:p>
                      <a:pPr>
                        <a:lnSpc>
                          <a:spcPct val="100000"/>
                        </a:lnSpc>
                      </a:pPr>
                      <a:r>
                        <a:rPr sz="1400" b="0">
                          <a:solidFill>
                            <a:srgbClr val="1B2A3A"/>
                          </a:solidFill>
                          <a:latin typeface="Malgun Gothic"/>
                          <a:ea typeface="Malgun Gothic"/>
                        </a:rPr>
                        <a:t>중대 오류 문항</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5 / 20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 / 20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12064">
                <a:tc>
                  <a:txBody>
                    <a:bodyPr/>
                    <a:lstStyle/>
                    <a:p>
                      <a:pPr>
                        <a:lnSpc>
                          <a:spcPct val="100000"/>
                        </a:lnSpc>
                      </a:pPr>
                      <a:r>
                        <a:rPr sz="1400" b="0">
                          <a:solidFill>
                            <a:srgbClr val="1B2A3A"/>
                          </a:solidFill>
                          <a:latin typeface="Malgun Gothic"/>
                          <a:ea typeface="Malgun Gothic"/>
                        </a:rPr>
                        <a:t>생성·형식 실패</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5 / 40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 / 40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12064">
                <a:tc>
                  <a:txBody>
                    <a:bodyPr/>
                    <a:lstStyle/>
                    <a:p>
                      <a:pPr>
                        <a:lnSpc>
                          <a:spcPct val="100000"/>
                        </a:lnSpc>
                      </a:pPr>
                      <a:r>
                        <a:rPr sz="1400" b="0">
                          <a:solidFill>
                            <a:srgbClr val="1B2A3A"/>
                          </a:solidFill>
                          <a:latin typeface="Malgun Gothic"/>
                          <a:ea typeface="Malgun Gothic"/>
                        </a:rPr>
                        <a:t>필수 안내 누락</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33 / 40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15 / 40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12064">
                <a:tc>
                  <a:txBody>
                    <a:bodyPr/>
                    <a:lstStyle/>
                    <a:p>
                      <a:pPr>
                        <a:lnSpc>
                          <a:spcPct val="100000"/>
                        </a:lnSpc>
                      </a:pPr>
                      <a:r>
                        <a:rPr sz="1400" b="0">
                          <a:solidFill>
                            <a:srgbClr val="1B2A3A"/>
                          </a:solidFill>
                          <a:latin typeface="Malgun Gothic"/>
                          <a:ea typeface="Malgun Gothic"/>
                        </a:rPr>
                        <a:t>두 반복 모두 통과</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 / 20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11 / 20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12064">
                <a:tc>
                  <a:txBody>
                    <a:bodyPr/>
                    <a:lstStyle/>
                    <a:p>
                      <a:pPr>
                        <a:lnSpc>
                          <a:spcPct val="100000"/>
                        </a:lnSpc>
                      </a:pPr>
                      <a:r>
                        <a:rPr sz="1400" b="0">
                          <a:solidFill>
                            <a:srgbClr val="1B2A3A"/>
                          </a:solidFill>
                          <a:latin typeface="Malgun Gothic"/>
                          <a:ea typeface="Malgun Gothic"/>
                        </a:rPr>
                        <a:t>응답 시간 중앙값</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32.80초</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12.09초</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12064">
                <a:tc>
                  <a:txBody>
                    <a:bodyPr/>
                    <a:lstStyle/>
                    <a:p>
                      <a:pPr>
                        <a:lnSpc>
                          <a:spcPct val="100000"/>
                        </a:lnSpc>
                      </a:pPr>
                      <a:r>
                        <a:rPr sz="1400" b="0">
                          <a:solidFill>
                            <a:srgbClr val="1B2A3A"/>
                          </a:solidFill>
                          <a:latin typeface="Malgun Gothic"/>
                          <a:ea typeface="Malgun Gothic"/>
                        </a:rPr>
                        <a:t>응답 시간 최대</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161.46초</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26.81초</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23" name="TextBox 22"/>
          <p:cNvSpPr txBox="1"/>
          <p:nvPr/>
        </p:nvSpPr>
        <p:spPr>
          <a:xfrm>
            <a:off x="731520" y="5175504"/>
            <a:ext cx="4526280" cy="658368"/>
          </a:xfrm>
          <a:prstGeom prst="rect">
            <a:avLst/>
          </a:prstGeom>
          <a:noFill/>
        </p:spPr>
        <p:txBody>
          <a:bodyPr wrap="square" lIns="0" rIns="0" tIns="0" bIns="0">
            <a:spAutoFit/>
          </a:bodyPr>
          <a:lstStyle/>
          <a:p>
            <a:pPr>
              <a:lnSpc>
                <a:spcPct val="116000"/>
              </a:lnSpc>
              <a:spcAft>
                <a:spcPts val="400"/>
              </a:spcAft>
            </a:pPr>
            <a:r>
              <a:rPr sz="1400" b="1">
                <a:solidFill>
                  <a:srgbClr val="075E63"/>
                </a:solidFill>
                <a:latin typeface="Malgun Gothic"/>
                <a:ea typeface="Malgun Gothic"/>
              </a:rPr>
              <a:t>평가 기준</a:t>
            </a:r>
          </a:p>
          <a:p>
            <a:pPr>
              <a:lnSpc>
                <a:spcPct val="116000"/>
              </a:lnSpc>
              <a:spcAft>
                <a:spcPts val="400"/>
              </a:spcAft>
            </a:pPr>
            <a:r>
              <a:rPr sz="1400" b="1">
                <a:solidFill>
                  <a:srgbClr val="075E63"/>
                </a:solidFill>
                <a:latin typeface="Malgun Gothic"/>
                <a:ea typeface="Malgun Gothic"/>
              </a:rPr>
              <a:t>문서 일치 · 필수 안내 · 없는 내용 추가 여부</a:t>
            </a:r>
          </a:p>
        </p:txBody>
      </p:sp>
      <p:sp>
        <p:nvSpPr>
          <p:cNvPr id="24" name="TextBox 23"/>
          <p:cNvSpPr txBox="1"/>
          <p:nvPr/>
        </p:nvSpPr>
        <p:spPr>
          <a:xfrm>
            <a:off x="5513832" y="5614416"/>
            <a:ext cx="5943600" cy="320040"/>
          </a:xfrm>
          <a:prstGeom prst="rect">
            <a:avLst/>
          </a:prstGeom>
          <a:noFill/>
        </p:spPr>
        <p:txBody>
          <a:bodyPr wrap="square" lIns="0" rIns="0" tIns="0" bIns="0">
            <a:spAutoFit/>
          </a:bodyPr>
          <a:lstStyle/>
          <a:p>
            <a:pPr>
              <a:lnSpc>
                <a:spcPct val="110000"/>
              </a:lnSpc>
              <a:spcAft>
                <a:spcPts val="400"/>
              </a:spcAft>
            </a:pPr>
            <a:r>
              <a:rPr sz="1200" b="0">
                <a:solidFill>
                  <a:srgbClr val="5B6B7C"/>
                </a:solidFill>
                <a:latin typeface="Malgun Gothic"/>
                <a:ea typeface="Malgun Gothic"/>
              </a:rPr>
              <a:t>필수 안내 누락은 해당 이슈가 기록된 응답 수</a:t>
            </a:r>
          </a:p>
        </p:txBody>
      </p:sp>
      <p:sp>
        <p:nvSpPr>
          <p:cNvPr id="25" name="TextBox 24"/>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Luna 선택 · 문서와의 일치·반복 통과·응답 시간을 종합 비교 · 당시 전체 문서 입력 조건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흐름 ⑤ 답변 생성</a:t>
            </a:r>
          </a:p>
        </p:txBody>
      </p:sp>
      <p:sp>
        <p:nvSpPr>
          <p:cNvPr id="3" name="Rounded Rectangle 2"/>
          <p:cNvSpPr/>
          <p:nvPr/>
        </p:nvSpPr>
        <p:spPr>
          <a:xfrm>
            <a:off x="5440680" y="329184"/>
            <a:ext cx="89611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문서 준비</a:t>
            </a:r>
          </a:p>
        </p:txBody>
      </p:sp>
      <p:sp>
        <p:nvSpPr>
          <p:cNvPr id="4" name="Rounded Rectangle 3"/>
          <p:cNvSpPr/>
          <p:nvPr/>
        </p:nvSpPr>
        <p:spPr>
          <a:xfrm>
            <a:off x="648309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① 접수</a:t>
            </a:r>
          </a:p>
        </p:txBody>
      </p:sp>
      <p:sp>
        <p:nvSpPr>
          <p:cNvPr id="5" name="Rounded Rectangle 4"/>
          <p:cNvSpPr/>
          <p:nvPr/>
        </p:nvSpPr>
        <p:spPr>
          <a:xfrm>
            <a:off x="7260336"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② 분류</a:t>
            </a:r>
          </a:p>
        </p:txBody>
      </p:sp>
      <p:sp>
        <p:nvSpPr>
          <p:cNvPr id="6" name="Rounded Rectangle 5"/>
          <p:cNvSpPr/>
          <p:nvPr/>
        </p:nvSpPr>
        <p:spPr>
          <a:xfrm>
            <a:off x="803757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③ 검색</a:t>
            </a:r>
          </a:p>
        </p:txBody>
      </p:sp>
      <p:sp>
        <p:nvSpPr>
          <p:cNvPr id="7" name="Rounded Rectangle 6"/>
          <p:cNvSpPr/>
          <p:nvPr/>
        </p:nvSpPr>
        <p:spPr>
          <a:xfrm>
            <a:off x="8814815" y="329184"/>
            <a:ext cx="731520"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④ 조립</a:t>
            </a:r>
          </a:p>
        </p:txBody>
      </p:sp>
      <p:sp>
        <p:nvSpPr>
          <p:cNvPr id="8" name="Rounded Rectangle 7"/>
          <p:cNvSpPr/>
          <p:nvPr/>
        </p:nvSpPr>
        <p:spPr>
          <a:xfrm>
            <a:off x="9592055" y="329184"/>
            <a:ext cx="731520" cy="274320"/>
          </a:xfrm>
          <a:prstGeom prst="roundRect">
            <a:avLst>
              <a:gd name="adj" fmla="val 50000"/>
            </a:avLst>
          </a:prstGeom>
          <a:solidFill>
            <a:srgbClr val="0A7E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1">
                <a:solidFill>
                  <a:srgbClr val="FFFFFF"/>
                </a:solidFill>
                <a:latin typeface="Malgun Gothic"/>
                <a:ea typeface="Malgun Gothic"/>
              </a:rPr>
              <a:t>⑤ 생성</a:t>
            </a:r>
          </a:p>
        </p:txBody>
      </p:sp>
      <p:sp>
        <p:nvSpPr>
          <p:cNvPr id="9" name="Rounded Rectangle 8"/>
          <p:cNvSpPr/>
          <p:nvPr/>
        </p:nvSpPr>
        <p:spPr>
          <a:xfrm>
            <a:off x="10369295" y="329184"/>
            <a:ext cx="1078992" cy="274320"/>
          </a:xfrm>
          <a:prstGeom prst="roundRect">
            <a:avLst>
              <a:gd name="adj" fmla="val 50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000" b="0">
                <a:solidFill>
                  <a:srgbClr val="5B6B7C"/>
                </a:solidFill>
                <a:latin typeface="Malgun Gothic"/>
                <a:ea typeface="Malgun Gothic"/>
              </a:rPr>
              <a:t>⑥ 응답 안내</a:t>
            </a:r>
          </a:p>
        </p:txBody>
      </p:sp>
      <p:sp>
        <p:nvSpPr>
          <p:cNvPr id="10" name="TextBox 9"/>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답변의 어떤 차이를 평가했나</a:t>
            </a:r>
          </a:p>
        </p:txBody>
      </p:sp>
      <p:sp>
        <p:nvSpPr>
          <p:cNvPr id="11" name="TextBox 10"/>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“신규 입사자가 사원증과 사무실 출입 권한을 받으려면 어떤 신청 절차가 필요한가요?”</a:t>
            </a:r>
          </a:p>
        </p:txBody>
      </p:sp>
      <p:sp>
        <p:nvSpPr>
          <p:cNvPr id="12" name="TextBox 11"/>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13" name="TextBox 12"/>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15</a:t>
            </a:r>
          </a:p>
        </p:txBody>
      </p:sp>
      <p:sp>
        <p:nvSpPr>
          <p:cNvPr id="14" name="Rounded Rectangle 13"/>
          <p:cNvSpPr/>
          <p:nvPr/>
        </p:nvSpPr>
        <p:spPr>
          <a:xfrm>
            <a:off x="685800" y="1783080"/>
            <a:ext cx="3108960" cy="4224528"/>
          </a:xfrm>
          <a:prstGeom prst="roundRect">
            <a:avLst>
              <a:gd name="adj" fmla="val 5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14400" y="1975104"/>
            <a:ext cx="2651760" cy="320040"/>
          </a:xfrm>
          <a:prstGeom prst="rect">
            <a:avLst/>
          </a:prstGeom>
          <a:noFill/>
        </p:spPr>
        <p:txBody>
          <a:bodyPr wrap="square" lIns="0" rIns="0" tIns="0" bIns="0">
            <a:spAutoFit/>
          </a:bodyPr>
          <a:lstStyle/>
          <a:p>
            <a:pPr>
              <a:lnSpc>
                <a:spcPct val="110000"/>
              </a:lnSpc>
              <a:spcAft>
                <a:spcPts val="400"/>
              </a:spcAft>
            </a:pPr>
            <a:r>
              <a:rPr sz="1800" b="1">
                <a:solidFill>
                  <a:srgbClr val="13263C"/>
                </a:solidFill>
                <a:latin typeface="Malgun Gothic"/>
                <a:ea typeface="Malgun Gothic"/>
              </a:rPr>
              <a:t>어떻게 판정했나</a:t>
            </a:r>
          </a:p>
        </p:txBody>
      </p:sp>
      <p:sp>
        <p:nvSpPr>
          <p:cNvPr id="16" name="TextBox 15"/>
          <p:cNvSpPr txBox="1"/>
          <p:nvPr/>
        </p:nvSpPr>
        <p:spPr>
          <a:xfrm>
            <a:off x="914400" y="2660904"/>
            <a:ext cx="2651760" cy="292608"/>
          </a:xfrm>
          <a:prstGeom prst="rect">
            <a:avLst/>
          </a:prstGeom>
          <a:noFill/>
        </p:spPr>
        <p:txBody>
          <a:bodyPr wrap="square" lIns="0" rIns="0" tIns="0" bIns="0">
            <a:spAutoFit/>
          </a:bodyPr>
          <a:lstStyle/>
          <a:p>
            <a:pPr>
              <a:lnSpc>
                <a:spcPct val="110000"/>
              </a:lnSpc>
              <a:spcAft>
                <a:spcPts val="400"/>
              </a:spcAft>
            </a:pPr>
            <a:r>
              <a:rPr sz="1500" b="1">
                <a:solidFill>
                  <a:srgbClr val="075E63"/>
                </a:solidFill>
                <a:latin typeface="Malgun Gothic"/>
                <a:ea typeface="Malgun Gothic"/>
              </a:rPr>
              <a:t>문서와의 일치</a:t>
            </a:r>
          </a:p>
        </p:txBody>
      </p:sp>
      <p:sp>
        <p:nvSpPr>
          <p:cNvPr id="17" name="TextBox 16"/>
          <p:cNvSpPr txBox="1"/>
          <p:nvPr/>
        </p:nvSpPr>
        <p:spPr>
          <a:xfrm>
            <a:off x="914400" y="3054096"/>
            <a:ext cx="2651760" cy="539496"/>
          </a:xfrm>
          <a:prstGeom prst="rect">
            <a:avLst/>
          </a:prstGeom>
          <a:noFill/>
        </p:spPr>
        <p:txBody>
          <a:bodyPr wrap="square" lIns="0" rIns="0" tIns="0" bIns="0">
            <a:spAutoFit/>
          </a:bodyPr>
          <a:lstStyle/>
          <a:p>
            <a:pPr>
              <a:lnSpc>
                <a:spcPct val="120000"/>
              </a:lnSpc>
              <a:spcAft>
                <a:spcPts val="0"/>
              </a:spcAft>
            </a:pPr>
            <a:r>
              <a:rPr sz="1200" b="0">
                <a:solidFill>
                  <a:srgbClr val="1B2A3A"/>
                </a:solidFill>
                <a:latin typeface="Malgun Gothic"/>
                <a:ea typeface="Malgun Gothic"/>
              </a:rPr>
              <a:t>담당 주체·순서·조건이</a:t>
            </a:r>
          </a:p>
          <a:p>
            <a:pPr>
              <a:lnSpc>
                <a:spcPct val="120000"/>
              </a:lnSpc>
              <a:spcAft>
                <a:spcPts val="0"/>
              </a:spcAft>
            </a:pPr>
            <a:r>
              <a:rPr sz="1200" b="0">
                <a:solidFill>
                  <a:srgbClr val="1B2A3A"/>
                </a:solidFill>
                <a:latin typeface="Malgun Gothic"/>
                <a:ea typeface="Malgun Gothic"/>
              </a:rPr>
              <a:t>원문과 같은가?</a:t>
            </a:r>
          </a:p>
        </p:txBody>
      </p:sp>
      <p:sp>
        <p:nvSpPr>
          <p:cNvPr id="18" name="TextBox 17"/>
          <p:cNvSpPr txBox="1"/>
          <p:nvPr/>
        </p:nvSpPr>
        <p:spPr>
          <a:xfrm>
            <a:off x="914400" y="3712464"/>
            <a:ext cx="2651760" cy="292608"/>
          </a:xfrm>
          <a:prstGeom prst="rect">
            <a:avLst/>
          </a:prstGeom>
          <a:noFill/>
        </p:spPr>
        <p:txBody>
          <a:bodyPr wrap="square" lIns="0" rIns="0" tIns="0" bIns="0">
            <a:spAutoFit/>
          </a:bodyPr>
          <a:lstStyle/>
          <a:p>
            <a:pPr>
              <a:lnSpc>
                <a:spcPct val="110000"/>
              </a:lnSpc>
              <a:spcAft>
                <a:spcPts val="400"/>
              </a:spcAft>
            </a:pPr>
            <a:r>
              <a:rPr sz="1500" b="1">
                <a:solidFill>
                  <a:srgbClr val="075E63"/>
                </a:solidFill>
                <a:latin typeface="Malgun Gothic"/>
                <a:ea typeface="Malgun Gothic"/>
              </a:rPr>
              <a:t>필수 안내의 완전성</a:t>
            </a:r>
          </a:p>
        </p:txBody>
      </p:sp>
      <p:sp>
        <p:nvSpPr>
          <p:cNvPr id="19" name="TextBox 18"/>
          <p:cNvSpPr txBox="1"/>
          <p:nvPr/>
        </p:nvSpPr>
        <p:spPr>
          <a:xfrm>
            <a:off x="914400" y="4105656"/>
            <a:ext cx="2651760" cy="539496"/>
          </a:xfrm>
          <a:prstGeom prst="rect">
            <a:avLst/>
          </a:prstGeom>
          <a:noFill/>
        </p:spPr>
        <p:txBody>
          <a:bodyPr wrap="square" lIns="0" rIns="0" tIns="0" bIns="0">
            <a:spAutoFit/>
          </a:bodyPr>
          <a:lstStyle/>
          <a:p>
            <a:pPr>
              <a:lnSpc>
                <a:spcPct val="120000"/>
              </a:lnSpc>
              <a:spcAft>
                <a:spcPts val="0"/>
              </a:spcAft>
            </a:pPr>
            <a:r>
              <a:rPr sz="1200" b="0">
                <a:solidFill>
                  <a:srgbClr val="1B2A3A"/>
                </a:solidFill>
                <a:latin typeface="Malgun Gothic"/>
                <a:ea typeface="Malgun Gothic"/>
              </a:rPr>
              <a:t>필요한 기한·예외·확인 절차가</a:t>
            </a:r>
          </a:p>
          <a:p>
            <a:pPr>
              <a:lnSpc>
                <a:spcPct val="120000"/>
              </a:lnSpc>
              <a:spcAft>
                <a:spcPts val="0"/>
              </a:spcAft>
            </a:pPr>
            <a:r>
              <a:rPr sz="1200" b="0">
                <a:solidFill>
                  <a:srgbClr val="1B2A3A"/>
                </a:solidFill>
                <a:latin typeface="Malgun Gothic"/>
                <a:ea typeface="Malgun Gothic"/>
              </a:rPr>
              <a:t>빠지지 않았는가?</a:t>
            </a:r>
          </a:p>
        </p:txBody>
      </p:sp>
      <p:sp>
        <p:nvSpPr>
          <p:cNvPr id="20" name="TextBox 19"/>
          <p:cNvSpPr txBox="1"/>
          <p:nvPr/>
        </p:nvSpPr>
        <p:spPr>
          <a:xfrm>
            <a:off x="914400" y="4764024"/>
            <a:ext cx="2651760" cy="292608"/>
          </a:xfrm>
          <a:prstGeom prst="rect">
            <a:avLst/>
          </a:prstGeom>
          <a:noFill/>
        </p:spPr>
        <p:txBody>
          <a:bodyPr wrap="square" lIns="0" rIns="0" tIns="0" bIns="0">
            <a:spAutoFit/>
          </a:bodyPr>
          <a:lstStyle/>
          <a:p>
            <a:pPr>
              <a:lnSpc>
                <a:spcPct val="110000"/>
              </a:lnSpc>
              <a:spcAft>
                <a:spcPts val="400"/>
              </a:spcAft>
            </a:pPr>
            <a:r>
              <a:rPr sz="1500" b="1">
                <a:solidFill>
                  <a:srgbClr val="075E63"/>
                </a:solidFill>
                <a:latin typeface="Malgun Gothic"/>
                <a:ea typeface="Malgun Gothic"/>
              </a:rPr>
              <a:t>근거 없는 주장</a:t>
            </a:r>
          </a:p>
        </p:txBody>
      </p:sp>
      <p:sp>
        <p:nvSpPr>
          <p:cNvPr id="21" name="TextBox 20"/>
          <p:cNvSpPr txBox="1"/>
          <p:nvPr/>
        </p:nvSpPr>
        <p:spPr>
          <a:xfrm>
            <a:off x="914400" y="5157216"/>
            <a:ext cx="2651760" cy="539496"/>
          </a:xfrm>
          <a:prstGeom prst="rect">
            <a:avLst/>
          </a:prstGeom>
          <a:noFill/>
        </p:spPr>
        <p:txBody>
          <a:bodyPr wrap="square" lIns="0" rIns="0" tIns="0" bIns="0">
            <a:spAutoFit/>
          </a:bodyPr>
          <a:lstStyle/>
          <a:p>
            <a:pPr>
              <a:lnSpc>
                <a:spcPct val="120000"/>
              </a:lnSpc>
              <a:spcAft>
                <a:spcPts val="0"/>
              </a:spcAft>
            </a:pPr>
            <a:r>
              <a:rPr sz="1200" b="0">
                <a:solidFill>
                  <a:srgbClr val="1B2A3A"/>
                </a:solidFill>
                <a:latin typeface="Malgun Gothic"/>
                <a:ea typeface="Malgun Gothic"/>
              </a:rPr>
              <a:t>없는 승인 절차·권한·정책을</a:t>
            </a:r>
          </a:p>
          <a:p>
            <a:pPr>
              <a:lnSpc>
                <a:spcPct val="120000"/>
              </a:lnSpc>
              <a:spcAft>
                <a:spcPts val="0"/>
              </a:spcAft>
            </a:pPr>
            <a:r>
              <a:rPr sz="1200" b="0">
                <a:solidFill>
                  <a:srgbClr val="1B2A3A"/>
                </a:solidFill>
                <a:latin typeface="Malgun Gothic"/>
                <a:ea typeface="Malgun Gothic"/>
              </a:rPr>
              <a:t>추가하지 않았는가?</a:t>
            </a:r>
          </a:p>
        </p:txBody>
      </p:sp>
      <p:sp>
        <p:nvSpPr>
          <p:cNvPr id="22" name="Rounded Rectangle 21"/>
          <p:cNvSpPr/>
          <p:nvPr/>
        </p:nvSpPr>
        <p:spPr>
          <a:xfrm>
            <a:off x="4069080" y="1783080"/>
            <a:ext cx="7452360" cy="411480"/>
          </a:xfrm>
          <a:prstGeom prst="roundRect">
            <a:avLst>
              <a:gd name="adj" fmla="val 5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300" b="1">
                <a:solidFill>
                  <a:srgbClr val="075E63"/>
                </a:solidFill>
                <a:latin typeface="Malgun Gothic"/>
                <a:ea typeface="Malgun Gothic"/>
              </a:rPr>
              <a:t>문서: People팀이 총무 요청 → 총무 담당자가 본인에게 카드 발급</a:t>
            </a:r>
          </a:p>
        </p:txBody>
      </p:sp>
      <p:sp>
        <p:nvSpPr>
          <p:cNvPr id="23" name="Rounded Rectangle 22"/>
          <p:cNvSpPr/>
          <p:nvPr/>
        </p:nvSpPr>
        <p:spPr>
          <a:xfrm>
            <a:off x="4069080" y="2340864"/>
            <a:ext cx="7452360" cy="1325880"/>
          </a:xfrm>
          <a:prstGeom prst="roundRect">
            <a:avLst>
              <a:gd name="adj" fmla="val 5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279392" y="2450592"/>
            <a:ext cx="4023360" cy="292608"/>
          </a:xfrm>
          <a:prstGeom prst="rect">
            <a:avLst/>
          </a:prstGeom>
          <a:noFill/>
        </p:spPr>
        <p:txBody>
          <a:bodyPr wrap="square" lIns="0" rIns="0" tIns="0" bIns="0">
            <a:spAutoFit/>
          </a:bodyPr>
          <a:lstStyle/>
          <a:p>
            <a:pPr>
              <a:lnSpc>
                <a:spcPct val="110000"/>
              </a:lnSpc>
              <a:spcAft>
                <a:spcPts val="400"/>
              </a:spcAft>
            </a:pPr>
            <a:r>
              <a:rPr sz="1700" b="1">
                <a:solidFill>
                  <a:srgbClr val="C2553F"/>
                </a:solidFill>
                <a:latin typeface="Malgun Gothic"/>
                <a:ea typeface="Malgun Gothic"/>
              </a:rPr>
              <a:t>Qwen3 4B</a:t>
            </a:r>
          </a:p>
        </p:txBody>
      </p:sp>
      <p:sp>
        <p:nvSpPr>
          <p:cNvPr id="25" name="Rounded Rectangle 24"/>
          <p:cNvSpPr/>
          <p:nvPr/>
        </p:nvSpPr>
        <p:spPr>
          <a:xfrm>
            <a:off x="9098280" y="2459736"/>
            <a:ext cx="2148840" cy="292608"/>
          </a:xfrm>
          <a:prstGeom prst="roundRect">
            <a:avLst>
              <a:gd name="adj" fmla="val 50000"/>
            </a:avLst>
          </a:prstGeom>
          <a:solidFill>
            <a:srgbClr val="FBE9E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C2553F"/>
                </a:solidFill>
                <a:latin typeface="Malgun Gothic"/>
                <a:ea typeface="Malgun Gothic"/>
              </a:rPr>
              <a:t>134.71초 · 실패</a:t>
            </a:r>
          </a:p>
        </p:txBody>
      </p:sp>
      <p:sp>
        <p:nvSpPr>
          <p:cNvPr id="26" name="TextBox 25"/>
          <p:cNvSpPr txBox="1"/>
          <p:nvPr/>
        </p:nvSpPr>
        <p:spPr>
          <a:xfrm>
            <a:off x="4279392" y="2834640"/>
            <a:ext cx="7031736" cy="603504"/>
          </a:xfrm>
          <a:prstGeom prst="rect">
            <a:avLst/>
          </a:prstGeom>
          <a:noFill/>
        </p:spPr>
        <p:txBody>
          <a:bodyPr wrap="square" lIns="0" rIns="0" tIns="0" bIns="0">
            <a:spAutoFit/>
          </a:bodyPr>
          <a:lstStyle/>
          <a:p>
            <a:pPr>
              <a:lnSpc>
                <a:spcPct val="110000"/>
              </a:lnSpc>
              <a:spcAft>
                <a:spcPts val="0"/>
              </a:spcAft>
            </a:pPr>
            <a:r>
              <a:rPr sz="1300" b="0">
                <a:solidFill>
                  <a:srgbClr val="1B2A3A"/>
                </a:solidFill>
                <a:latin typeface="Malgun Gothic"/>
                <a:ea typeface="Malgun Gothic"/>
              </a:rPr>
              <a:t>“사원증은 입사 후 팀장과 People팀의 확인을 거쳐 발급되며, 사무실 출입 권한은 팀장이 승인한 계정에 따라 발급됩니다.”</a:t>
            </a:r>
          </a:p>
        </p:txBody>
      </p:sp>
      <p:sp>
        <p:nvSpPr>
          <p:cNvPr id="27" name="TextBox 26"/>
          <p:cNvSpPr txBox="1"/>
          <p:nvPr/>
        </p:nvSpPr>
        <p:spPr>
          <a:xfrm>
            <a:off x="4279392" y="3383280"/>
            <a:ext cx="7031736" cy="256032"/>
          </a:xfrm>
          <a:prstGeom prst="rect">
            <a:avLst/>
          </a:prstGeom>
          <a:noFill/>
        </p:spPr>
        <p:txBody>
          <a:bodyPr wrap="square" lIns="0" rIns="0" tIns="0" bIns="0">
            <a:spAutoFit/>
          </a:bodyPr>
          <a:lstStyle/>
          <a:p>
            <a:pPr>
              <a:lnSpc>
                <a:spcPct val="110000"/>
              </a:lnSpc>
              <a:spcAft>
                <a:spcPts val="400"/>
              </a:spcAft>
            </a:pPr>
            <a:r>
              <a:rPr sz="1300" b="1">
                <a:solidFill>
                  <a:srgbClr val="C2553F"/>
                </a:solidFill>
                <a:latin typeface="Malgun Gothic"/>
                <a:ea typeface="Malgun Gothic"/>
              </a:rPr>
              <a:t>문서에 없는 승인 관계를 추가</a:t>
            </a:r>
          </a:p>
        </p:txBody>
      </p:sp>
      <p:sp>
        <p:nvSpPr>
          <p:cNvPr id="28" name="Rounded Rectangle 27"/>
          <p:cNvSpPr/>
          <p:nvPr/>
        </p:nvSpPr>
        <p:spPr>
          <a:xfrm>
            <a:off x="4069080" y="3785616"/>
            <a:ext cx="7452360" cy="1325880"/>
          </a:xfrm>
          <a:prstGeom prst="roundRect">
            <a:avLst>
              <a:gd name="adj" fmla="val 5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279392" y="3895344"/>
            <a:ext cx="4023360" cy="292608"/>
          </a:xfrm>
          <a:prstGeom prst="rect">
            <a:avLst/>
          </a:prstGeom>
          <a:noFill/>
        </p:spPr>
        <p:txBody>
          <a:bodyPr wrap="square" lIns="0" rIns="0" tIns="0" bIns="0">
            <a:spAutoFit/>
          </a:bodyPr>
          <a:lstStyle/>
          <a:p>
            <a:pPr>
              <a:lnSpc>
                <a:spcPct val="110000"/>
              </a:lnSpc>
              <a:spcAft>
                <a:spcPts val="400"/>
              </a:spcAft>
            </a:pPr>
            <a:r>
              <a:rPr sz="1700" b="1">
                <a:solidFill>
                  <a:srgbClr val="0A7E85"/>
                </a:solidFill>
                <a:latin typeface="Malgun Gothic"/>
                <a:ea typeface="Malgun Gothic"/>
              </a:rPr>
              <a:t>GPT-6 Luna</a:t>
            </a:r>
          </a:p>
        </p:txBody>
      </p:sp>
      <p:sp>
        <p:nvSpPr>
          <p:cNvPr id="30" name="Rounded Rectangle 29"/>
          <p:cNvSpPr/>
          <p:nvPr/>
        </p:nvSpPr>
        <p:spPr>
          <a:xfrm>
            <a:off x="9098280" y="3904488"/>
            <a:ext cx="2148840" cy="292608"/>
          </a:xfrm>
          <a:prstGeom prst="roundRect">
            <a:avLst>
              <a:gd name="adj" fmla="val 5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200" b="1">
                <a:solidFill>
                  <a:srgbClr val="0A7E85"/>
                </a:solidFill>
                <a:latin typeface="Malgun Gothic"/>
                <a:ea typeface="Malgun Gothic"/>
              </a:rPr>
              <a:t>14.12초 · 통과</a:t>
            </a:r>
          </a:p>
        </p:txBody>
      </p:sp>
      <p:sp>
        <p:nvSpPr>
          <p:cNvPr id="31" name="TextBox 30"/>
          <p:cNvSpPr txBox="1"/>
          <p:nvPr/>
        </p:nvSpPr>
        <p:spPr>
          <a:xfrm>
            <a:off x="4279392" y="4279392"/>
            <a:ext cx="7031736" cy="603504"/>
          </a:xfrm>
          <a:prstGeom prst="rect">
            <a:avLst/>
          </a:prstGeom>
          <a:noFill/>
        </p:spPr>
        <p:txBody>
          <a:bodyPr wrap="square" lIns="0" rIns="0" tIns="0" bIns="0">
            <a:spAutoFit/>
          </a:bodyPr>
          <a:lstStyle/>
          <a:p>
            <a:pPr>
              <a:lnSpc>
                <a:spcPct val="110000"/>
              </a:lnSpc>
              <a:spcAft>
                <a:spcPts val="0"/>
              </a:spcAft>
            </a:pPr>
            <a:r>
              <a:rPr sz="1300" b="0">
                <a:solidFill>
                  <a:srgbClr val="1B2A3A"/>
                </a:solidFill>
                <a:latin typeface="Malgun Gothic"/>
                <a:ea typeface="Malgun Gothic"/>
              </a:rPr>
              <a:t>“재직 상태와 근무 장소가 확인되면 People팀이 포털에서 총무 요청을 만들고, 총무 담당자가 신입사원 본인에게 카드를 발급합니다.”</a:t>
            </a:r>
          </a:p>
        </p:txBody>
      </p:sp>
      <p:sp>
        <p:nvSpPr>
          <p:cNvPr id="32" name="TextBox 31"/>
          <p:cNvSpPr txBox="1"/>
          <p:nvPr/>
        </p:nvSpPr>
        <p:spPr>
          <a:xfrm>
            <a:off x="4279392" y="4828032"/>
            <a:ext cx="7031736" cy="256032"/>
          </a:xfrm>
          <a:prstGeom prst="rect">
            <a:avLst/>
          </a:prstGeom>
          <a:noFill/>
        </p:spPr>
        <p:txBody>
          <a:bodyPr wrap="square" lIns="0" rIns="0" tIns="0" bIns="0">
            <a:spAutoFit/>
          </a:bodyPr>
          <a:lstStyle/>
          <a:p>
            <a:pPr>
              <a:lnSpc>
                <a:spcPct val="110000"/>
              </a:lnSpc>
              <a:spcAft>
                <a:spcPts val="400"/>
              </a:spcAft>
            </a:pPr>
            <a:r>
              <a:rPr sz="1300" b="1">
                <a:solidFill>
                  <a:srgbClr val="0A7E85"/>
                </a:solidFill>
                <a:latin typeface="Malgun Gothic"/>
                <a:ea typeface="Malgun Gothic"/>
              </a:rPr>
              <a:t>문서의 주체와 순서를 반영</a:t>
            </a:r>
          </a:p>
        </p:txBody>
      </p:sp>
      <p:sp>
        <p:nvSpPr>
          <p:cNvPr id="33" name="Rounded Rectangle 32"/>
          <p:cNvSpPr/>
          <p:nvPr/>
        </p:nvSpPr>
        <p:spPr>
          <a:xfrm>
            <a:off x="4069080" y="5266944"/>
            <a:ext cx="7452360" cy="740664"/>
          </a:xfrm>
          <a:prstGeom prst="roundRect">
            <a:avLst>
              <a:gd name="adj" fmla="val 8000"/>
            </a:avLst>
          </a:prstGeom>
          <a:solidFill>
            <a:srgbClr val="FBF1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279392" y="5376672"/>
            <a:ext cx="7031736" cy="246888"/>
          </a:xfrm>
          <a:prstGeom prst="rect">
            <a:avLst/>
          </a:prstGeom>
          <a:noFill/>
        </p:spPr>
        <p:txBody>
          <a:bodyPr wrap="square" lIns="0" rIns="0" tIns="0" bIns="0">
            <a:spAutoFit/>
          </a:bodyPr>
          <a:lstStyle/>
          <a:p>
            <a:pPr>
              <a:lnSpc>
                <a:spcPct val="110000"/>
              </a:lnSpc>
              <a:spcAft>
                <a:spcPts val="400"/>
              </a:spcAft>
            </a:pPr>
            <a:r>
              <a:rPr sz="1300" b="1">
                <a:solidFill>
                  <a:srgbClr val="B9822A"/>
                </a:solidFill>
                <a:latin typeface="Malgun Gothic"/>
                <a:ea typeface="Malgun Gothic"/>
              </a:rPr>
              <a:t>Luna · 출장 변경 · 19.21초 · 부분 충족</a:t>
            </a:r>
          </a:p>
        </p:txBody>
      </p:sp>
      <p:sp>
        <p:nvSpPr>
          <p:cNvPr id="35" name="TextBox 34"/>
          <p:cNvSpPr txBox="1"/>
          <p:nvPr/>
        </p:nvSpPr>
        <p:spPr>
          <a:xfrm>
            <a:off x="4279392" y="5715000"/>
            <a:ext cx="7031736" cy="228600"/>
          </a:xfrm>
          <a:prstGeom prst="rect">
            <a:avLst/>
          </a:prstGeom>
          <a:noFill/>
        </p:spPr>
        <p:txBody>
          <a:bodyPr wrap="square" lIns="0" rIns="0" tIns="0" bIns="0">
            <a:spAutoFit/>
          </a:bodyPr>
          <a:lstStyle/>
          <a:p>
            <a:pPr>
              <a:lnSpc>
                <a:spcPct val="110000"/>
              </a:lnSpc>
              <a:spcAft>
                <a:spcPts val="400"/>
              </a:spcAft>
            </a:pPr>
            <a:r>
              <a:rPr sz="1300" b="0">
                <a:solidFill>
                  <a:srgbClr val="1B2A3A"/>
                </a:solidFill>
                <a:latin typeface="Malgun Gothic"/>
                <a:ea typeface="Malgun Gothic"/>
              </a:rPr>
              <a:t>승인 총액이 20%를 넘게 늘 때 재승인이 필요하다는 조건 누락</a:t>
            </a:r>
          </a:p>
        </p:txBody>
      </p:sp>
      <p:sp>
        <p:nvSpPr>
          <p:cNvPr id="36" name="TextBox 35"/>
          <p:cNvSpPr txBox="1"/>
          <p:nvPr/>
        </p:nvSpPr>
        <p:spPr>
          <a:xfrm>
            <a:off x="685800" y="6172200"/>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통과: 필수 기준 충족 · 부분 충족: 필요한 안내 누락 · 실패: 중요한 사실·조건 오류 또는 형식 실패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3263C"/>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B9E1DD"/>
                </a:solidFill>
                <a:latin typeface="Malgun Gothic"/>
                <a:ea typeface="Malgun Gothic"/>
              </a:rPr>
              <a:t>사내비 프로젝트</a:t>
            </a:r>
          </a:p>
        </p:txBody>
      </p:sp>
      <p:sp>
        <p:nvSpPr>
          <p:cNvPr id="3" name="TextBox 2"/>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C9D6E3"/>
                </a:solidFill>
                <a:latin typeface="Malgun Gothic"/>
                <a:ea typeface="Malgun Gothic"/>
              </a:rPr>
              <a:t>LinkUp · 사내비 프로젝트</a:t>
            </a:r>
          </a:p>
        </p:txBody>
      </p:sp>
      <p:sp>
        <p:nvSpPr>
          <p:cNvPr id="4" name="TextBox 3"/>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B9E1DD"/>
                </a:solidFill>
                <a:latin typeface="Malgun Gothic"/>
                <a:ea typeface="Malgun Gothic"/>
              </a:rPr>
              <a:t>16</a:t>
            </a:r>
          </a:p>
        </p:txBody>
      </p:sp>
      <p:sp>
        <p:nvSpPr>
          <p:cNvPr id="5" name="TextBox 4"/>
          <p:cNvSpPr txBox="1"/>
          <p:nvPr/>
        </p:nvSpPr>
        <p:spPr>
          <a:xfrm>
            <a:off x="777240" y="1600200"/>
            <a:ext cx="7315200" cy="1463040"/>
          </a:xfrm>
          <a:prstGeom prst="rect">
            <a:avLst/>
          </a:prstGeom>
          <a:noFill/>
        </p:spPr>
        <p:txBody>
          <a:bodyPr wrap="square" lIns="0" rIns="0" tIns="0" bIns="0">
            <a:spAutoFit/>
          </a:bodyPr>
          <a:lstStyle/>
          <a:p>
            <a:pPr>
              <a:lnSpc>
                <a:spcPct val="115000"/>
              </a:lnSpc>
              <a:spcAft>
                <a:spcPts val="400"/>
              </a:spcAft>
            </a:pPr>
            <a:r>
              <a:rPr sz="4000" b="1">
                <a:solidFill>
                  <a:srgbClr val="FFFFFF"/>
                </a:solidFill>
                <a:latin typeface="Malgun Gothic"/>
                <a:ea typeface="Malgun Gothic"/>
              </a:rPr>
              <a:t>회사 규정이 궁금할 때,</a:t>
            </a:r>
          </a:p>
          <a:p>
            <a:pPr>
              <a:lnSpc>
                <a:spcPct val="115000"/>
              </a:lnSpc>
              <a:spcAft>
                <a:spcPts val="400"/>
              </a:spcAft>
            </a:pPr>
            <a:r>
              <a:rPr sz="4000" b="1">
                <a:solidFill>
                  <a:srgbClr val="FFFFFF"/>
                </a:solidFill>
                <a:latin typeface="Malgun Gothic"/>
                <a:ea typeface="Malgun Gothic"/>
              </a:rPr>
              <a:t>사내비에 질문하세요.</a:t>
            </a:r>
          </a:p>
        </p:txBody>
      </p:sp>
      <p:sp>
        <p:nvSpPr>
          <p:cNvPr id="6" name="Rounded Rectangle 5"/>
          <p:cNvSpPr/>
          <p:nvPr/>
        </p:nvSpPr>
        <p:spPr>
          <a:xfrm>
            <a:off x="822960" y="4343400"/>
            <a:ext cx="5852160" cy="566928"/>
          </a:xfrm>
          <a:prstGeom prst="roundRect">
            <a:avLst>
              <a:gd name="adj" fmla="val 3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97280" y="4443984"/>
            <a:ext cx="5486400" cy="365760"/>
          </a:xfrm>
          <a:prstGeom prst="rect">
            <a:avLst/>
          </a:prstGeom>
          <a:noFill/>
        </p:spPr>
        <p:txBody>
          <a:bodyPr wrap="square" lIns="0" rIns="0" tIns="0" bIns="0">
            <a:spAutoFit/>
          </a:bodyPr>
          <a:lstStyle/>
          <a:p>
            <a:pPr>
              <a:lnSpc>
                <a:spcPct val="110000"/>
              </a:lnSpc>
              <a:spcAft>
                <a:spcPts val="400"/>
              </a:spcAft>
            </a:pPr>
            <a:r>
              <a:rPr sz="1800" b="1">
                <a:solidFill>
                  <a:srgbClr val="0A7E85"/>
                </a:solidFill>
                <a:latin typeface="Malgun Gothic"/>
                <a:ea typeface="Malgun Gothic"/>
                <a:hlinkClick r:id="rId2"/>
              </a:rPr>
              <a:t>sanaebi.29232923.xyz/chat</a:t>
            </a:r>
          </a:p>
        </p:txBody>
      </p:sp>
      <p:sp>
        <p:nvSpPr>
          <p:cNvPr id="8" name="TextBox 7"/>
          <p:cNvSpPr txBox="1"/>
          <p:nvPr/>
        </p:nvSpPr>
        <p:spPr>
          <a:xfrm>
            <a:off x="822960" y="5074920"/>
            <a:ext cx="7406640" cy="274320"/>
          </a:xfrm>
          <a:prstGeom prst="rect">
            <a:avLst/>
          </a:prstGeom>
          <a:noFill/>
        </p:spPr>
        <p:txBody>
          <a:bodyPr wrap="square" lIns="0" rIns="0" tIns="0" bIns="0">
            <a:spAutoFit/>
          </a:bodyPr>
          <a:lstStyle/>
          <a:p>
            <a:pPr>
              <a:lnSpc>
                <a:spcPct val="110000"/>
              </a:lnSpc>
              <a:spcAft>
                <a:spcPts val="400"/>
              </a:spcAft>
            </a:pPr>
            <a:r>
              <a:rPr sz="1200" b="1">
                <a:solidFill>
                  <a:srgbClr val="B9E1DD"/>
                </a:solidFill>
                <a:latin typeface="Malgun Gothic"/>
                <a:ea typeface="Malgun Gothic"/>
              </a:rPr>
              <a:t>프로젝트 코드 · 실험 기록</a:t>
            </a:r>
          </a:p>
        </p:txBody>
      </p:sp>
      <p:sp>
        <p:nvSpPr>
          <p:cNvPr id="9" name="Rounded Rectangle 8"/>
          <p:cNvSpPr/>
          <p:nvPr/>
        </p:nvSpPr>
        <p:spPr>
          <a:xfrm>
            <a:off x="822960" y="5458968"/>
            <a:ext cx="7223760" cy="475488"/>
          </a:xfrm>
          <a:prstGeom prst="roundRect">
            <a:avLst>
              <a:gd name="adj" fmla="val 2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97280" y="5550408"/>
            <a:ext cx="6766560" cy="301752"/>
          </a:xfrm>
          <a:prstGeom prst="rect">
            <a:avLst/>
          </a:prstGeom>
          <a:noFill/>
        </p:spPr>
        <p:txBody>
          <a:bodyPr wrap="square" lIns="0" rIns="0" tIns="0" bIns="0">
            <a:spAutoFit/>
          </a:bodyPr>
          <a:lstStyle/>
          <a:p>
            <a:pPr>
              <a:lnSpc>
                <a:spcPct val="110000"/>
              </a:lnSpc>
              <a:spcAft>
                <a:spcPts val="400"/>
              </a:spcAft>
            </a:pPr>
            <a:r>
              <a:rPr sz="1800" b="1">
                <a:solidFill>
                  <a:srgbClr val="0A7E85"/>
                </a:solidFill>
                <a:latin typeface="Malgun Gothic"/>
                <a:ea typeface="Malgun Gothic"/>
                <a:hlinkClick r:id="rId3"/>
              </a:rPr>
              <a:t>github.com/KANT-2nd-project/sanaebi</a:t>
            </a:r>
          </a:p>
        </p:txBody>
      </p:sp>
      <p:sp>
        <p:nvSpPr>
          <p:cNvPr id="11" name="Rounded Rectangle 10"/>
          <p:cNvSpPr/>
          <p:nvPr/>
        </p:nvSpPr>
        <p:spPr>
          <a:xfrm>
            <a:off x="8549640" y="1600200"/>
            <a:ext cx="2971800" cy="2971800"/>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demo-qr.png"/>
          <p:cNvPicPr>
            <a:picLocks noChangeAspect="1"/>
          </p:cNvPicPr>
          <p:nvPr/>
        </p:nvPicPr>
        <p:blipFill>
          <a:blip r:embed="rId4"/>
          <a:stretch>
            <a:fillRect/>
          </a:stretch>
        </p:blipFill>
        <p:spPr>
          <a:xfrm>
            <a:off x="8686800" y="1737360"/>
            <a:ext cx="2697480" cy="26974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3263C"/>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B9E1DD"/>
                </a:solidFill>
                <a:latin typeface="Malgun Gothic"/>
                <a:ea typeface="Malgun Gothic"/>
              </a:rPr>
              <a:t>사내비 프로젝트 결과 발표</a:t>
            </a:r>
          </a:p>
        </p:txBody>
      </p:sp>
      <p:sp>
        <p:nvSpPr>
          <p:cNvPr id="3" name="TextBox 2"/>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C9D6E3"/>
                </a:solidFill>
                <a:latin typeface="Malgun Gothic"/>
                <a:ea typeface="Malgun Gothic"/>
              </a:rPr>
              <a:t>LinkUp · 사내비 프로젝트</a:t>
            </a:r>
          </a:p>
        </p:txBody>
      </p:sp>
      <p:sp>
        <p:nvSpPr>
          <p:cNvPr id="4" name="TextBox 3"/>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B9E1DD"/>
                </a:solidFill>
                <a:latin typeface="Malgun Gothic"/>
                <a:ea typeface="Malgun Gothic"/>
              </a:rPr>
              <a:t>17</a:t>
            </a:r>
          </a:p>
        </p:txBody>
      </p:sp>
      <p:sp>
        <p:nvSpPr>
          <p:cNvPr id="5" name="TextBox 4"/>
          <p:cNvSpPr txBox="1"/>
          <p:nvPr/>
        </p:nvSpPr>
        <p:spPr>
          <a:xfrm>
            <a:off x="822960" y="1874519"/>
            <a:ext cx="10515600" cy="914400"/>
          </a:xfrm>
          <a:prstGeom prst="rect">
            <a:avLst/>
          </a:prstGeom>
          <a:noFill/>
        </p:spPr>
        <p:txBody>
          <a:bodyPr wrap="square" lIns="0" rIns="0" tIns="0" bIns="0">
            <a:spAutoFit/>
          </a:bodyPr>
          <a:lstStyle/>
          <a:p>
            <a:pPr>
              <a:lnSpc>
                <a:spcPct val="110000"/>
              </a:lnSpc>
              <a:spcAft>
                <a:spcPts val="400"/>
              </a:spcAft>
            </a:pPr>
            <a:r>
              <a:rPr sz="5400" b="1">
                <a:solidFill>
                  <a:srgbClr val="FFFFFF"/>
                </a:solidFill>
                <a:latin typeface="Malgun Gothic"/>
                <a:ea typeface="Malgun Gothic"/>
              </a:rPr>
              <a:t>감사합니다</a:t>
            </a:r>
          </a:p>
        </p:txBody>
      </p:sp>
      <p:cxnSp>
        <p:nvCxnSpPr>
          <p:cNvPr id="6" name="Connector 5"/>
          <p:cNvCxnSpPr/>
          <p:nvPr/>
        </p:nvCxnSpPr>
        <p:spPr>
          <a:xfrm>
            <a:off x="868680" y="3227832"/>
            <a:ext cx="2057400" cy="0"/>
          </a:xfrm>
          <a:prstGeom prst="line">
            <a:avLst/>
          </a:prstGeom>
          <a:ln w="38100">
            <a:solidFill>
              <a:srgbClr val="0A7E85"/>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868680" y="3730752"/>
            <a:ext cx="10241280" cy="502920"/>
          </a:xfrm>
          <a:prstGeom prst="rect">
            <a:avLst/>
          </a:prstGeom>
          <a:noFill/>
        </p:spPr>
        <p:txBody>
          <a:bodyPr wrap="square" lIns="0" rIns="0" tIns="0" bIns="0">
            <a:spAutoFit/>
          </a:bodyPr>
          <a:lstStyle/>
          <a:p>
            <a:pPr>
              <a:lnSpc>
                <a:spcPct val="110000"/>
              </a:lnSpc>
              <a:spcAft>
                <a:spcPts val="400"/>
              </a:spcAft>
            </a:pPr>
            <a:r>
              <a:rPr sz="2500" b="0">
                <a:solidFill>
                  <a:srgbClr val="B9E1DD"/>
                </a:solidFill>
                <a:latin typeface="Malgun Gothic"/>
                <a:ea typeface="Malgun Gothic"/>
              </a:rPr>
              <a:t>질문을 받겠습니다.</a:t>
            </a:r>
          </a:p>
        </p:txBody>
      </p:sp>
      <p:sp>
        <p:nvSpPr>
          <p:cNvPr id="8" name="TextBox 7"/>
          <p:cNvSpPr txBox="1"/>
          <p:nvPr/>
        </p:nvSpPr>
        <p:spPr>
          <a:xfrm>
            <a:off x="868680" y="5266944"/>
            <a:ext cx="10241280" cy="365760"/>
          </a:xfrm>
          <a:prstGeom prst="rect">
            <a:avLst/>
          </a:prstGeom>
          <a:noFill/>
        </p:spPr>
        <p:txBody>
          <a:bodyPr wrap="square" lIns="0" rIns="0" tIns="0" bIns="0">
            <a:spAutoFit/>
          </a:bodyPr>
          <a:lstStyle/>
          <a:p>
            <a:pPr>
              <a:lnSpc>
                <a:spcPct val="110000"/>
              </a:lnSpc>
              <a:spcAft>
                <a:spcPts val="400"/>
              </a:spcAft>
            </a:pPr>
            <a:r>
              <a:rPr sz="1800" b="0">
                <a:solidFill>
                  <a:srgbClr val="C9D6E3"/>
                </a:solidFill>
                <a:latin typeface="Malgun Gothic"/>
                <a:ea typeface="Malgun Gothic"/>
              </a:rPr>
              <a:t>LinkUp · 사내비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왜 KoELECTRA를 선택했나?</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합성 질문 900개 · 같은 그룹 분할의 개발 평가 · Jev는 학습 없이 API 비교</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A1</a:t>
            </a:r>
          </a:p>
        </p:txBody>
      </p:sp>
      <p:graphicFrame>
        <p:nvGraphicFramePr>
          <p:cNvPr id="7" name="Table 6"/>
          <p:cNvGraphicFramePr>
            <a:graphicFrameLocks noGrp="1"/>
          </p:cNvGraphicFramePr>
          <p:nvPr/>
        </p:nvGraphicFramePr>
        <p:xfrm>
          <a:off x="685800" y="1810512"/>
          <a:ext cx="6903720" cy="3584448"/>
        </p:xfrm>
        <a:graphic>
          <a:graphicData uri="http://schemas.openxmlformats.org/drawingml/2006/table">
            <a:tbl>
              <a:tblPr firstRow="1" bandRow="1">
                <a:tableStyleId>{5C22544A-7EE6-4342-B048-85BDC9FD1C3A}</a:tableStyleId>
              </a:tblPr>
              <a:tblGrid>
                <a:gridCol w="2651760"/>
                <a:gridCol w="1325880"/>
                <a:gridCol w="1645920"/>
                <a:gridCol w="1280160"/>
              </a:tblGrid>
              <a:tr h="448056">
                <a:tc>
                  <a:txBody>
                    <a:bodyPr/>
                    <a:lstStyle/>
                    <a:p>
                      <a:pPr>
                        <a:lnSpc>
                          <a:spcPct val="100000"/>
                        </a:lnSpc>
                      </a:pPr>
                      <a:r>
                        <a:rPr sz="1300" b="1">
                          <a:solidFill>
                            <a:srgbClr val="FFFFFF"/>
                          </a:solidFill>
                          <a:latin typeface="Malgun Gothic"/>
                          <a:ea typeface="Malgun Gothic"/>
                        </a:rPr>
                        <a:t>모델</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1">
                          <a:solidFill>
                            <a:srgbClr val="FFFFFF"/>
                          </a:solidFill>
                          <a:latin typeface="Malgun Gothic"/>
                          <a:ea typeface="Malgun Gothic"/>
                        </a:rPr>
                        <a:t>검증 F1</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1">
                          <a:solidFill>
                            <a:srgbClr val="FFFFFF"/>
                          </a:solidFill>
                          <a:latin typeface="Malgun Gothic"/>
                          <a:ea typeface="Malgun Gothic"/>
                        </a:rPr>
                        <a:t>개발 test F1</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1">
                          <a:solidFill>
                            <a:srgbClr val="FFFFFF"/>
                          </a:solidFill>
                          <a:latin typeface="Malgun Gothic"/>
                          <a:ea typeface="Malgun Gothic"/>
                        </a:rPr>
                        <a:t>CPU ms</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448056">
                <a:tc>
                  <a:txBody>
                    <a:bodyPr/>
                    <a:lstStyle/>
                    <a:p>
                      <a:pPr>
                        <a:lnSpc>
                          <a:spcPct val="100000"/>
                        </a:lnSpc>
                      </a:pPr>
                      <a:r>
                        <a:rPr sz="1300" b="0">
                          <a:solidFill>
                            <a:srgbClr val="1B2A3A"/>
                          </a:solidFill>
                          <a:latin typeface="Malgun Gothic"/>
                          <a:ea typeface="Malgun Gothic"/>
                        </a:rPr>
                        <a:t>TF-IDF + LR</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0.9550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0.9778</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0.32</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48056">
                <a:tc>
                  <a:txBody>
                    <a:bodyPr/>
                    <a:lstStyle/>
                    <a:p>
                      <a:pPr>
                        <a:lnSpc>
                          <a:spcPct val="100000"/>
                        </a:lnSpc>
                      </a:pPr>
                      <a:r>
                        <a:rPr sz="1300" b="0">
                          <a:solidFill>
                            <a:srgbClr val="1B2A3A"/>
                          </a:solidFill>
                          <a:latin typeface="Malgun Gothic"/>
                          <a:ea typeface="Malgun Gothic"/>
                        </a:rPr>
                        <a:t>RoBERTa small</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0.9775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0.9778</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10.29</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48056">
                <a:tc>
                  <a:txBody>
                    <a:bodyPr/>
                    <a:lstStyle/>
                    <a:p>
                      <a:pPr>
                        <a:lnSpc>
                          <a:spcPct val="100000"/>
                        </a:lnSpc>
                      </a:pPr>
                      <a:r>
                        <a:rPr sz="1300" b="0">
                          <a:solidFill>
                            <a:srgbClr val="1B2A3A"/>
                          </a:solidFill>
                          <a:latin typeface="Malgun Gothic"/>
                          <a:ea typeface="Malgun Gothic"/>
                        </a:rPr>
                        <a:t>KoELECTRA small</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0.9850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0.9556</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4.43</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48056">
                <a:tc>
                  <a:txBody>
                    <a:bodyPr/>
                    <a:lstStyle/>
                    <a:p>
                      <a:pPr>
                        <a:lnSpc>
                          <a:spcPct val="100000"/>
                        </a:lnSpc>
                      </a:pPr>
                      <a:r>
                        <a:rPr sz="1300" b="0">
                          <a:solidFill>
                            <a:srgbClr val="1B2A3A"/>
                          </a:solidFill>
                          <a:latin typeface="Malgun Gothic"/>
                          <a:ea typeface="Malgun Gothic"/>
                        </a:rPr>
                        <a:t>BERT base</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0.9852</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0.9851</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20.20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48056">
                <a:tc>
                  <a:txBody>
                    <a:bodyPr/>
                    <a:lstStyle/>
                    <a:p>
                      <a:pPr>
                        <a:lnSpc>
                          <a:spcPct val="100000"/>
                        </a:lnSpc>
                      </a:pPr>
                      <a:r>
                        <a:rPr sz="1300" b="0">
                          <a:solidFill>
                            <a:srgbClr val="1B2A3A"/>
                          </a:solidFill>
                          <a:latin typeface="Malgun Gothic"/>
                          <a:ea typeface="Malgun Gothic"/>
                        </a:rPr>
                        <a:t>RoBERTa base</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1.0000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0.9629</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18.60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48056">
                <a:tc>
                  <a:txBody>
                    <a:bodyPr/>
                    <a:lstStyle/>
                    <a:p>
                      <a:pPr>
                        <a:lnSpc>
                          <a:spcPct val="100000"/>
                        </a:lnSpc>
                      </a:pPr>
                      <a:r>
                        <a:rPr sz="1300" b="1">
                          <a:solidFill>
                            <a:srgbClr val="075E63"/>
                          </a:solidFill>
                          <a:latin typeface="Malgun Gothic"/>
                          <a:ea typeface="Malgun Gothic"/>
                        </a:rPr>
                        <a:t>KoELECTRA base</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1">
                          <a:solidFill>
                            <a:srgbClr val="075E63"/>
                          </a:solidFill>
                          <a:latin typeface="Malgun Gothic"/>
                          <a:ea typeface="Malgun Gothic"/>
                        </a:rPr>
                        <a:t>0.9851</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1">
                          <a:solidFill>
                            <a:srgbClr val="075E63"/>
                          </a:solidFill>
                          <a:latin typeface="Malgun Gothic"/>
                          <a:ea typeface="Malgun Gothic"/>
                        </a:rPr>
                        <a:t>0.9851</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1">
                          <a:solidFill>
                            <a:srgbClr val="075E63"/>
                          </a:solidFill>
                          <a:latin typeface="Malgun Gothic"/>
                          <a:ea typeface="Malgun Gothic"/>
                        </a:rPr>
                        <a:t>17.91</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r>
              <a:tr h="448056">
                <a:tc>
                  <a:txBody>
                    <a:bodyPr/>
                    <a:lstStyle/>
                    <a:p>
                      <a:pPr>
                        <a:lnSpc>
                          <a:spcPct val="100000"/>
                        </a:lnSpc>
                      </a:pPr>
                      <a:r>
                        <a:rPr sz="1300" b="0">
                          <a:solidFill>
                            <a:srgbClr val="1B2A3A"/>
                          </a:solidFill>
                          <a:latin typeface="Malgun Gothic"/>
                          <a:ea typeface="Malgun Gothic"/>
                        </a:rPr>
                        <a:t>Jev · API</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0.9693</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0.9625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8" name="TextBox 7"/>
          <p:cNvSpPr txBox="1"/>
          <p:nvPr/>
        </p:nvSpPr>
        <p:spPr>
          <a:xfrm>
            <a:off x="7955279" y="1828800"/>
            <a:ext cx="3566160" cy="320040"/>
          </a:xfrm>
          <a:prstGeom prst="rect">
            <a:avLst/>
          </a:prstGeom>
          <a:noFill/>
        </p:spPr>
        <p:txBody>
          <a:bodyPr wrap="square" lIns="0" rIns="0" tIns="0" bIns="0">
            <a:spAutoFit/>
          </a:bodyPr>
          <a:lstStyle/>
          <a:p>
            <a:pPr>
              <a:lnSpc>
                <a:spcPct val="110000"/>
              </a:lnSpc>
              <a:spcAft>
                <a:spcPts val="400"/>
              </a:spcAft>
            </a:pPr>
            <a:r>
              <a:rPr sz="1600" b="1">
                <a:solidFill>
                  <a:srgbClr val="075E63"/>
                </a:solidFill>
                <a:latin typeface="Malgun Gothic"/>
                <a:ea typeface="Malgun Gothic"/>
              </a:rPr>
              <a:t>KoELECTRA · 학습률 2e-5</a:t>
            </a:r>
          </a:p>
        </p:txBody>
      </p:sp>
      <p:graphicFrame>
        <p:nvGraphicFramePr>
          <p:cNvPr id="9" name="Table 8"/>
          <p:cNvGraphicFramePr>
            <a:graphicFrameLocks noGrp="1"/>
          </p:cNvGraphicFramePr>
          <p:nvPr/>
        </p:nvGraphicFramePr>
        <p:xfrm>
          <a:off x="7955279" y="2350008"/>
          <a:ext cx="3566160" cy="2011680"/>
        </p:xfrm>
        <a:graphic>
          <a:graphicData uri="http://schemas.openxmlformats.org/drawingml/2006/table">
            <a:tbl>
              <a:tblPr firstRow="1" bandRow="1">
                <a:tableStyleId>{5C22544A-7EE6-4342-B048-85BDC9FD1C3A}</a:tableStyleId>
              </a:tblPr>
              <a:tblGrid>
                <a:gridCol w="1097280"/>
                <a:gridCol w="1188720"/>
                <a:gridCol w="1280160"/>
              </a:tblGrid>
              <a:tr h="502920">
                <a:tc>
                  <a:txBody>
                    <a:bodyPr/>
                    <a:lstStyle/>
                    <a:p>
                      <a:pPr algn="ctr">
                        <a:lnSpc>
                          <a:spcPct val="100000"/>
                        </a:lnSpc>
                      </a:pPr>
                      <a:r>
                        <a:rPr sz="1300" b="1">
                          <a:solidFill>
                            <a:srgbClr val="FFFFFF"/>
                          </a:solidFill>
                          <a:latin typeface="Malgun Gothic"/>
                          <a:ea typeface="Malgun Gothic"/>
                        </a:rPr>
                        <a:t>epoch</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1">
                          <a:solidFill>
                            <a:srgbClr val="FFFFFF"/>
                          </a:solidFill>
                          <a:latin typeface="Malgun Gothic"/>
                          <a:ea typeface="Malgun Gothic"/>
                        </a:rPr>
                        <a:t>loss</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1">
                          <a:solidFill>
                            <a:srgbClr val="FFFFFF"/>
                          </a:solidFill>
                          <a:latin typeface="Malgun Gothic"/>
                          <a:ea typeface="Malgun Gothic"/>
                        </a:rPr>
                        <a:t>검증 F1</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gn="ctr">
                        <a:lnSpc>
                          <a:spcPct val="100000"/>
                        </a:lnSpc>
                      </a:pPr>
                      <a:r>
                        <a:rPr sz="1300" b="0">
                          <a:solidFill>
                            <a:srgbClr val="1B2A3A"/>
                          </a:solidFill>
                          <a:latin typeface="Malgun Gothic"/>
                          <a:ea typeface="Malgun Gothic"/>
                        </a:rPr>
                        <a:t>1</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0.6690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0.9548</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gn="ctr">
                        <a:lnSpc>
                          <a:spcPct val="100000"/>
                        </a:lnSpc>
                      </a:pPr>
                      <a:r>
                        <a:rPr sz="1300" b="1">
                          <a:solidFill>
                            <a:srgbClr val="075E63"/>
                          </a:solidFill>
                          <a:latin typeface="Malgun Gothic"/>
                          <a:ea typeface="Malgun Gothic"/>
                        </a:rPr>
                        <a:t>2 · 선택</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1">
                          <a:solidFill>
                            <a:srgbClr val="075E63"/>
                          </a:solidFill>
                          <a:latin typeface="Malgun Gothic"/>
                          <a:ea typeface="Malgun Gothic"/>
                        </a:rPr>
                        <a:t>0.1244</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1">
                          <a:solidFill>
                            <a:srgbClr val="075E63"/>
                          </a:solidFill>
                          <a:latin typeface="Malgun Gothic"/>
                          <a:ea typeface="Malgun Gothic"/>
                        </a:rPr>
                        <a:t>0.9851</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gn="ctr">
                        <a:lnSpc>
                          <a:spcPct val="100000"/>
                        </a:lnSpc>
                      </a:pPr>
                      <a:r>
                        <a:rPr sz="1300" b="0">
                          <a:solidFill>
                            <a:srgbClr val="1B2A3A"/>
                          </a:solidFill>
                          <a:latin typeface="Malgun Gothic"/>
                          <a:ea typeface="Malgun Gothic"/>
                        </a:rPr>
                        <a:t>3</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0.0537</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300" b="0">
                          <a:solidFill>
                            <a:srgbClr val="1B2A3A"/>
                          </a:solidFill>
                          <a:latin typeface="Malgun Gothic"/>
                          <a:ea typeface="Malgun Gothic"/>
                        </a:rPr>
                        <a:t>0.9774</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10" name="Rounded Rectangle 9"/>
          <p:cNvSpPr/>
          <p:nvPr/>
        </p:nvSpPr>
        <p:spPr>
          <a:xfrm>
            <a:off x="7955279" y="4626864"/>
            <a:ext cx="3566160" cy="768096"/>
          </a:xfrm>
          <a:prstGeom prst="roundRect">
            <a:avLst>
              <a:gd name="adj" fmla="val 8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165592" y="4773168"/>
            <a:ext cx="3145536" cy="475488"/>
          </a:xfrm>
          <a:prstGeom prst="rect">
            <a:avLst/>
          </a:prstGeom>
          <a:noFill/>
        </p:spPr>
        <p:txBody>
          <a:bodyPr wrap="square" lIns="0" rIns="0" tIns="0" bIns="0">
            <a:spAutoFit/>
          </a:bodyPr>
          <a:lstStyle/>
          <a:p>
            <a:pPr>
              <a:lnSpc>
                <a:spcPct val="115000"/>
              </a:lnSpc>
              <a:spcAft>
                <a:spcPts val="0"/>
              </a:spcAft>
            </a:pPr>
            <a:r>
              <a:rPr sz="1300" b="1">
                <a:solidFill>
                  <a:srgbClr val="075E63"/>
                </a:solidFill>
                <a:latin typeface="Malgun Gothic"/>
                <a:ea typeface="Malgun Gothic"/>
              </a:rPr>
              <a:t>loss가 줄어도 검증 점수는 하락</a:t>
            </a:r>
          </a:p>
          <a:p>
            <a:pPr>
              <a:lnSpc>
                <a:spcPct val="115000"/>
              </a:lnSpc>
              <a:spcAft>
                <a:spcPts val="0"/>
              </a:spcAft>
            </a:pPr>
            <a:r>
              <a:rPr sz="1300" b="1">
                <a:solidFill>
                  <a:srgbClr val="075E63"/>
                </a:solidFill>
                <a:latin typeface="Malgun Gothic"/>
                <a:ea typeface="Malgun Gothic"/>
              </a:rPr>
              <a:t>검증 F1이 높은 2epoch 저장본 선택</a:t>
            </a:r>
          </a:p>
        </p:txBody>
      </p:sp>
      <p:sp>
        <p:nvSpPr>
          <p:cNvPr id="12" name="TextBox 11"/>
          <p:cNvSpPr txBox="1"/>
          <p:nvPr/>
        </p:nvSpPr>
        <p:spPr>
          <a:xfrm>
            <a:off x="731520" y="5614416"/>
            <a:ext cx="10789920" cy="292608"/>
          </a:xfrm>
          <a:prstGeom prst="rect">
            <a:avLst/>
          </a:prstGeom>
          <a:noFill/>
        </p:spPr>
        <p:txBody>
          <a:bodyPr wrap="square" lIns="0" rIns="0" tIns="0" bIns="0">
            <a:spAutoFit/>
          </a:bodyPr>
          <a:lstStyle/>
          <a:p>
            <a:pPr>
              <a:lnSpc>
                <a:spcPct val="110000"/>
              </a:lnSpc>
              <a:spcAft>
                <a:spcPts val="400"/>
              </a:spcAft>
            </a:pPr>
            <a:r>
              <a:rPr sz="1300" b="0">
                <a:solidFill>
                  <a:srgbClr val="5B6B7C"/>
                </a:solidFill>
                <a:latin typeface="Malgun Gothic"/>
                <a:ea typeface="Malgun Gothic"/>
              </a:rPr>
              <a:t>Jev  ·  train 예시 12개  ·  검증 HTTP 평균 194.50ms  ·  검증·test 오류 9건 모두 CLARIFY</a:t>
            </a:r>
          </a:p>
        </p:txBody>
      </p:sp>
      <p:sp>
        <p:nvSpPr>
          <p:cNvPr id="13" name="TextBox 12"/>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학습 632 / 검증 133 / 개발 test 135 · F1 = Macro-F1 · CPU와 HTTP 시간은 직접 순위 비교하지 않음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900개 질문은 어떻게 만들고 나눴나?</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답변용 회사 문서와 별도로 만든 요청 유형 분류용 합성 데이터</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A2</a:t>
            </a:r>
          </a:p>
        </p:txBody>
      </p:sp>
      <p:graphicFrame>
        <p:nvGraphicFramePr>
          <p:cNvPr id="7" name="Table 6"/>
          <p:cNvGraphicFramePr>
            <a:graphicFrameLocks noGrp="1"/>
          </p:cNvGraphicFramePr>
          <p:nvPr/>
        </p:nvGraphicFramePr>
        <p:xfrm>
          <a:off x="685800" y="1783080"/>
          <a:ext cx="6675120" cy="2788920"/>
        </p:xfrm>
        <a:graphic>
          <a:graphicData uri="http://schemas.openxmlformats.org/drawingml/2006/table">
            <a:tbl>
              <a:tblPr firstRow="1" bandRow="1">
                <a:tableStyleId>{5C22544A-7EE6-4342-B048-85BDC9FD1C3A}</a:tableStyleId>
              </a:tblPr>
              <a:tblGrid>
                <a:gridCol w="1508760"/>
                <a:gridCol w="1005840"/>
                <a:gridCol w="2971800"/>
                <a:gridCol w="1188720"/>
              </a:tblGrid>
              <a:tr h="557784">
                <a:tc>
                  <a:txBody>
                    <a:bodyPr/>
                    <a:lstStyle/>
                    <a:p>
                      <a:pPr>
                        <a:lnSpc>
                          <a:spcPct val="100000"/>
                        </a:lnSpc>
                      </a:pPr>
                      <a:r>
                        <a:rPr sz="1400" b="1">
                          <a:solidFill>
                            <a:srgbClr val="FFFFFF"/>
                          </a:solidFill>
                          <a:latin typeface="Malgun Gothic"/>
                          <a:ea typeface="Malgun Gothic"/>
                        </a:rPr>
                        <a:t>분할</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FFFFFF"/>
                          </a:solidFill>
                          <a:latin typeface="Malgun Gothic"/>
                          <a:ea typeface="Malgun Gothic"/>
                        </a:rPr>
                        <a:t>문항</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FFFFFF"/>
                          </a:solidFill>
                          <a:latin typeface="Malgun Gothic"/>
                          <a:ea typeface="Malgun Gothic"/>
                        </a:rPr>
                        <a:t>검색 / 확인 / 미지원</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FFFFFF"/>
                          </a:solidFill>
                          <a:latin typeface="Malgun Gothic"/>
                          <a:ea typeface="Malgun Gothic"/>
                        </a:rPr>
                        <a:t>그룹</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557784">
                <a:tc>
                  <a:txBody>
                    <a:bodyPr/>
                    <a:lstStyle/>
                    <a:p>
                      <a:pPr>
                        <a:lnSpc>
                          <a:spcPct val="100000"/>
                        </a:lnSpc>
                      </a:pPr>
                      <a:r>
                        <a:rPr sz="1400" b="0">
                          <a:solidFill>
                            <a:srgbClr val="1B2A3A"/>
                          </a:solidFill>
                          <a:latin typeface="Malgun Gothic"/>
                          <a:ea typeface="Malgun Gothic"/>
                        </a:rPr>
                        <a:t>학습</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632</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210 / 212 / 210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270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57784">
                <a:tc>
                  <a:txBody>
                    <a:bodyPr/>
                    <a:lstStyle/>
                    <a:p>
                      <a:pPr>
                        <a:lnSpc>
                          <a:spcPct val="100000"/>
                        </a:lnSpc>
                      </a:pPr>
                      <a:r>
                        <a:rPr sz="1400" b="0">
                          <a:solidFill>
                            <a:srgbClr val="1B2A3A"/>
                          </a:solidFill>
                          <a:latin typeface="Malgun Gothic"/>
                          <a:ea typeface="Malgun Gothic"/>
                        </a:rPr>
                        <a:t>검증</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133</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45 / 43 / 45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61</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57784">
                <a:tc>
                  <a:txBody>
                    <a:bodyPr/>
                    <a:lstStyle/>
                    <a:p>
                      <a:pPr>
                        <a:lnSpc>
                          <a:spcPct val="100000"/>
                        </a:lnSpc>
                      </a:pPr>
                      <a:r>
                        <a:rPr sz="1400" b="0">
                          <a:solidFill>
                            <a:srgbClr val="1B2A3A"/>
                          </a:solidFill>
                          <a:latin typeface="Malgun Gothic"/>
                          <a:ea typeface="Malgun Gothic"/>
                        </a:rPr>
                        <a:t>개발 test</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135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45 / 45 / 45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61</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57784">
                <a:tc>
                  <a:txBody>
                    <a:bodyPr/>
                    <a:lstStyle/>
                    <a:p>
                      <a:pPr>
                        <a:lnSpc>
                          <a:spcPct val="100000"/>
                        </a:lnSpc>
                      </a:pPr>
                      <a:r>
                        <a:rPr sz="1400" b="0">
                          <a:solidFill>
                            <a:srgbClr val="1B2A3A"/>
                          </a:solidFill>
                          <a:latin typeface="Malgun Gothic"/>
                          <a:ea typeface="Malgun Gothic"/>
                        </a:rPr>
                        <a:t>전체</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900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300 / 300 / 300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392</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8" name="Rounded Rectangle 7"/>
          <p:cNvSpPr/>
          <p:nvPr/>
        </p:nvSpPr>
        <p:spPr>
          <a:xfrm>
            <a:off x="7635240" y="1783080"/>
            <a:ext cx="3886200" cy="4206240"/>
          </a:xfrm>
          <a:prstGeom prst="roundRect">
            <a:avLst>
              <a:gd name="adj" fmla="val 6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82127" y="2011680"/>
            <a:ext cx="3383280" cy="274320"/>
          </a:xfrm>
          <a:prstGeom prst="rect">
            <a:avLst/>
          </a:prstGeom>
          <a:noFill/>
        </p:spPr>
        <p:txBody>
          <a:bodyPr wrap="square" lIns="0" rIns="0" tIns="0" bIns="0">
            <a:spAutoFit/>
          </a:bodyPr>
          <a:lstStyle/>
          <a:p>
            <a:pPr>
              <a:lnSpc>
                <a:spcPct val="110000"/>
              </a:lnSpc>
              <a:spcAft>
                <a:spcPts val="400"/>
              </a:spcAft>
            </a:pPr>
            <a:r>
              <a:rPr sz="1600" b="1">
                <a:solidFill>
                  <a:srgbClr val="075E63"/>
                </a:solidFill>
                <a:latin typeface="Malgun Gothic"/>
                <a:ea typeface="Malgun Gothic"/>
              </a:rPr>
              <a:t>작성</a:t>
            </a:r>
          </a:p>
        </p:txBody>
      </p:sp>
      <p:sp>
        <p:nvSpPr>
          <p:cNvPr id="10" name="TextBox 9"/>
          <p:cNvSpPr txBox="1"/>
          <p:nvPr/>
        </p:nvSpPr>
        <p:spPr>
          <a:xfrm>
            <a:off x="7882127" y="2441448"/>
            <a:ext cx="3383280" cy="640080"/>
          </a:xfrm>
          <a:prstGeom prst="rect">
            <a:avLst/>
          </a:prstGeom>
          <a:noFill/>
        </p:spPr>
        <p:txBody>
          <a:bodyPr wrap="square" lIns="0" rIns="0" tIns="0" bIns="0">
            <a:spAutoFit/>
          </a:bodyPr>
          <a:lstStyle/>
          <a:p>
            <a:pPr>
              <a:lnSpc>
                <a:spcPct val="118000"/>
              </a:lnSpc>
              <a:spcAft>
                <a:spcPts val="400"/>
              </a:spcAft>
            </a:pPr>
            <a:r>
              <a:rPr sz="1300" b="0">
                <a:solidFill>
                  <a:srgbClr val="1B2A3A"/>
                </a:solidFill>
                <a:latin typeface="Malgun Gothic"/>
                <a:ea typeface="Malgun Gothic"/>
              </a:rPr>
              <a:t>업무 영역 3개로 나눠 작성</a:t>
            </a:r>
          </a:p>
          <a:p>
            <a:pPr>
              <a:lnSpc>
                <a:spcPct val="118000"/>
              </a:lnSpc>
              <a:spcAft>
                <a:spcPts val="400"/>
              </a:spcAft>
            </a:pPr>
            <a:r>
              <a:rPr sz="1300" b="0">
                <a:solidFill>
                  <a:srgbClr val="1B2A3A"/>
                </a:solidFill>
                <a:latin typeface="Malgun Gothic"/>
                <a:ea typeface="Malgun Gothic"/>
              </a:rPr>
              <a:t>90문항 파일럿 후 810문항 추가</a:t>
            </a:r>
          </a:p>
        </p:txBody>
      </p:sp>
      <p:sp>
        <p:nvSpPr>
          <p:cNvPr id="11" name="TextBox 10"/>
          <p:cNvSpPr txBox="1"/>
          <p:nvPr/>
        </p:nvSpPr>
        <p:spPr>
          <a:xfrm>
            <a:off x="7882127" y="3273552"/>
            <a:ext cx="3383280" cy="274320"/>
          </a:xfrm>
          <a:prstGeom prst="rect">
            <a:avLst/>
          </a:prstGeom>
          <a:noFill/>
        </p:spPr>
        <p:txBody>
          <a:bodyPr wrap="square" lIns="0" rIns="0" tIns="0" bIns="0">
            <a:spAutoFit/>
          </a:bodyPr>
          <a:lstStyle/>
          <a:p>
            <a:pPr>
              <a:lnSpc>
                <a:spcPct val="110000"/>
              </a:lnSpc>
              <a:spcAft>
                <a:spcPts val="400"/>
              </a:spcAft>
            </a:pPr>
            <a:r>
              <a:rPr sz="1600" b="1">
                <a:solidFill>
                  <a:srgbClr val="075E63"/>
                </a:solidFill>
                <a:latin typeface="Malgun Gothic"/>
                <a:ea typeface="Malgun Gothic"/>
              </a:rPr>
              <a:t>검수</a:t>
            </a:r>
          </a:p>
        </p:txBody>
      </p:sp>
      <p:sp>
        <p:nvSpPr>
          <p:cNvPr id="12" name="TextBox 11"/>
          <p:cNvSpPr txBox="1"/>
          <p:nvPr/>
        </p:nvSpPr>
        <p:spPr>
          <a:xfrm>
            <a:off x="7882127" y="3703320"/>
            <a:ext cx="3383280" cy="640080"/>
          </a:xfrm>
          <a:prstGeom prst="rect">
            <a:avLst/>
          </a:prstGeom>
          <a:noFill/>
        </p:spPr>
        <p:txBody>
          <a:bodyPr wrap="square" lIns="0" rIns="0" tIns="0" bIns="0">
            <a:spAutoFit/>
          </a:bodyPr>
          <a:lstStyle/>
          <a:p>
            <a:pPr>
              <a:lnSpc>
                <a:spcPct val="118000"/>
              </a:lnSpc>
              <a:spcAft>
                <a:spcPts val="400"/>
              </a:spcAft>
            </a:pPr>
            <a:r>
              <a:rPr sz="1300" b="0">
                <a:solidFill>
                  <a:srgbClr val="1B2A3A"/>
                </a:solidFill>
                <a:latin typeface="Malgun Gothic"/>
                <a:ea typeface="Malgun Gothic"/>
              </a:rPr>
              <a:t>작성과 분리한 AI 2종이 전량 검수</a:t>
            </a:r>
          </a:p>
          <a:p>
            <a:pPr>
              <a:lnSpc>
                <a:spcPct val="118000"/>
              </a:lnSpc>
              <a:spcAft>
                <a:spcPts val="400"/>
              </a:spcAft>
            </a:pPr>
            <a:r>
              <a:rPr sz="1300" b="0">
                <a:solidFill>
                  <a:srgbClr val="1B2A3A"/>
                </a:solidFill>
                <a:latin typeface="Malgun Gothic"/>
                <a:ea typeface="Malgun Gothic"/>
              </a:rPr>
              <a:t>라벨·작성자·상대 판정 비공개</a:t>
            </a:r>
          </a:p>
        </p:txBody>
      </p:sp>
      <p:sp>
        <p:nvSpPr>
          <p:cNvPr id="13" name="TextBox 12"/>
          <p:cNvSpPr txBox="1"/>
          <p:nvPr/>
        </p:nvSpPr>
        <p:spPr>
          <a:xfrm>
            <a:off x="7882127" y="4535424"/>
            <a:ext cx="3383280" cy="274320"/>
          </a:xfrm>
          <a:prstGeom prst="rect">
            <a:avLst/>
          </a:prstGeom>
          <a:noFill/>
        </p:spPr>
        <p:txBody>
          <a:bodyPr wrap="square" lIns="0" rIns="0" tIns="0" bIns="0">
            <a:spAutoFit/>
          </a:bodyPr>
          <a:lstStyle/>
          <a:p>
            <a:pPr>
              <a:lnSpc>
                <a:spcPct val="110000"/>
              </a:lnSpc>
              <a:spcAft>
                <a:spcPts val="400"/>
              </a:spcAft>
            </a:pPr>
            <a:r>
              <a:rPr sz="1600" b="1">
                <a:solidFill>
                  <a:srgbClr val="075E63"/>
                </a:solidFill>
                <a:latin typeface="Malgun Gothic"/>
                <a:ea typeface="Malgun Gothic"/>
              </a:rPr>
              <a:t>조정</a:t>
            </a:r>
          </a:p>
        </p:txBody>
      </p:sp>
      <p:sp>
        <p:nvSpPr>
          <p:cNvPr id="14" name="TextBox 13"/>
          <p:cNvSpPr txBox="1"/>
          <p:nvPr/>
        </p:nvSpPr>
        <p:spPr>
          <a:xfrm>
            <a:off x="7882127" y="4965192"/>
            <a:ext cx="3383280" cy="640080"/>
          </a:xfrm>
          <a:prstGeom prst="rect">
            <a:avLst/>
          </a:prstGeom>
          <a:noFill/>
        </p:spPr>
        <p:txBody>
          <a:bodyPr wrap="square" lIns="0" rIns="0" tIns="0" bIns="0">
            <a:spAutoFit/>
          </a:bodyPr>
          <a:lstStyle/>
          <a:p>
            <a:pPr>
              <a:lnSpc>
                <a:spcPct val="118000"/>
              </a:lnSpc>
              <a:spcAft>
                <a:spcPts val="400"/>
              </a:spcAft>
            </a:pPr>
            <a:r>
              <a:rPr sz="1300" b="0">
                <a:solidFill>
                  <a:srgbClr val="1B2A3A"/>
                </a:solidFill>
                <a:latin typeface="Malgun Gothic"/>
                <a:ea typeface="Malgun Gothic"/>
              </a:rPr>
              <a:t>최종 라벨 일치 884/900</a:t>
            </a:r>
          </a:p>
          <a:p>
            <a:pPr>
              <a:lnSpc>
                <a:spcPct val="118000"/>
              </a:lnSpc>
              <a:spcAft>
                <a:spcPts val="400"/>
              </a:spcAft>
            </a:pPr>
            <a:r>
              <a:rPr sz="1300" b="0">
                <a:solidFill>
                  <a:srgbClr val="1B2A3A"/>
                </a:solidFill>
                <a:latin typeface="Malgun Gothic"/>
                <a:ea typeface="Malgun Gothic"/>
              </a:rPr>
              <a:t>의견 차이·품질 지적 21건 조정</a:t>
            </a:r>
          </a:p>
        </p:txBody>
      </p:sp>
      <p:sp>
        <p:nvSpPr>
          <p:cNvPr id="15" name="TextBox 14"/>
          <p:cNvSpPr txBox="1"/>
          <p:nvPr/>
        </p:nvSpPr>
        <p:spPr>
          <a:xfrm>
            <a:off x="731520" y="4892040"/>
            <a:ext cx="6583680" cy="365760"/>
          </a:xfrm>
          <a:prstGeom prst="rect">
            <a:avLst/>
          </a:prstGeom>
          <a:noFill/>
        </p:spPr>
        <p:txBody>
          <a:bodyPr wrap="square" lIns="0" rIns="0" tIns="0" bIns="0">
            <a:spAutoFit/>
          </a:bodyPr>
          <a:lstStyle/>
          <a:p>
            <a:pPr>
              <a:lnSpc>
                <a:spcPct val="110000"/>
              </a:lnSpc>
              <a:spcAft>
                <a:spcPts val="400"/>
              </a:spcAft>
            </a:pPr>
            <a:r>
              <a:rPr sz="1500" b="1">
                <a:solidFill>
                  <a:srgbClr val="075E63"/>
                </a:solidFill>
                <a:latin typeface="Malgun Gothic"/>
                <a:ea typeface="Malgun Gothic"/>
              </a:rPr>
              <a:t>같은 상황의 표현 변형·대조 질문은 같은 그룹으로</a:t>
            </a:r>
          </a:p>
        </p:txBody>
      </p:sp>
      <p:sp>
        <p:nvSpPr>
          <p:cNvPr id="16" name="TextBox 15"/>
          <p:cNvSpPr txBox="1"/>
          <p:nvPr/>
        </p:nvSpPr>
        <p:spPr>
          <a:xfrm>
            <a:off x="731520" y="5422392"/>
            <a:ext cx="6583680" cy="457200"/>
          </a:xfrm>
          <a:prstGeom prst="rect">
            <a:avLst/>
          </a:prstGeom>
          <a:noFill/>
        </p:spPr>
        <p:txBody>
          <a:bodyPr wrap="square" lIns="0" rIns="0" tIns="0" bIns="0">
            <a:spAutoFit/>
          </a:bodyPr>
          <a:lstStyle/>
          <a:p>
            <a:pPr>
              <a:lnSpc>
                <a:spcPct val="118000"/>
              </a:lnSpc>
              <a:spcAft>
                <a:spcPts val="400"/>
              </a:spcAft>
            </a:pPr>
            <a:r>
              <a:rPr sz="1300" b="0">
                <a:solidFill>
                  <a:srgbClr val="5B6B7C"/>
                </a:solidFill>
                <a:latin typeface="Malgun Gothic"/>
                <a:ea typeface="Malgun Gothic"/>
              </a:rPr>
              <a:t>그룹·정규화 질문의 분할 간 중복 0건</a:t>
            </a:r>
          </a:p>
          <a:p>
            <a:pPr>
              <a:lnSpc>
                <a:spcPct val="118000"/>
              </a:lnSpc>
              <a:spcAft>
                <a:spcPts val="400"/>
              </a:spcAft>
            </a:pPr>
            <a:r>
              <a:rPr sz="1300" b="0">
                <a:solidFill>
                  <a:srgbClr val="5B6B7C"/>
                </a:solidFill>
                <a:latin typeface="Malgun Gothic"/>
                <a:ea typeface="Malgun Gothic"/>
              </a:rPr>
              <a:t>학습 입력은 현재 질문 텍스트만 사용</a:t>
            </a:r>
          </a:p>
        </p:txBody>
      </p:sp>
      <p:sp>
        <p:nvSpPr>
          <p:cNvPr id="17" name="TextBox 16"/>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검수자 일치 수는 모델 정확도가 아님 · AI 합성·검수 자료이며 사람 정답 승인은 없음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라벨을 참고로만 쓸 거면 분류가 왜 필요한가?</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분류 라벨은 근거 존재나 응답 품질을 보장하지 않습니다</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A3</a:t>
            </a:r>
          </a:p>
        </p:txBody>
      </p:sp>
      <p:graphicFrame>
        <p:nvGraphicFramePr>
          <p:cNvPr id="7" name="Table 6"/>
          <p:cNvGraphicFramePr>
            <a:graphicFrameLocks noGrp="1"/>
          </p:cNvGraphicFramePr>
          <p:nvPr/>
        </p:nvGraphicFramePr>
        <p:xfrm>
          <a:off x="685800" y="1783080"/>
          <a:ext cx="10835640" cy="2651760"/>
        </p:xfrm>
        <a:graphic>
          <a:graphicData uri="http://schemas.openxmlformats.org/drawingml/2006/table">
            <a:tbl>
              <a:tblPr firstRow="1" bandRow="1">
                <a:tableStyleId>{5C22544A-7EE6-4342-B048-85BDC9FD1C3A}</a:tableStyleId>
              </a:tblPr>
              <a:tblGrid>
                <a:gridCol w="2606040"/>
                <a:gridCol w="4114800"/>
                <a:gridCol w="4114800"/>
              </a:tblGrid>
              <a:tr h="530352">
                <a:tc>
                  <a:txBody>
                    <a:bodyPr/>
                    <a:lstStyle/>
                    <a:p>
                      <a:pPr>
                        <a:lnSpc>
                          <a:spcPct val="100000"/>
                        </a:lnSpc>
                      </a:pPr>
                      <a:r>
                        <a:rPr sz="1500" b="1">
                          <a:solidFill>
                            <a:srgbClr val="FFFFFF"/>
                          </a:solidFill>
                          <a:latin typeface="Malgun Gothic"/>
                          <a:ea typeface="Malgun Gothic"/>
                        </a:rPr>
                        <a:t>단계</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1">
                          <a:solidFill>
                            <a:srgbClr val="FFFFFF"/>
                          </a:solidFill>
                          <a:latin typeface="Malgun Gothic"/>
                          <a:ea typeface="Malgun Gothic"/>
                        </a:rPr>
                        <a:t>의도와 관측</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1">
                          <a:solidFill>
                            <a:srgbClr val="FFFFFF"/>
                          </a:solidFill>
                          <a:latin typeface="Malgun Gothic"/>
                          <a:ea typeface="Malgun Gothic"/>
                        </a:rPr>
                        <a:t>설계에 반영한 점</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530352">
                <a:tc>
                  <a:txBody>
                    <a:bodyPr/>
                    <a:lstStyle/>
                    <a:p>
                      <a:pPr>
                        <a:lnSpc>
                          <a:spcPct val="100000"/>
                        </a:lnSpc>
                      </a:pPr>
                      <a:r>
                        <a:rPr sz="1500" b="0">
                          <a:solidFill>
                            <a:srgbClr val="1B2A3A"/>
                          </a:solidFill>
                          <a:latin typeface="Malgun Gothic"/>
                          <a:ea typeface="Malgun Gothic"/>
                        </a:rPr>
                        <a:t>초기 Routing</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유형을 나누어 후속 처리 결정</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세 라벨은 서비스 자체의 기준</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30352">
                <a:tc>
                  <a:txBody>
                    <a:bodyPr/>
                    <a:lstStyle/>
                    <a:p>
                      <a:pPr>
                        <a:lnSpc>
                          <a:spcPct val="100000"/>
                        </a:lnSpc>
                      </a:pPr>
                      <a:r>
                        <a:rPr sz="1500" b="0">
                          <a:solidFill>
                            <a:srgbClr val="1B2A3A"/>
                          </a:solidFill>
                          <a:latin typeface="Malgun Gothic"/>
                          <a:ea typeface="Malgun Gothic"/>
                        </a:rPr>
                        <a:t>강제 차단 비교</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정상 연차 질문이 차단됨</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원질문과 문서 확인을 우선</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30352">
                <a:tc>
                  <a:txBody>
                    <a:bodyPr/>
                    <a:lstStyle/>
                    <a:p>
                      <a:pPr>
                        <a:lnSpc>
                          <a:spcPct val="100000"/>
                        </a:lnSpc>
                      </a:pPr>
                      <a:r>
                        <a:rPr sz="1500" b="0">
                          <a:solidFill>
                            <a:srgbClr val="1B2A3A"/>
                          </a:solidFill>
                          <a:latin typeface="Malgun Gothic"/>
                          <a:ea typeface="Malgun Gothic"/>
                        </a:rPr>
                        <a:t>관찰만</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분류 결과를 기록만 함</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생성 프롬프트에는 미전달</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30352">
                <a:tc>
                  <a:txBody>
                    <a:bodyPr/>
                    <a:lstStyle/>
                    <a:p>
                      <a:pPr>
                        <a:lnSpc>
                          <a:spcPct val="100000"/>
                        </a:lnSpc>
                      </a:pPr>
                      <a:r>
                        <a:rPr sz="1500" b="1">
                          <a:solidFill>
                            <a:srgbClr val="075E63"/>
                          </a:solidFill>
                          <a:latin typeface="Malgun Gothic"/>
                          <a:ea typeface="Malgun Gothic"/>
                        </a:rPr>
                        <a:t>현재 참고 전달</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1">
                          <a:solidFill>
                            <a:srgbClr val="075E63"/>
                          </a:solidFill>
                          <a:latin typeface="Malgun Gothic"/>
                          <a:ea typeface="Malgun Gothic"/>
                        </a:rPr>
                        <a:t>공통 지침과 서버 예측 라벨 전달</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1">
                          <a:solidFill>
                            <a:srgbClr val="075E63"/>
                          </a:solidFill>
                          <a:latin typeface="Malgun Gothic"/>
                          <a:ea typeface="Malgun Gothic"/>
                        </a:rPr>
                        <a:t>오류 가능한 참고 정보로 사용</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8" name="TextBox 7"/>
          <p:cNvSpPr txBox="1"/>
          <p:nvPr/>
        </p:nvSpPr>
        <p:spPr>
          <a:xfrm>
            <a:off x="731520" y="4663440"/>
            <a:ext cx="10789920" cy="365760"/>
          </a:xfrm>
          <a:prstGeom prst="rect">
            <a:avLst/>
          </a:prstGeom>
          <a:noFill/>
        </p:spPr>
        <p:txBody>
          <a:bodyPr wrap="square" lIns="0" rIns="0" tIns="0" bIns="0">
            <a:spAutoFit/>
          </a:bodyPr>
          <a:lstStyle/>
          <a:p>
            <a:pPr>
              <a:lnSpc>
                <a:spcPct val="110000"/>
              </a:lnSpc>
              <a:spcAft>
                <a:spcPts val="400"/>
              </a:spcAft>
            </a:pPr>
            <a:r>
              <a:rPr sz="1700" b="1">
                <a:solidFill>
                  <a:srgbClr val="075E63"/>
                </a:solidFill>
                <a:latin typeface="Malgun Gothic"/>
                <a:ea typeface="Malgun Gothic"/>
              </a:rPr>
              <a:t>KURE 소규모 A/C 비교: 4/5 대 3/5 · 다른 주제 3/5 대 4/5</a:t>
            </a:r>
          </a:p>
        </p:txBody>
      </p:sp>
      <p:sp>
        <p:nvSpPr>
          <p:cNvPr id="9" name="TextBox 8"/>
          <p:cNvSpPr txBox="1"/>
          <p:nvPr/>
        </p:nvSpPr>
        <p:spPr>
          <a:xfrm>
            <a:off x="731520" y="5120640"/>
            <a:ext cx="10789920" cy="365760"/>
          </a:xfrm>
          <a:prstGeom prst="rect">
            <a:avLst/>
          </a:prstGeom>
          <a:noFill/>
        </p:spPr>
        <p:txBody>
          <a:bodyPr wrap="square" lIns="0" rIns="0" tIns="0" bIns="0">
            <a:spAutoFit/>
          </a:bodyPr>
          <a:lstStyle/>
          <a:p>
            <a:pPr>
              <a:lnSpc>
                <a:spcPct val="110000"/>
              </a:lnSpc>
              <a:spcAft>
                <a:spcPts val="400"/>
              </a:spcAft>
            </a:pPr>
            <a:r>
              <a:rPr sz="1500" b="0">
                <a:solidFill>
                  <a:srgbClr val="1B2A3A"/>
                </a:solidFill>
                <a:latin typeface="Malgun Gothic"/>
                <a:ea typeface="Malgun Gothic"/>
              </a:rPr>
              <a:t>일관된 품질 우위는 확인하지 못했으며, 분류를 참고시키는 설계 의도로 채택</a:t>
            </a:r>
          </a:p>
        </p:txBody>
      </p:sp>
      <p:sp>
        <p:nvSpPr>
          <p:cNvPr id="10" name="TextBox 9"/>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A = 라벨 미전달 · C = 공통 지침 + 라벨 · 작은 합성 자료·AI 판정 · 라벨 없는 공통 지침 대조군 없음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가상 회사 문서는 어떻게 믿을 수 있게 준비했나?</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참고 출처·회사 고유 결정·작성·검수 기록을 각각 남겼습니다</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A4</a:t>
            </a:r>
          </a:p>
        </p:txBody>
      </p:sp>
      <p:graphicFrame>
        <p:nvGraphicFramePr>
          <p:cNvPr id="7" name="Table 6"/>
          <p:cNvGraphicFramePr>
            <a:graphicFrameLocks noGrp="1"/>
          </p:cNvGraphicFramePr>
          <p:nvPr/>
        </p:nvGraphicFramePr>
        <p:xfrm>
          <a:off x="685800" y="1783080"/>
          <a:ext cx="10835640" cy="3456432"/>
        </p:xfrm>
        <a:graphic>
          <a:graphicData uri="http://schemas.openxmlformats.org/drawingml/2006/table">
            <a:tbl>
              <a:tblPr firstRow="1" bandRow="1">
                <a:tableStyleId>{5C22544A-7EE6-4342-B048-85BDC9FD1C3A}</a:tableStyleId>
              </a:tblPr>
              <a:tblGrid>
                <a:gridCol w="1463040"/>
                <a:gridCol w="4023360"/>
                <a:gridCol w="5349240"/>
              </a:tblGrid>
              <a:tr h="576072">
                <a:tc>
                  <a:txBody>
                    <a:bodyPr/>
                    <a:lstStyle/>
                    <a:p>
                      <a:pPr>
                        <a:lnSpc>
                          <a:spcPct val="100000"/>
                        </a:lnSpc>
                      </a:pPr>
                      <a:r>
                        <a:rPr sz="1300" b="1">
                          <a:solidFill>
                            <a:srgbClr val="FFFFFF"/>
                          </a:solidFill>
                          <a:latin typeface="Malgun Gothic"/>
                          <a:ea typeface="Malgun Gothic"/>
                        </a:rPr>
                        <a:t>단계</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1">
                          <a:solidFill>
                            <a:srgbClr val="FFFFFF"/>
                          </a:solidFill>
                          <a:latin typeface="Malgun Gothic"/>
                          <a:ea typeface="Malgun Gothic"/>
                        </a:rPr>
                        <a:t>실제로 한 일</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1">
                          <a:solidFill>
                            <a:srgbClr val="FFFFFF"/>
                          </a:solidFill>
                          <a:latin typeface="Malgun Gothic"/>
                          <a:ea typeface="Malgun Gothic"/>
                        </a:rPr>
                        <a:t>예시·기록</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576072">
                <a:tc>
                  <a:txBody>
                    <a:bodyPr/>
                    <a:lstStyle/>
                    <a:p>
                      <a:pPr>
                        <a:lnSpc>
                          <a:spcPct val="100000"/>
                        </a:lnSpc>
                      </a:pPr>
                      <a:r>
                        <a:rPr sz="1300" b="0">
                          <a:solidFill>
                            <a:srgbClr val="1B2A3A"/>
                          </a:solidFill>
                          <a:latin typeface="Malgun Gothic"/>
                          <a:ea typeface="Malgun Gothic"/>
                        </a:rPr>
                        <a:t>자료 선별</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0">
                          <a:solidFill>
                            <a:srgbClr val="1B2A3A"/>
                          </a:solidFill>
                          <a:latin typeface="Malgun Gothic"/>
                          <a:ea typeface="Malgun Gothic"/>
                        </a:rPr>
                        <a:t>업무별 관련 절·활용 범위 기록</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0">
                          <a:solidFill>
                            <a:srgbClr val="1B2A3A"/>
                          </a:solidFill>
                          <a:latin typeface="Malgun Gothic"/>
                          <a:ea typeface="Malgun Gothic"/>
                        </a:rPr>
                        <a:t>GitLab 휴가·입퇴사 / PostHog 온보딩·문의 인계</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76072">
                <a:tc>
                  <a:txBody>
                    <a:bodyPr/>
                    <a:lstStyle/>
                    <a:p>
                      <a:pPr>
                        <a:lnSpc>
                          <a:spcPct val="100000"/>
                        </a:lnSpc>
                      </a:pPr>
                      <a:r>
                        <a:rPr sz="1300" b="0">
                          <a:solidFill>
                            <a:srgbClr val="1B2A3A"/>
                          </a:solidFill>
                          <a:latin typeface="Malgun Gothic"/>
                          <a:ea typeface="Malgun Gothic"/>
                        </a:rPr>
                        <a:t>회사 설정</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0">
                          <a:solidFill>
                            <a:srgbClr val="1B2A3A"/>
                          </a:solidFill>
                          <a:latin typeface="Malgun Gothic"/>
                          <a:ea typeface="Malgun Gothic"/>
                        </a:rPr>
                        <a:t>외부 절차 구성과 고유 정책 분리</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0">
                          <a:solidFill>
                            <a:srgbClr val="1B2A3A"/>
                          </a:solidFill>
                          <a:latin typeface="Malgun Gothic"/>
                          <a:ea typeface="Malgun Gothic"/>
                        </a:rPr>
                        <a:t>가상 도구·기한·담당자 등 회사 결정 70개</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76072">
                <a:tc>
                  <a:txBody>
                    <a:bodyPr/>
                    <a:lstStyle/>
                    <a:p>
                      <a:pPr>
                        <a:lnSpc>
                          <a:spcPct val="100000"/>
                        </a:lnSpc>
                      </a:pPr>
                      <a:r>
                        <a:rPr sz="1300" b="0">
                          <a:solidFill>
                            <a:srgbClr val="1B2A3A"/>
                          </a:solidFill>
                          <a:latin typeface="Malgun Gothic"/>
                          <a:ea typeface="Malgun Gothic"/>
                        </a:rPr>
                        <a:t>초안 작성</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0">
                          <a:solidFill>
                            <a:srgbClr val="1B2A3A"/>
                          </a:solidFill>
                          <a:latin typeface="Malgun Gothic"/>
                          <a:ea typeface="Malgun Gothic"/>
                        </a:rPr>
                        <a:t>출처와 회사 설정으로 한국어 작성</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0">
                          <a:solidFill>
                            <a:srgbClr val="1B2A3A"/>
                          </a:solidFill>
                          <a:latin typeface="Malgun Gothic"/>
                          <a:ea typeface="Malgun Gothic"/>
                        </a:rPr>
                        <a:t>초기 52문서 → 19개 안내 추가·본문 보강</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76072">
                <a:tc>
                  <a:txBody>
                    <a:bodyPr/>
                    <a:lstStyle/>
                    <a:p>
                      <a:pPr>
                        <a:lnSpc>
                          <a:spcPct val="100000"/>
                        </a:lnSpc>
                      </a:pPr>
                      <a:r>
                        <a:rPr sz="1300" b="0">
                          <a:solidFill>
                            <a:srgbClr val="1B2A3A"/>
                          </a:solidFill>
                          <a:latin typeface="Malgun Gothic"/>
                          <a:ea typeface="Malgun Gothic"/>
                        </a:rPr>
                        <a:t>내용 검수</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0">
                          <a:solidFill>
                            <a:srgbClr val="1B2A3A"/>
                          </a:solidFill>
                          <a:latin typeface="Malgun Gothic"/>
                          <a:ea typeface="Malgun Gothic"/>
                        </a:rPr>
                        <a:t>최초 71개 전량 검토·수정 구역 재확인</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0">
                          <a:solidFill>
                            <a:srgbClr val="1B2A3A"/>
                          </a:solidFill>
                          <a:latin typeface="Malgun Gothic"/>
                          <a:ea typeface="Malgun Gothic"/>
                        </a:rPr>
                        <a:t>조건·예외·문서 간 충돌·내부 연결 확인</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76072">
                <a:tc>
                  <a:txBody>
                    <a:bodyPr/>
                    <a:lstStyle/>
                    <a:p>
                      <a:pPr>
                        <a:lnSpc>
                          <a:spcPct val="100000"/>
                        </a:lnSpc>
                      </a:pPr>
                      <a:r>
                        <a:rPr sz="1300" b="0">
                          <a:solidFill>
                            <a:srgbClr val="1B2A3A"/>
                          </a:solidFill>
                          <a:latin typeface="Malgun Gothic"/>
                          <a:ea typeface="Malgun Gothic"/>
                        </a:rPr>
                        <a:t>수정 사례</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0">
                          <a:solidFill>
                            <a:srgbClr val="1B2A3A"/>
                          </a:solidFill>
                          <a:latin typeface="Malgun Gothic"/>
                          <a:ea typeface="Malgun Gothic"/>
                        </a:rPr>
                        <a:t>잘못된 안내와 연결을 바로잡음</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300" b="0">
                          <a:solidFill>
                            <a:srgbClr val="1B2A3A"/>
                          </a:solidFill>
                          <a:latin typeface="Malgun Gothic"/>
                          <a:ea typeface="Malgun Gothic"/>
                        </a:rPr>
                        <a:t>보안 신고 링크 / MFA 시점 / 권한 회수 기한</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8" name="Rounded Rectangle 7"/>
          <p:cNvSpPr/>
          <p:nvPr/>
        </p:nvSpPr>
        <p:spPr>
          <a:xfrm>
            <a:off x="685800" y="5504688"/>
            <a:ext cx="10835640" cy="502920"/>
          </a:xfrm>
          <a:prstGeom prst="roundRect">
            <a:avLst>
              <a:gd name="adj" fmla="val 1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5605272"/>
            <a:ext cx="10378440" cy="27432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총 27개 출처 · 71개 문서 · AI 검수 결과와 문서별 해시 보존</a:t>
            </a:r>
          </a:p>
        </p:txBody>
      </p:sp>
      <p:sp>
        <p:nvSpPr>
          <p:cNvPr id="10" name="TextBox 9"/>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가상 회사의 프로젝트 자료 · 외부 기업 정책을 그대로 이식한 자료나 사람의 정책 승인 결과가 아님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왜 KURE이며, 검색 기준은 어떻게 정했나?</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같은 원문을 사용했지만, 모델과 검색 정책이 함께 다른 구성 비교</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A5</a:t>
            </a:r>
          </a:p>
        </p:txBody>
      </p:sp>
      <p:graphicFrame>
        <p:nvGraphicFramePr>
          <p:cNvPr id="7" name="Table 6"/>
          <p:cNvGraphicFramePr>
            <a:graphicFrameLocks noGrp="1"/>
          </p:cNvGraphicFramePr>
          <p:nvPr/>
        </p:nvGraphicFramePr>
        <p:xfrm>
          <a:off x="685800" y="1783080"/>
          <a:ext cx="10835640" cy="3017520"/>
        </p:xfrm>
        <a:graphic>
          <a:graphicData uri="http://schemas.openxmlformats.org/drawingml/2006/table">
            <a:tbl>
              <a:tblPr firstRow="1" bandRow="1">
                <a:tableStyleId>{5C22544A-7EE6-4342-B048-85BDC9FD1C3A}</a:tableStyleId>
              </a:tblPr>
              <a:tblGrid>
                <a:gridCol w="2606040"/>
                <a:gridCol w="4114800"/>
                <a:gridCol w="4114800"/>
              </a:tblGrid>
              <a:tr h="502920">
                <a:tc>
                  <a:txBody>
                    <a:bodyPr/>
                    <a:lstStyle/>
                    <a:p>
                      <a:pPr>
                        <a:lnSpc>
                          <a:spcPct val="100000"/>
                        </a:lnSpc>
                      </a:pPr>
                      <a:r>
                        <a:rPr sz="1500" b="1">
                          <a:solidFill>
                            <a:srgbClr val="FFFFFF"/>
                          </a:solidFill>
                          <a:latin typeface="Malgun Gothic"/>
                          <a:ea typeface="Malgun Gothic"/>
                        </a:rPr>
                        <a:t>항목</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1">
                          <a:solidFill>
                            <a:srgbClr val="FFFFFF"/>
                          </a:solidFill>
                          <a:latin typeface="Malgun Gothic"/>
                          <a:ea typeface="Malgun Gothic"/>
                        </a:rPr>
                        <a:t>이전 검색 구성 (Tiny C)</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1">
                          <a:solidFill>
                            <a:srgbClr val="FFFFFF"/>
                          </a:solidFill>
                          <a:latin typeface="Malgun Gothic"/>
                          <a:ea typeface="Malgun Gothic"/>
                        </a:rPr>
                        <a:t>KURE</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nSpc>
                          <a:spcPct val="100000"/>
                        </a:lnSpc>
                      </a:pPr>
                      <a:r>
                        <a:rPr sz="1500" b="0">
                          <a:solidFill>
                            <a:srgbClr val="1B2A3A"/>
                          </a:solidFill>
                          <a:latin typeface="Malgun Gothic"/>
                          <a:ea typeface="Malgun Gothic"/>
                        </a:rPr>
                        <a:t>공통 자료</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71문서 · 298청크</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같은 원문 구간 사용</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nSpc>
                          <a:spcPct val="100000"/>
                        </a:lnSpc>
                      </a:pPr>
                      <a:r>
                        <a:rPr sz="1500" b="0">
                          <a:solidFill>
                            <a:srgbClr val="1B2A3A"/>
                          </a:solidFill>
                          <a:latin typeface="Malgun Gothic"/>
                          <a:ea typeface="Malgun Gothic"/>
                        </a:rPr>
                        <a:t>분할</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360토큰 · 중첩 60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고정 Tiny tokenizer 사용</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nSpc>
                          <a:spcPct val="100000"/>
                        </a:lnSpc>
                      </a:pPr>
                      <a:r>
                        <a:rPr sz="1500" b="0">
                          <a:solidFill>
                            <a:srgbClr val="1B2A3A"/>
                          </a:solidFill>
                          <a:latin typeface="Malgun Gothic"/>
                          <a:ea typeface="Malgun Gothic"/>
                        </a:rPr>
                        <a:t>선택 기준</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개별 cosine ≥ 0.35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최고 cosine ≥ 0.4288</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nSpc>
                          <a:spcPct val="100000"/>
                        </a:lnSpc>
                      </a:pPr>
                      <a:r>
                        <a:rPr sz="1500" b="0">
                          <a:solidFill>
                            <a:srgbClr val="1B2A3A"/>
                          </a:solidFill>
                          <a:latin typeface="Malgun Gothic"/>
                          <a:ea typeface="Malgun Gothic"/>
                        </a:rPr>
                        <a:t>전달 구간</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하한 이상 청크</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병합 전 상위 20청크</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02920">
                <a:tc>
                  <a:txBody>
                    <a:bodyPr/>
                    <a:lstStyle/>
                    <a:p>
                      <a:pPr>
                        <a:lnSpc>
                          <a:spcPct val="100000"/>
                        </a:lnSpc>
                      </a:pPr>
                      <a:r>
                        <a:rPr sz="1500" b="0">
                          <a:solidFill>
                            <a:srgbClr val="1B2A3A"/>
                          </a:solidFill>
                          <a:latin typeface="Malgun Gothic"/>
                          <a:ea typeface="Malgun Gothic"/>
                        </a:rPr>
                        <a:t>신규 확인 40문항</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근거 25 + 관련 답없음 5 + 무관 10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500" b="0">
                          <a:solidFill>
                            <a:srgbClr val="1B2A3A"/>
                          </a:solidFill>
                          <a:latin typeface="Malgun Gothic"/>
                          <a:ea typeface="Malgun Gothic"/>
                        </a:rPr>
                        <a:t>관련 오차단 0/30 · 무관 차단 4/10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8" name="TextBox 7"/>
          <p:cNvSpPr txBox="1"/>
          <p:nvPr/>
        </p:nvSpPr>
        <p:spPr>
          <a:xfrm>
            <a:off x="731520" y="5029200"/>
            <a:ext cx="10789920" cy="365760"/>
          </a:xfrm>
          <a:prstGeom prst="rect">
            <a:avLst/>
          </a:prstGeom>
          <a:noFill/>
        </p:spPr>
        <p:txBody>
          <a:bodyPr wrap="square" lIns="0" rIns="0" tIns="0" bIns="0">
            <a:spAutoFit/>
          </a:bodyPr>
          <a:lstStyle/>
          <a:p>
            <a:pPr>
              <a:lnSpc>
                <a:spcPct val="110000"/>
              </a:lnSpc>
              <a:spcAft>
                <a:spcPts val="400"/>
              </a:spcAft>
            </a:pPr>
            <a:r>
              <a:rPr sz="1600" b="1">
                <a:solidFill>
                  <a:srgbClr val="075E63"/>
                </a:solidFill>
                <a:latin typeface="Malgun Gothic"/>
                <a:ea typeface="Malgun Gothic"/>
              </a:rPr>
              <a:t>후속 문맥 보충: 관련 문서의 주변 절을 함께 전달</a:t>
            </a:r>
          </a:p>
        </p:txBody>
      </p:sp>
      <p:sp>
        <p:nvSpPr>
          <p:cNvPr id="9" name="TextBox 8"/>
          <p:cNvSpPr txBox="1"/>
          <p:nvPr/>
        </p:nvSpPr>
        <p:spPr>
          <a:xfrm>
            <a:off x="731520" y="5522976"/>
            <a:ext cx="10789920" cy="320040"/>
          </a:xfrm>
          <a:prstGeom prst="rect">
            <a:avLst/>
          </a:prstGeom>
          <a:noFill/>
        </p:spPr>
        <p:txBody>
          <a:bodyPr wrap="square" lIns="0" rIns="0" tIns="0" bIns="0">
            <a:spAutoFit/>
          </a:bodyPr>
          <a:lstStyle/>
          <a:p>
            <a:pPr>
              <a:lnSpc>
                <a:spcPct val="110000"/>
              </a:lnSpc>
              <a:spcAft>
                <a:spcPts val="400"/>
              </a:spcAft>
            </a:pPr>
            <a:r>
              <a:rPr sz="1300" b="0">
                <a:solidFill>
                  <a:srgbClr val="5B6B7C"/>
                </a:solidFill>
                <a:latin typeface="Malgun Gothic"/>
                <a:ea typeface="Malgun Gothic"/>
              </a:rPr>
              <a:t>문맥 보충 설정: 최대 3문서 · 추가 6,000자</a:t>
            </a:r>
          </a:p>
        </p:txBody>
      </p:sp>
      <p:sp>
        <p:nvSpPr>
          <p:cNvPr id="10" name="TextBox 9"/>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검색 비교 이후 추가한 문맥 보충 · 앞선 82%는 문맥 보충 전 전달량 비교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검색했는데도 답변이 부족했던 이유는?</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찾는 문제, 전달하는 문제, 답변에 반영하는 문제를 구분했습니다</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A6</a:t>
            </a:r>
          </a:p>
        </p:txBody>
      </p:sp>
      <p:graphicFrame>
        <p:nvGraphicFramePr>
          <p:cNvPr id="7" name="Table 6"/>
          <p:cNvGraphicFramePr>
            <a:graphicFrameLocks noGrp="1"/>
          </p:cNvGraphicFramePr>
          <p:nvPr/>
        </p:nvGraphicFramePr>
        <p:xfrm>
          <a:off x="685800" y="1783080"/>
          <a:ext cx="10835640" cy="2157984"/>
        </p:xfrm>
        <a:graphic>
          <a:graphicData uri="http://schemas.openxmlformats.org/drawingml/2006/table">
            <a:tbl>
              <a:tblPr firstRow="1" bandRow="1">
                <a:tableStyleId>{5C22544A-7EE6-4342-B048-85BDC9FD1C3A}</a:tableStyleId>
              </a:tblPr>
              <a:tblGrid>
                <a:gridCol w="2926080"/>
                <a:gridCol w="3657600"/>
                <a:gridCol w="4251960"/>
              </a:tblGrid>
              <a:tr h="539496">
                <a:tc>
                  <a:txBody>
                    <a:bodyPr/>
                    <a:lstStyle/>
                    <a:p>
                      <a:pPr>
                        <a:lnSpc>
                          <a:spcPct val="100000"/>
                        </a:lnSpc>
                      </a:pPr>
                      <a:r>
                        <a:rPr sz="1400" b="1">
                          <a:solidFill>
                            <a:srgbClr val="FFFFFF"/>
                          </a:solidFill>
                          <a:latin typeface="Malgun Gothic"/>
                          <a:ea typeface="Malgun Gothic"/>
                        </a:rPr>
                        <a:t>관측한 문제</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1">
                          <a:solidFill>
                            <a:srgbClr val="FFFFFF"/>
                          </a:solidFill>
                          <a:latin typeface="Malgun Gothic"/>
                          <a:ea typeface="Malgun Gothic"/>
                        </a:rPr>
                        <a:t>확인 방법</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1">
                          <a:solidFill>
                            <a:srgbClr val="FFFFFF"/>
                          </a:solidFill>
                          <a:latin typeface="Malgun Gothic"/>
                          <a:ea typeface="Malgun Gothic"/>
                        </a:rPr>
                        <a:t>조정·남은 점</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539496">
                <a:tc>
                  <a:txBody>
                    <a:bodyPr/>
                    <a:lstStyle/>
                    <a:p>
                      <a:pPr>
                        <a:lnSpc>
                          <a:spcPct val="100000"/>
                        </a:lnSpc>
                      </a:pPr>
                      <a:r>
                        <a:rPr sz="1400" b="0">
                          <a:solidFill>
                            <a:srgbClr val="1B2A3A"/>
                          </a:solidFill>
                          <a:latin typeface="Malgun Gothic"/>
                          <a:ea typeface="Malgun Gothic"/>
                        </a:rPr>
                        <a:t>필요한 절이 전달되지 않음</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검색 구간을 필수 원문과 대조</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관련 문서 주변 절을 보충</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39496">
                <a:tc>
                  <a:txBody>
                    <a:bodyPr/>
                    <a:lstStyle/>
                    <a:p>
                      <a:pPr>
                        <a:lnSpc>
                          <a:spcPct val="100000"/>
                        </a:lnSpc>
                      </a:pPr>
                      <a:r>
                        <a:rPr sz="1400" b="0">
                          <a:solidFill>
                            <a:srgbClr val="1B2A3A"/>
                          </a:solidFill>
                          <a:latin typeface="Malgun Gothic"/>
                          <a:ea typeface="Malgun Gothic"/>
                        </a:rPr>
                        <a:t>문서마다 신고 경로 표현이 다름</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‘또는’과 ‘와’ 표현을 원문 대조</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모델이 우선순위를 임의로 정하지 않게 함</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39496">
                <a:tc>
                  <a:txBody>
                    <a:bodyPr/>
                    <a:lstStyle/>
                    <a:p>
                      <a:pPr>
                        <a:lnSpc>
                          <a:spcPct val="100000"/>
                        </a:lnSpc>
                      </a:pPr>
                      <a:r>
                        <a:rPr sz="1400" b="0">
                          <a:solidFill>
                            <a:srgbClr val="1B2A3A"/>
                          </a:solidFill>
                          <a:latin typeface="Malgun Gothic"/>
                          <a:ea typeface="Malgun Gothic"/>
                        </a:rPr>
                        <a:t>근거가 있어도 답변에서 누락</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실제 생성 입력과 답변을 대조</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프롬프트·필수 안내 점검 과제로 분리</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8" name="Rounded Rectangle 7"/>
          <p:cNvSpPr/>
          <p:nvPr/>
        </p:nvSpPr>
        <p:spPr>
          <a:xfrm>
            <a:off x="685800" y="4242816"/>
            <a:ext cx="5349240" cy="1627632"/>
          </a:xfrm>
          <a:prstGeom prst="roundRect">
            <a:avLst>
              <a:gd name="adj" fmla="val 6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4425696"/>
            <a:ext cx="4892040" cy="292608"/>
          </a:xfrm>
          <a:prstGeom prst="rect">
            <a:avLst/>
          </a:prstGeom>
          <a:noFill/>
        </p:spPr>
        <p:txBody>
          <a:bodyPr wrap="square" lIns="0" rIns="0" tIns="0" bIns="0">
            <a:spAutoFit/>
          </a:bodyPr>
          <a:lstStyle/>
          <a:p>
            <a:pPr>
              <a:lnSpc>
                <a:spcPct val="110000"/>
              </a:lnSpc>
              <a:spcAft>
                <a:spcPts val="400"/>
              </a:spcAft>
            </a:pPr>
            <a:r>
              <a:rPr sz="1600" b="1">
                <a:solidFill>
                  <a:srgbClr val="075E63"/>
                </a:solidFill>
                <a:latin typeface="Malgun Gothic"/>
                <a:ea typeface="Malgun Gothic"/>
              </a:rPr>
              <a:t>문맥 보충 전후 · 4응답</a:t>
            </a:r>
          </a:p>
        </p:txBody>
      </p:sp>
      <p:sp>
        <p:nvSpPr>
          <p:cNvPr id="10" name="TextBox 9"/>
          <p:cNvSpPr txBox="1"/>
          <p:nvPr/>
        </p:nvSpPr>
        <p:spPr>
          <a:xfrm>
            <a:off x="914400" y="4882896"/>
            <a:ext cx="4892040" cy="886968"/>
          </a:xfrm>
          <a:prstGeom prst="rect">
            <a:avLst/>
          </a:prstGeom>
          <a:noFill/>
        </p:spPr>
        <p:txBody>
          <a:bodyPr wrap="square" lIns="0" rIns="0" tIns="0" bIns="0">
            <a:spAutoFit/>
          </a:bodyPr>
          <a:lstStyle/>
          <a:p>
            <a:pPr>
              <a:lnSpc>
                <a:spcPct val="122000"/>
              </a:lnSpc>
              <a:spcAft>
                <a:spcPts val="400"/>
              </a:spcAft>
            </a:pPr>
            <a:r>
              <a:rPr sz="1300" b="0">
                <a:solidFill>
                  <a:srgbClr val="1B2A3A"/>
                </a:solidFill>
                <a:latin typeface="Malgun Gothic"/>
                <a:ea typeface="Malgun Gothic"/>
              </a:rPr>
              <a:t>연차: 통과 → 통과</a:t>
            </a:r>
          </a:p>
          <a:p>
            <a:pPr>
              <a:lnSpc>
                <a:spcPct val="122000"/>
              </a:lnSpc>
              <a:spcAft>
                <a:spcPts val="400"/>
              </a:spcAft>
            </a:pPr>
            <a:r>
              <a:rPr sz="1300" b="0">
                <a:solidFill>
                  <a:srgbClr val="1B2A3A"/>
                </a:solidFill>
                <a:latin typeface="Malgun Gothic"/>
                <a:ea typeface="Malgun Gothic"/>
              </a:rPr>
              <a:t>사고: 실패 → 부분 충족</a:t>
            </a:r>
          </a:p>
          <a:p>
            <a:pPr>
              <a:lnSpc>
                <a:spcPct val="122000"/>
              </a:lnSpc>
              <a:spcAft>
                <a:spcPts val="400"/>
              </a:spcAft>
            </a:pPr>
            <a:r>
              <a:rPr sz="1300" b="0">
                <a:solidFill>
                  <a:srgbClr val="1B2A3A"/>
                </a:solidFill>
                <a:latin typeface="Malgun Gothic"/>
                <a:ea typeface="Malgun Gothic"/>
              </a:rPr>
              <a:t>핵심 절은 복원, 문서 표현 차이는 남음</a:t>
            </a:r>
          </a:p>
        </p:txBody>
      </p:sp>
      <p:sp>
        <p:nvSpPr>
          <p:cNvPr id="11" name="Rounded Rectangle 10"/>
          <p:cNvSpPr/>
          <p:nvPr/>
        </p:nvSpPr>
        <p:spPr>
          <a:xfrm>
            <a:off x="6172200" y="4242816"/>
            <a:ext cx="5349240" cy="1627632"/>
          </a:xfrm>
          <a:prstGeom prst="roundRect">
            <a:avLst>
              <a:gd name="adj" fmla="val 6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00800" y="4425696"/>
            <a:ext cx="4892040" cy="292608"/>
          </a:xfrm>
          <a:prstGeom prst="rect">
            <a:avLst/>
          </a:prstGeom>
          <a:noFill/>
        </p:spPr>
        <p:txBody>
          <a:bodyPr wrap="square" lIns="0" rIns="0" tIns="0" bIns="0">
            <a:spAutoFit/>
          </a:bodyPr>
          <a:lstStyle/>
          <a:p>
            <a:pPr>
              <a:lnSpc>
                <a:spcPct val="110000"/>
              </a:lnSpc>
              <a:spcAft>
                <a:spcPts val="400"/>
              </a:spcAft>
            </a:pPr>
            <a:r>
              <a:rPr sz="1600" b="1">
                <a:solidFill>
                  <a:srgbClr val="075E63"/>
                </a:solidFill>
                <a:latin typeface="Malgun Gothic"/>
                <a:ea typeface="Malgun Gothic"/>
              </a:rPr>
              <a:t>근거 없는 요청 등 · 4응답</a:t>
            </a:r>
          </a:p>
        </p:txBody>
      </p:sp>
      <p:sp>
        <p:nvSpPr>
          <p:cNvPr id="13" name="TextBox 12"/>
          <p:cNvSpPr txBox="1"/>
          <p:nvPr/>
        </p:nvSpPr>
        <p:spPr>
          <a:xfrm>
            <a:off x="6400800" y="4882896"/>
            <a:ext cx="4892040" cy="886968"/>
          </a:xfrm>
          <a:prstGeom prst="rect">
            <a:avLst/>
          </a:prstGeom>
          <a:noFill/>
        </p:spPr>
        <p:txBody>
          <a:bodyPr wrap="square" lIns="0" rIns="0" tIns="0" bIns="0">
            <a:spAutoFit/>
          </a:bodyPr>
          <a:lstStyle/>
          <a:p>
            <a:pPr>
              <a:lnSpc>
                <a:spcPct val="122000"/>
              </a:lnSpc>
              <a:spcAft>
                <a:spcPts val="400"/>
              </a:spcAft>
            </a:pPr>
            <a:r>
              <a:rPr sz="1300" b="0">
                <a:solidFill>
                  <a:srgbClr val="1B2A3A"/>
                </a:solidFill>
                <a:latin typeface="Malgun Gothic"/>
                <a:ea typeface="Malgun Gothic"/>
              </a:rPr>
              <a:t>인사·도움 소개·범위 밖·없는 복지 질문</a:t>
            </a:r>
          </a:p>
          <a:p>
            <a:pPr>
              <a:lnSpc>
                <a:spcPct val="122000"/>
              </a:lnSpc>
              <a:spcAft>
                <a:spcPts val="400"/>
              </a:spcAft>
            </a:pPr>
            <a:r>
              <a:rPr sz="1300" b="0">
                <a:solidFill>
                  <a:srgbClr val="1B2A3A"/>
                </a:solidFill>
                <a:latin typeface="Malgun Gothic"/>
                <a:ea typeface="Malgun Gothic"/>
              </a:rPr>
              <a:t>내용은 4개 모두 충족</a:t>
            </a:r>
          </a:p>
          <a:p>
            <a:pPr>
              <a:lnSpc>
                <a:spcPct val="122000"/>
              </a:lnSpc>
              <a:spcAft>
                <a:spcPts val="400"/>
              </a:spcAft>
            </a:pPr>
            <a:r>
              <a:rPr sz="1300" b="0">
                <a:solidFill>
                  <a:srgbClr val="1B2A3A"/>
                </a:solidFill>
                <a:latin typeface="Malgun Gothic"/>
                <a:ea typeface="Malgun Gothic"/>
              </a:rPr>
              <a:t>실제 검색 0건은 인사·범위 밖 2개</a:t>
            </a:r>
          </a:p>
        </p:txBody>
      </p:sp>
      <p:sp>
        <p:nvSpPr>
          <p:cNvPr id="14" name="TextBox 13"/>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각 조건 1회인 8응답 진단 · 검색 평가25/25와 별개 · 관련 문서를 찾았다고 답변 완전성이 보장되지는 않음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어떤 기준에서 통과·부분·실패가 나뉘었나?</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모델별 40응답 · 각 칸은 충족 / 미충족 / 평가 불가 · 당시 전체 문서 입력 비교</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A7</a:t>
            </a:r>
          </a:p>
        </p:txBody>
      </p:sp>
      <p:graphicFrame>
        <p:nvGraphicFramePr>
          <p:cNvPr id="7" name="Table 6"/>
          <p:cNvGraphicFramePr>
            <a:graphicFrameLocks noGrp="1"/>
          </p:cNvGraphicFramePr>
          <p:nvPr/>
        </p:nvGraphicFramePr>
        <p:xfrm>
          <a:off x="685800" y="1810512"/>
          <a:ext cx="6629400" cy="3950208"/>
        </p:xfrm>
        <a:graphic>
          <a:graphicData uri="http://schemas.openxmlformats.org/drawingml/2006/table">
            <a:tbl>
              <a:tblPr firstRow="1" bandRow="1">
                <a:tableStyleId>{5C22544A-7EE6-4342-B048-85BDC9FD1C3A}</a:tableStyleId>
              </a:tblPr>
              <a:tblGrid>
                <a:gridCol w="2971800"/>
                <a:gridCol w="1828800"/>
                <a:gridCol w="1828800"/>
              </a:tblGrid>
              <a:tr h="438912">
                <a:tc>
                  <a:txBody>
                    <a:bodyPr/>
                    <a:lstStyle/>
                    <a:p>
                      <a:pPr>
                        <a:lnSpc>
                          <a:spcPct val="100000"/>
                        </a:lnSpc>
                      </a:pPr>
                      <a:r>
                        <a:rPr sz="1400" b="1">
                          <a:solidFill>
                            <a:srgbClr val="FFFFFF"/>
                          </a:solidFill>
                          <a:latin typeface="Malgun Gothic"/>
                          <a:ea typeface="Malgun Gothic"/>
                        </a:rPr>
                        <a:t>평가 차원</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FFFFFF"/>
                          </a:solidFill>
                          <a:latin typeface="Malgun Gothic"/>
                          <a:ea typeface="Malgun Gothic"/>
                        </a:rPr>
                        <a:t>Qwen</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1">
                          <a:solidFill>
                            <a:srgbClr val="FFFFFF"/>
                          </a:solidFill>
                          <a:latin typeface="Malgun Gothic"/>
                          <a:ea typeface="Malgun Gothic"/>
                        </a:rPr>
                        <a:t>Luna</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438912">
                <a:tc>
                  <a:txBody>
                    <a:bodyPr/>
                    <a:lstStyle/>
                    <a:p>
                      <a:pPr>
                        <a:lnSpc>
                          <a:spcPct val="100000"/>
                        </a:lnSpc>
                      </a:pPr>
                      <a:r>
                        <a:rPr sz="1400" b="0">
                          <a:solidFill>
                            <a:srgbClr val="1B2A3A"/>
                          </a:solidFill>
                          <a:latin typeface="Malgun Gothic"/>
                          <a:ea typeface="Malgun Gothic"/>
                        </a:rPr>
                        <a:t>출력 형식</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35 / 5 / 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40 / 0 / 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38912">
                <a:tc>
                  <a:txBody>
                    <a:bodyPr/>
                    <a:lstStyle/>
                    <a:p>
                      <a:pPr>
                        <a:lnSpc>
                          <a:spcPct val="100000"/>
                        </a:lnSpc>
                      </a:pPr>
                      <a:r>
                        <a:rPr sz="1400" b="0">
                          <a:solidFill>
                            <a:srgbClr val="1B2A3A"/>
                          </a:solidFill>
                          <a:latin typeface="Malgun Gothic"/>
                          <a:ea typeface="Malgun Gothic"/>
                        </a:rPr>
                        <a:t>문서 근거</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26 / 9 / 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40 / 0 / 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38912">
                <a:tc>
                  <a:txBody>
                    <a:bodyPr/>
                    <a:lstStyle/>
                    <a:p>
                      <a:pPr>
                        <a:lnSpc>
                          <a:spcPct val="100000"/>
                        </a:lnSpc>
                      </a:pPr>
                      <a:r>
                        <a:rPr sz="1400" b="0">
                          <a:solidFill>
                            <a:srgbClr val="1B2A3A"/>
                          </a:solidFill>
                          <a:latin typeface="Malgun Gothic"/>
                          <a:ea typeface="Malgun Gothic"/>
                        </a:rPr>
                        <a:t>적용 범위·조건</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22 / 13 / 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40 / 0 / 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38912">
                <a:tc>
                  <a:txBody>
                    <a:bodyPr/>
                    <a:lstStyle/>
                    <a:p>
                      <a:pPr>
                        <a:lnSpc>
                          <a:spcPct val="100000"/>
                        </a:lnSpc>
                      </a:pPr>
                      <a:r>
                        <a:rPr sz="1400" b="0">
                          <a:solidFill>
                            <a:srgbClr val="1B2A3A"/>
                          </a:solidFill>
                          <a:latin typeface="Malgun Gothic"/>
                          <a:ea typeface="Malgun Gothic"/>
                        </a:rPr>
                        <a:t>필수 안내 완전성</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0 / 35 / 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25 / 15 / 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38912">
                <a:tc>
                  <a:txBody>
                    <a:bodyPr/>
                    <a:lstStyle/>
                    <a:p>
                      <a:pPr>
                        <a:lnSpc>
                          <a:spcPct val="100000"/>
                        </a:lnSpc>
                      </a:pPr>
                      <a:r>
                        <a:rPr sz="1400" b="0">
                          <a:solidFill>
                            <a:srgbClr val="1B2A3A"/>
                          </a:solidFill>
                          <a:latin typeface="Malgun Gothic"/>
                          <a:ea typeface="Malgun Gothic"/>
                        </a:rPr>
                        <a:t>적절한 유보</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26 / 9 / 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40 / 0 / 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38912">
                <a:tc>
                  <a:txBody>
                    <a:bodyPr/>
                    <a:lstStyle/>
                    <a:p>
                      <a:pPr>
                        <a:lnSpc>
                          <a:spcPct val="100000"/>
                        </a:lnSpc>
                      </a:pPr>
                      <a:r>
                        <a:rPr sz="1400" b="0">
                          <a:solidFill>
                            <a:srgbClr val="1B2A3A"/>
                          </a:solidFill>
                          <a:latin typeface="Malgun Gothic"/>
                          <a:ea typeface="Malgun Gothic"/>
                        </a:rPr>
                        <a:t>조회·실행 권한 경계</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2 / 0 / 38</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4 / 0 / 36</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38912">
                <a:tc>
                  <a:txBody>
                    <a:bodyPr/>
                    <a:lstStyle/>
                    <a:p>
                      <a:pPr>
                        <a:lnSpc>
                          <a:spcPct val="100000"/>
                        </a:lnSpc>
                      </a:pPr>
                      <a:r>
                        <a:rPr sz="1400" b="0">
                          <a:solidFill>
                            <a:srgbClr val="1B2A3A"/>
                          </a:solidFill>
                          <a:latin typeface="Malgun Gothic"/>
                          <a:ea typeface="Malgun Gothic"/>
                        </a:rPr>
                        <a:t>말투</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35 / 0 / 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40 / 0 / 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438912">
                <a:tc>
                  <a:txBody>
                    <a:bodyPr/>
                    <a:lstStyle/>
                    <a:p>
                      <a:pPr>
                        <a:lnSpc>
                          <a:spcPct val="100000"/>
                        </a:lnSpc>
                      </a:pPr>
                      <a:r>
                        <a:rPr sz="1400" b="0">
                          <a:solidFill>
                            <a:srgbClr val="1B2A3A"/>
                          </a:solidFill>
                          <a:latin typeface="Malgun Gothic"/>
                          <a:ea typeface="Malgun Gothic"/>
                        </a:rPr>
                        <a:t>질문 관련성</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30 / 5 / 5</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gn="ctr">
                        <a:lnSpc>
                          <a:spcPct val="100000"/>
                        </a:lnSpc>
                      </a:pPr>
                      <a:r>
                        <a:rPr sz="1400" b="0">
                          <a:solidFill>
                            <a:srgbClr val="1B2A3A"/>
                          </a:solidFill>
                          <a:latin typeface="Malgun Gothic"/>
                          <a:ea typeface="Malgun Gothic"/>
                        </a:rPr>
                        <a:t>40 / 0 / 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8" name="Rounded Rectangle 7"/>
          <p:cNvSpPr/>
          <p:nvPr/>
        </p:nvSpPr>
        <p:spPr>
          <a:xfrm>
            <a:off x="7635240" y="1810512"/>
            <a:ext cx="3886200" cy="3950208"/>
          </a:xfrm>
          <a:prstGeom prst="roundRect">
            <a:avLst>
              <a:gd name="adj" fmla="val 5000"/>
            </a:avLst>
          </a:prstGeom>
          <a:solidFill>
            <a:srgbClr val="F3F6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909560" y="2011680"/>
            <a:ext cx="3337560" cy="320040"/>
          </a:xfrm>
          <a:prstGeom prst="rect">
            <a:avLst/>
          </a:prstGeom>
          <a:noFill/>
        </p:spPr>
        <p:txBody>
          <a:bodyPr wrap="square" lIns="0" rIns="0" tIns="0" bIns="0">
            <a:spAutoFit/>
          </a:bodyPr>
          <a:lstStyle/>
          <a:p>
            <a:pPr>
              <a:lnSpc>
                <a:spcPct val="110000"/>
              </a:lnSpc>
              <a:spcAft>
                <a:spcPts val="400"/>
              </a:spcAft>
            </a:pPr>
            <a:r>
              <a:rPr sz="1800" b="1">
                <a:solidFill>
                  <a:srgbClr val="13263C"/>
                </a:solidFill>
                <a:latin typeface="Malgun Gothic"/>
                <a:ea typeface="Malgun Gothic"/>
              </a:rPr>
              <a:t>평가 항목의 의미</a:t>
            </a:r>
          </a:p>
        </p:txBody>
      </p:sp>
      <p:sp>
        <p:nvSpPr>
          <p:cNvPr id="10" name="TextBox 9"/>
          <p:cNvSpPr txBox="1"/>
          <p:nvPr/>
        </p:nvSpPr>
        <p:spPr>
          <a:xfrm>
            <a:off x="7909560" y="2670048"/>
            <a:ext cx="3337560" cy="256032"/>
          </a:xfrm>
          <a:prstGeom prst="rect">
            <a:avLst/>
          </a:prstGeom>
          <a:noFill/>
        </p:spPr>
        <p:txBody>
          <a:bodyPr wrap="square" lIns="0" rIns="0" tIns="0" bIns="0">
            <a:spAutoFit/>
          </a:bodyPr>
          <a:lstStyle/>
          <a:p>
            <a:pPr>
              <a:lnSpc>
                <a:spcPct val="110000"/>
              </a:lnSpc>
              <a:spcAft>
                <a:spcPts val="400"/>
              </a:spcAft>
            </a:pPr>
            <a:r>
              <a:rPr sz="1300" b="1">
                <a:solidFill>
                  <a:srgbClr val="075E63"/>
                </a:solidFill>
                <a:latin typeface="Malgun Gothic"/>
                <a:ea typeface="Malgun Gothic"/>
              </a:rPr>
              <a:t>문서 근거 · 적용 조건</a:t>
            </a:r>
          </a:p>
        </p:txBody>
      </p:sp>
      <p:sp>
        <p:nvSpPr>
          <p:cNvPr id="11" name="TextBox 10"/>
          <p:cNvSpPr txBox="1"/>
          <p:nvPr/>
        </p:nvSpPr>
        <p:spPr>
          <a:xfrm>
            <a:off x="7909560" y="3017520"/>
            <a:ext cx="3337560" cy="521207"/>
          </a:xfrm>
          <a:prstGeom prst="rect">
            <a:avLst/>
          </a:prstGeom>
          <a:noFill/>
        </p:spPr>
        <p:txBody>
          <a:bodyPr wrap="square" lIns="0" rIns="0" tIns="0" bIns="0">
            <a:spAutoFit/>
          </a:bodyPr>
          <a:lstStyle/>
          <a:p>
            <a:pPr>
              <a:lnSpc>
                <a:spcPct val="115000"/>
              </a:lnSpc>
              <a:spcAft>
                <a:spcPts val="0"/>
              </a:spcAft>
            </a:pPr>
            <a:r>
              <a:rPr sz="1200" b="0">
                <a:solidFill>
                  <a:srgbClr val="1B2A3A"/>
                </a:solidFill>
                <a:latin typeface="Malgun Gothic"/>
                <a:ea typeface="Malgun Gothic"/>
              </a:rPr>
              <a:t>주장에 근거가 있는가</a:t>
            </a:r>
          </a:p>
          <a:p>
            <a:pPr>
              <a:lnSpc>
                <a:spcPct val="115000"/>
              </a:lnSpc>
              <a:spcAft>
                <a:spcPts val="0"/>
              </a:spcAft>
            </a:pPr>
            <a:r>
              <a:rPr sz="1200" b="0">
                <a:solidFill>
                  <a:srgbClr val="1B2A3A"/>
                </a:solidFill>
                <a:latin typeface="Malgun Gothic"/>
                <a:ea typeface="Malgun Gothic"/>
              </a:rPr>
              <a:t>담당·대상·예외가 같은가</a:t>
            </a:r>
          </a:p>
        </p:txBody>
      </p:sp>
      <p:sp>
        <p:nvSpPr>
          <p:cNvPr id="12" name="TextBox 11"/>
          <p:cNvSpPr txBox="1"/>
          <p:nvPr/>
        </p:nvSpPr>
        <p:spPr>
          <a:xfrm>
            <a:off x="7909560" y="3602736"/>
            <a:ext cx="3337560" cy="256032"/>
          </a:xfrm>
          <a:prstGeom prst="rect">
            <a:avLst/>
          </a:prstGeom>
          <a:noFill/>
        </p:spPr>
        <p:txBody>
          <a:bodyPr wrap="square" lIns="0" rIns="0" tIns="0" bIns="0">
            <a:spAutoFit/>
          </a:bodyPr>
          <a:lstStyle/>
          <a:p>
            <a:pPr>
              <a:lnSpc>
                <a:spcPct val="110000"/>
              </a:lnSpc>
              <a:spcAft>
                <a:spcPts val="400"/>
              </a:spcAft>
            </a:pPr>
            <a:r>
              <a:rPr sz="1300" b="1">
                <a:solidFill>
                  <a:srgbClr val="075E63"/>
                </a:solidFill>
                <a:latin typeface="Malgun Gothic"/>
                <a:ea typeface="Malgun Gothic"/>
              </a:rPr>
              <a:t>완전성 · 적절한 유보</a:t>
            </a:r>
          </a:p>
        </p:txBody>
      </p:sp>
      <p:sp>
        <p:nvSpPr>
          <p:cNvPr id="13" name="TextBox 12"/>
          <p:cNvSpPr txBox="1"/>
          <p:nvPr/>
        </p:nvSpPr>
        <p:spPr>
          <a:xfrm>
            <a:off x="7909560" y="3950208"/>
            <a:ext cx="3337560" cy="521207"/>
          </a:xfrm>
          <a:prstGeom prst="rect">
            <a:avLst/>
          </a:prstGeom>
          <a:noFill/>
        </p:spPr>
        <p:txBody>
          <a:bodyPr wrap="square" lIns="0" rIns="0" tIns="0" bIns="0">
            <a:spAutoFit/>
          </a:bodyPr>
          <a:lstStyle/>
          <a:p>
            <a:pPr>
              <a:lnSpc>
                <a:spcPct val="115000"/>
              </a:lnSpc>
              <a:spcAft>
                <a:spcPts val="0"/>
              </a:spcAft>
            </a:pPr>
            <a:r>
              <a:rPr sz="1200" b="0">
                <a:solidFill>
                  <a:srgbClr val="1B2A3A"/>
                </a:solidFill>
                <a:latin typeface="Malgun Gothic"/>
                <a:ea typeface="Malgun Gothic"/>
              </a:rPr>
              <a:t>필수 안내를 담았는가</a:t>
            </a:r>
          </a:p>
          <a:p>
            <a:pPr>
              <a:lnSpc>
                <a:spcPct val="115000"/>
              </a:lnSpc>
              <a:spcAft>
                <a:spcPts val="0"/>
              </a:spcAft>
            </a:pPr>
            <a:r>
              <a:rPr sz="1200" b="0">
                <a:solidFill>
                  <a:srgbClr val="1B2A3A"/>
                </a:solidFill>
                <a:latin typeface="Malgun Gothic"/>
                <a:ea typeface="Malgun Gothic"/>
              </a:rPr>
              <a:t>자료가 부족할 때 확답하지 않는가</a:t>
            </a:r>
          </a:p>
        </p:txBody>
      </p:sp>
      <p:sp>
        <p:nvSpPr>
          <p:cNvPr id="14" name="TextBox 13"/>
          <p:cNvSpPr txBox="1"/>
          <p:nvPr/>
        </p:nvSpPr>
        <p:spPr>
          <a:xfrm>
            <a:off x="7909560" y="4535424"/>
            <a:ext cx="3337560" cy="256032"/>
          </a:xfrm>
          <a:prstGeom prst="rect">
            <a:avLst/>
          </a:prstGeom>
          <a:noFill/>
        </p:spPr>
        <p:txBody>
          <a:bodyPr wrap="square" lIns="0" rIns="0" tIns="0" bIns="0">
            <a:spAutoFit/>
          </a:bodyPr>
          <a:lstStyle/>
          <a:p>
            <a:pPr>
              <a:lnSpc>
                <a:spcPct val="110000"/>
              </a:lnSpc>
              <a:spcAft>
                <a:spcPts val="400"/>
              </a:spcAft>
            </a:pPr>
            <a:r>
              <a:rPr sz="1300" b="1">
                <a:solidFill>
                  <a:srgbClr val="075E63"/>
                </a:solidFill>
                <a:latin typeface="Malgun Gothic"/>
                <a:ea typeface="Malgun Gothic"/>
              </a:rPr>
              <a:t>권한 · 말투 · 관련성</a:t>
            </a:r>
          </a:p>
        </p:txBody>
      </p:sp>
      <p:sp>
        <p:nvSpPr>
          <p:cNvPr id="15" name="TextBox 14"/>
          <p:cNvSpPr txBox="1"/>
          <p:nvPr/>
        </p:nvSpPr>
        <p:spPr>
          <a:xfrm>
            <a:off x="7909560" y="4882896"/>
            <a:ext cx="3337560" cy="521207"/>
          </a:xfrm>
          <a:prstGeom prst="rect">
            <a:avLst/>
          </a:prstGeom>
          <a:noFill/>
        </p:spPr>
        <p:txBody>
          <a:bodyPr wrap="square" lIns="0" rIns="0" tIns="0" bIns="0">
            <a:spAutoFit/>
          </a:bodyPr>
          <a:lstStyle/>
          <a:p>
            <a:pPr>
              <a:lnSpc>
                <a:spcPct val="115000"/>
              </a:lnSpc>
              <a:spcAft>
                <a:spcPts val="0"/>
              </a:spcAft>
            </a:pPr>
            <a:r>
              <a:rPr sz="1200" b="0">
                <a:solidFill>
                  <a:srgbClr val="1B2A3A"/>
                </a:solidFill>
                <a:latin typeface="Malgun Gothic"/>
                <a:ea typeface="Malgun Gothic"/>
              </a:rPr>
              <a:t>조회·실행을 했다고 꾸미지 않는가</a:t>
            </a:r>
          </a:p>
          <a:p>
            <a:pPr>
              <a:lnSpc>
                <a:spcPct val="115000"/>
              </a:lnSpc>
              <a:spcAft>
                <a:spcPts val="0"/>
              </a:spcAft>
            </a:pPr>
            <a:r>
              <a:rPr sz="1200" b="0">
                <a:solidFill>
                  <a:srgbClr val="1B2A3A"/>
                </a:solidFill>
                <a:latin typeface="Malgun Gothic"/>
                <a:ea typeface="Malgun Gothic"/>
              </a:rPr>
              <a:t>질문에 맞게 자연스럽게 답하는가</a:t>
            </a:r>
          </a:p>
        </p:txBody>
      </p:sp>
      <p:sp>
        <p:nvSpPr>
          <p:cNvPr id="16" name="TextBox 15"/>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Qwen 생성·형식 실패 5응답은 내용 평가 불가 · 권한 경계는 해당 없는 문항도 제외 · 실행 조건과 비용은 부록 A8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LLM의 속도·비용은 같은 조건에서 비교했나?</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같은 질문과 문서를 사용했지만 모델별 실행 설정과 장비는 다릅니다</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A8</a:t>
            </a:r>
          </a:p>
        </p:txBody>
      </p:sp>
      <p:graphicFrame>
        <p:nvGraphicFramePr>
          <p:cNvPr id="7" name="Table 6"/>
          <p:cNvGraphicFramePr>
            <a:graphicFrameLocks noGrp="1"/>
          </p:cNvGraphicFramePr>
          <p:nvPr/>
        </p:nvGraphicFramePr>
        <p:xfrm>
          <a:off x="685800" y="1783080"/>
          <a:ext cx="10835640" cy="3712464"/>
        </p:xfrm>
        <a:graphic>
          <a:graphicData uri="http://schemas.openxmlformats.org/drawingml/2006/table">
            <a:tbl>
              <a:tblPr firstRow="1" bandRow="1">
                <a:tableStyleId>{5C22544A-7EE6-4342-B048-85BDC9FD1C3A}</a:tableStyleId>
              </a:tblPr>
              <a:tblGrid>
                <a:gridCol w="2606040"/>
                <a:gridCol w="4114800"/>
                <a:gridCol w="4114800"/>
              </a:tblGrid>
              <a:tr h="530352">
                <a:tc>
                  <a:txBody>
                    <a:bodyPr/>
                    <a:lstStyle/>
                    <a:p>
                      <a:pPr>
                        <a:lnSpc>
                          <a:spcPct val="100000"/>
                        </a:lnSpc>
                      </a:pPr>
                      <a:r>
                        <a:rPr sz="1400" b="1">
                          <a:solidFill>
                            <a:srgbClr val="FFFFFF"/>
                          </a:solidFill>
                          <a:latin typeface="Malgun Gothic"/>
                          <a:ea typeface="Malgun Gothic"/>
                        </a:rPr>
                        <a:t>항목</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1">
                          <a:solidFill>
                            <a:srgbClr val="FFFFFF"/>
                          </a:solidFill>
                          <a:latin typeface="Malgun Gothic"/>
                          <a:ea typeface="Malgun Gothic"/>
                        </a:rPr>
                        <a:t>Qwen3 4B Q4_K_M</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1">
                          <a:solidFill>
                            <a:srgbClr val="FFFFFF"/>
                          </a:solidFill>
                          <a:latin typeface="Malgun Gothic"/>
                          <a:ea typeface="Malgun Gothic"/>
                        </a:rPr>
                        <a:t>GPT-6 Luna</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530352">
                <a:tc>
                  <a:txBody>
                    <a:bodyPr/>
                    <a:lstStyle/>
                    <a:p>
                      <a:pPr>
                        <a:lnSpc>
                          <a:spcPct val="100000"/>
                        </a:lnSpc>
                      </a:pPr>
                      <a:r>
                        <a:rPr sz="1400" b="0">
                          <a:solidFill>
                            <a:srgbClr val="1B2A3A"/>
                          </a:solidFill>
                          <a:latin typeface="Malgun Gothic"/>
                          <a:ea typeface="Malgun Gothic"/>
                        </a:rPr>
                        <a:t>입력·반복</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전체 71문서 · 20문항 × 2회</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동일 질문·문서 · 20문항 × 2회</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30352">
                <a:tc>
                  <a:txBody>
                    <a:bodyPr/>
                    <a:lstStyle/>
                    <a:p>
                      <a:pPr>
                        <a:lnSpc>
                          <a:spcPct val="100000"/>
                        </a:lnSpc>
                      </a:pPr>
                      <a:r>
                        <a:rPr sz="1400" b="0">
                          <a:solidFill>
                            <a:srgbClr val="1B2A3A"/>
                          </a:solidFill>
                          <a:latin typeface="Malgun Gothic"/>
                          <a:ea typeface="Malgun Gothic"/>
                        </a:rPr>
                        <a:t>실행</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로컬 양자화 · GPU 35/37층</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상용 API · 추론 xhigh</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30352">
                <a:tc>
                  <a:txBody>
                    <a:bodyPr/>
                    <a:lstStyle/>
                    <a:p>
                      <a:pPr>
                        <a:lnSpc>
                          <a:spcPct val="100000"/>
                        </a:lnSpc>
                      </a:pPr>
                      <a:r>
                        <a:rPr sz="1400" b="0">
                          <a:solidFill>
                            <a:srgbClr val="1B2A3A"/>
                          </a:solidFill>
                          <a:latin typeface="Malgun Gothic"/>
                          <a:ea typeface="Malgun Gothic"/>
                        </a:rPr>
                        <a:t>출력 한도</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1,024토큰</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4,096토큰</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30352">
                <a:tc>
                  <a:txBody>
                    <a:bodyPr/>
                    <a:lstStyle/>
                    <a:p>
                      <a:pPr>
                        <a:lnSpc>
                          <a:spcPct val="100000"/>
                        </a:lnSpc>
                      </a:pPr>
                      <a:r>
                        <a:rPr sz="1400" b="0">
                          <a:solidFill>
                            <a:srgbClr val="1B2A3A"/>
                          </a:solidFill>
                          <a:latin typeface="Malgun Gothic"/>
                          <a:ea typeface="Malgun Gothic"/>
                        </a:rPr>
                        <a:t>응답 시간 중앙 / 최대</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32.80초 / 161.46초</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12.09초 / 26.81초</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30352">
                <a:tc>
                  <a:txBody>
                    <a:bodyPr/>
                    <a:lstStyle/>
                    <a:p>
                      <a:pPr>
                        <a:lnSpc>
                          <a:spcPct val="100000"/>
                        </a:lnSpc>
                      </a:pPr>
                      <a:r>
                        <a:rPr sz="1400" b="1">
                          <a:solidFill>
                            <a:srgbClr val="075E63"/>
                          </a:solidFill>
                          <a:latin typeface="Malgun Gothic"/>
                          <a:ea typeface="Malgun Gothic"/>
                        </a:rPr>
                        <a:t>두 반복 모두 통과</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1">
                          <a:solidFill>
                            <a:srgbClr val="075E63"/>
                          </a:solidFill>
                          <a:latin typeface="Malgun Gothic"/>
                          <a:ea typeface="Malgun Gothic"/>
                        </a:rPr>
                        <a:t>0/20</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1">
                          <a:solidFill>
                            <a:srgbClr val="075E63"/>
                          </a:solidFill>
                          <a:latin typeface="Malgun Gothic"/>
                          <a:ea typeface="Malgun Gothic"/>
                        </a:rPr>
                        <a:t>11/20</a:t>
                      </a:r>
                    </a:p>
                  </a:txBody>
                  <a:tcPr marL="128016" marR="91440" marT="36576" marB="27432" anchor="ctr">
                    <a:solidFill>
                      <a:srgbClr val="DDF1EF"/>
                    </a:solidFill>
                    <a:lnL w="6350">
                      <a:solidFill>
                        <a:srgbClr val="E2E8EE"/>
                      </a:solidFill>
                    </a:lnL>
                    <a:lnR w="6350">
                      <a:solidFill>
                        <a:srgbClr val="E2E8EE"/>
                      </a:solidFill>
                    </a:lnR>
                    <a:lnT w="6350">
                      <a:solidFill>
                        <a:srgbClr val="E2E8EE"/>
                      </a:solidFill>
                    </a:lnT>
                    <a:lnB w="6350">
                      <a:solidFill>
                        <a:srgbClr val="E2E8EE"/>
                      </a:solidFill>
                    </a:lnB>
                  </a:tcPr>
                </a:tc>
              </a:tr>
              <a:tr h="530352">
                <a:tc>
                  <a:txBody>
                    <a:bodyPr/>
                    <a:lstStyle/>
                    <a:p>
                      <a:pPr>
                        <a:lnSpc>
                          <a:spcPct val="100000"/>
                        </a:lnSpc>
                      </a:pPr>
                      <a:r>
                        <a:rPr sz="1400" b="0">
                          <a:solidFill>
                            <a:srgbClr val="1B2A3A"/>
                          </a:solidFill>
                          <a:latin typeface="Malgun Gothic"/>
                          <a:ea typeface="Malgun Gothic"/>
                        </a:rPr>
                        <a:t>비용 해석</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API 과금 0 · 장비·전력비 미산정</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40회 사용량 추정 약 $0.173</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8" name="TextBox 7"/>
          <p:cNvSpPr txBox="1"/>
          <p:nvPr/>
        </p:nvSpPr>
        <p:spPr>
          <a:xfrm>
            <a:off x="731520" y="5715000"/>
            <a:ext cx="10789920" cy="32004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선택 순서: 중대 오류 → 두 반복 통과 → 전체 통과 → 불확실 → 시간 → API 비용</a:t>
            </a:r>
          </a:p>
        </p:txBody>
      </p:sp>
      <p:sp>
        <p:nvSpPr>
          <p:cNvPr id="9" name="TextBox 8"/>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당시 실행 환경의 관측값 · 현재 RAG 요청 지연·비용으로 해석하지 않음 · 추정 비용은 실제 청구액이 아님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프롬프트를 더 쓰면 답변이 좋아졌나?</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표현·조건 보존·완전성을 나누어 비교하고, 채택 여부를 따로 결정했습니다</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A9</a:t>
            </a:r>
          </a:p>
        </p:txBody>
      </p:sp>
      <p:graphicFrame>
        <p:nvGraphicFramePr>
          <p:cNvPr id="7" name="Table 6"/>
          <p:cNvGraphicFramePr>
            <a:graphicFrameLocks noGrp="1"/>
          </p:cNvGraphicFramePr>
          <p:nvPr/>
        </p:nvGraphicFramePr>
        <p:xfrm>
          <a:off x="685800" y="1783080"/>
          <a:ext cx="10835640" cy="3794760"/>
        </p:xfrm>
        <a:graphic>
          <a:graphicData uri="http://schemas.openxmlformats.org/drawingml/2006/table">
            <a:tbl>
              <a:tblPr firstRow="1" bandRow="1">
                <a:tableStyleId>{5C22544A-7EE6-4342-B048-85BDC9FD1C3A}</a:tableStyleId>
              </a:tblPr>
              <a:tblGrid>
                <a:gridCol w="3337560"/>
                <a:gridCol w="3886200"/>
                <a:gridCol w="3611880"/>
              </a:tblGrid>
              <a:tr h="758952">
                <a:tc>
                  <a:txBody>
                    <a:bodyPr/>
                    <a:lstStyle/>
                    <a:p>
                      <a:pPr>
                        <a:lnSpc>
                          <a:spcPct val="100000"/>
                        </a:lnSpc>
                      </a:pPr>
                      <a:r>
                        <a:rPr sz="1200" b="1">
                          <a:solidFill>
                            <a:srgbClr val="FFFFFF"/>
                          </a:solidFill>
                          <a:latin typeface="Malgun Gothic"/>
                          <a:ea typeface="Malgun Gothic"/>
                        </a:rPr>
                        <a:t>문제와 수정</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200" b="1">
                          <a:solidFill>
                            <a:srgbClr val="FFFFFF"/>
                          </a:solidFill>
                          <a:latin typeface="Malgun Gothic"/>
                          <a:ea typeface="Malgun Gothic"/>
                        </a:rPr>
                        <a:t>비교 결과</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200" b="1">
                          <a:solidFill>
                            <a:srgbClr val="FFFFFF"/>
                          </a:solidFill>
                          <a:latin typeface="Malgun Gothic"/>
                          <a:ea typeface="Malgun Gothic"/>
                        </a:rPr>
                        <a:t>선택·남은 점</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758952">
                <a:tc>
                  <a:txBody>
                    <a:bodyPr/>
                    <a:lstStyle/>
                    <a:p>
                      <a:pPr>
                        <a:lnSpc>
                          <a:spcPct val="100000"/>
                        </a:lnSpc>
                      </a:pPr>
                      <a:r>
                        <a:rPr sz="1200" b="0">
                          <a:solidFill>
                            <a:srgbClr val="1B2A3A"/>
                          </a:solidFill>
                          <a:latin typeface="Malgun Gothic"/>
                          <a:ea typeface="Malgun Gothic"/>
                        </a:rPr>
                        <a:t>담당·기한 누락 → 항목별 점검</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200" b="0">
                          <a:solidFill>
                            <a:srgbClr val="1B2A3A"/>
                          </a:solidFill>
                          <a:latin typeface="Malgun Gothic"/>
                          <a:ea typeface="Malgun Gothic"/>
                        </a:rPr>
                        <a:t>두 반복 통과: 기존14/20 · 후보13/20</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200" b="0">
                          <a:solidFill>
                            <a:srgbClr val="1B2A3A"/>
                          </a:solidFill>
                          <a:latin typeface="Malgun Gothic"/>
                          <a:ea typeface="Malgun Gothic"/>
                        </a:rPr>
                        <a:t>누락 점검 후보는 미채택</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758952">
                <a:tc>
                  <a:txBody>
                    <a:bodyPr/>
                    <a:lstStyle/>
                    <a:p>
                      <a:pPr>
                        <a:lnSpc>
                          <a:spcPct val="100000"/>
                        </a:lnSpc>
                      </a:pPr>
                      <a:r>
                        <a:rPr sz="1200" b="0">
                          <a:solidFill>
                            <a:srgbClr val="1B2A3A"/>
                          </a:solidFill>
                          <a:latin typeface="Malgun Gothic"/>
                          <a:ea typeface="Malgun Gothic"/>
                        </a:rPr>
                        <a:t>작성 규칙 노출 → 직접 답변 예시</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200" b="0">
                          <a:solidFill>
                            <a:srgbClr val="1B2A3A"/>
                          </a:solidFill>
                          <a:latin typeface="Malgun Gothic"/>
                          <a:ea typeface="Malgun Gothic"/>
                        </a:rPr>
                        <a:t>v5: 13문항 중11통과·2부분</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200" b="0">
                          <a:solidFill>
                            <a:srgbClr val="1B2A3A"/>
                          </a:solidFill>
                          <a:latin typeface="Malgun Gothic"/>
                          <a:ea typeface="Malgun Gothic"/>
                        </a:rPr>
                        <a:t>말투 개선, 일부 기한·담당 범위 문제 잔존</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758952">
                <a:tc>
                  <a:txBody>
                    <a:bodyPr/>
                    <a:lstStyle/>
                    <a:p>
                      <a:pPr>
                        <a:lnSpc>
                          <a:spcPct val="100000"/>
                        </a:lnSpc>
                      </a:pPr>
                      <a:r>
                        <a:rPr sz="1200" b="0">
                          <a:solidFill>
                            <a:srgbClr val="1B2A3A"/>
                          </a:solidFill>
                          <a:latin typeface="Malgun Gothic"/>
                          <a:ea typeface="Malgun Gothic"/>
                        </a:rPr>
                        <a:t>조건 변형 → 시간·선택 조건 보존</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200" b="0">
                          <a:solidFill>
                            <a:srgbClr val="1B2A3A"/>
                          </a:solidFill>
                          <a:latin typeface="Malgun Gothic"/>
                          <a:ea typeface="Malgun Gothic"/>
                        </a:rPr>
                        <a:t>중간 v4: 인수 목표를15분 대기로 변형</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200" b="0">
                          <a:solidFill>
                            <a:srgbClr val="1B2A3A"/>
                          </a:solidFill>
                          <a:latin typeface="Malgun Gothic"/>
                          <a:ea typeface="Malgun Gothic"/>
                        </a:rPr>
                        <a:t>v4 제외, v5에 조건 보존 명시</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758952">
                <a:tc>
                  <a:txBody>
                    <a:bodyPr/>
                    <a:lstStyle/>
                    <a:p>
                      <a:pPr>
                        <a:lnSpc>
                          <a:spcPct val="100000"/>
                        </a:lnSpc>
                      </a:pPr>
                      <a:r>
                        <a:rPr sz="1200" b="0">
                          <a:solidFill>
                            <a:srgbClr val="1B2A3A"/>
                          </a:solidFill>
                          <a:latin typeface="Malgun Gothic"/>
                          <a:ea typeface="Malgun Gothic"/>
                        </a:rPr>
                        <a:t>긴 문단 → 요약·불릿·절차 구분</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200" b="0">
                          <a:solidFill>
                            <a:srgbClr val="1B2A3A"/>
                          </a:solidFill>
                          <a:latin typeface="Malgun Gothic"/>
                          <a:ea typeface="Malgun Gothic"/>
                        </a:rPr>
                        <a:t>RAG 내용 통과: 기준5/8 · v6 5/8 · v7 7/8</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200" b="0">
                          <a:solidFill>
                            <a:srgbClr val="1B2A3A"/>
                          </a:solidFill>
                          <a:latin typeface="Malgun Gothic"/>
                          <a:ea typeface="Malgun Gothic"/>
                        </a:rPr>
                        <a:t>v7 선택, 사고 후속 인계 누락은 잔존</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8" name="Rounded Rectangle 7"/>
          <p:cNvSpPr/>
          <p:nvPr/>
        </p:nvSpPr>
        <p:spPr>
          <a:xfrm>
            <a:off x="685800" y="5669280"/>
            <a:ext cx="10835640" cy="393192"/>
          </a:xfrm>
          <a:prstGeom prst="roundRect">
            <a:avLst>
              <a:gd name="adj" fmla="val 1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5742432"/>
            <a:ext cx="10378440" cy="274320"/>
          </a:xfrm>
          <a:prstGeom prst="rect">
            <a:avLst/>
          </a:prstGeom>
          <a:noFill/>
        </p:spPr>
        <p:txBody>
          <a:bodyPr wrap="square" lIns="0" rIns="0" tIns="0" bIns="0">
            <a:spAutoFit/>
          </a:bodyPr>
          <a:lstStyle/>
          <a:p>
            <a:pPr>
              <a:lnSpc>
                <a:spcPct val="110000"/>
              </a:lnSpc>
              <a:spcAft>
                <a:spcPts val="400"/>
              </a:spcAft>
            </a:pPr>
            <a:r>
              <a:rPr sz="1400" b="1">
                <a:solidFill>
                  <a:srgbClr val="075E63"/>
                </a:solidFill>
                <a:latin typeface="Malgun Gothic"/>
                <a:ea typeface="Malgun Gothic"/>
              </a:rPr>
              <a:t>규칙을 추가한 후보가 항상 우수하지는 않았음 · 내용 누락과 읽기 쉬움을 함께 비교</a:t>
            </a:r>
          </a:p>
        </p:txBody>
      </p:sp>
      <p:sp>
        <p:nvSpPr>
          <p:cNvPr id="10" name="TextBox 9"/>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행마다 다른 실험 · 앞선 전체 문서 비교와 후속 RAG 비교의 점수를 합산하지 않음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AI 평가 결과를 어떻게 확인했나?</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정답 문장 하나와 비교하지 않고, 문항별 필수·금지 주장과 원문으로 판정</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A10</a:t>
            </a:r>
          </a:p>
        </p:txBody>
      </p:sp>
      <p:sp>
        <p:nvSpPr>
          <p:cNvPr id="7" name="Rounded Rectangle 6"/>
          <p:cNvSpPr/>
          <p:nvPr/>
        </p:nvSpPr>
        <p:spPr>
          <a:xfrm>
            <a:off x="685800" y="1810512"/>
            <a:ext cx="1965960" cy="594360"/>
          </a:xfrm>
          <a:prstGeom prst="roundRect">
            <a:avLst>
              <a:gd name="adj" fmla="val 1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400" b="1">
                <a:solidFill>
                  <a:srgbClr val="075E63"/>
                </a:solidFill>
                <a:latin typeface="Malgun Gothic"/>
                <a:ea typeface="Malgun Gothic"/>
              </a:rPr>
              <a:t>기준·문항 고정</a:t>
            </a:r>
          </a:p>
        </p:txBody>
      </p:sp>
      <p:cxnSp>
        <p:nvCxnSpPr>
          <p:cNvPr id="8" name="Connector 7"/>
          <p:cNvCxnSpPr/>
          <p:nvPr/>
        </p:nvCxnSpPr>
        <p:spPr>
          <a:xfrm>
            <a:off x="2670048" y="2103120"/>
            <a:ext cx="219456" cy="0"/>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9" name="Rounded Rectangle 8"/>
          <p:cNvSpPr/>
          <p:nvPr/>
        </p:nvSpPr>
        <p:spPr>
          <a:xfrm>
            <a:off x="2907792" y="1810512"/>
            <a:ext cx="1965960" cy="594360"/>
          </a:xfrm>
          <a:prstGeom prst="roundRect">
            <a:avLst>
              <a:gd name="adj" fmla="val 1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400" b="1">
                <a:solidFill>
                  <a:srgbClr val="075E63"/>
                </a:solidFill>
                <a:latin typeface="Malgun Gothic"/>
                <a:ea typeface="Malgun Gothic"/>
              </a:rPr>
              <a:t>모델명 가림</a:t>
            </a:r>
          </a:p>
        </p:txBody>
      </p:sp>
      <p:cxnSp>
        <p:nvCxnSpPr>
          <p:cNvPr id="10" name="Connector 9"/>
          <p:cNvCxnSpPr/>
          <p:nvPr/>
        </p:nvCxnSpPr>
        <p:spPr>
          <a:xfrm>
            <a:off x="4892040" y="2103120"/>
            <a:ext cx="219456" cy="0"/>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5129784" y="1810512"/>
            <a:ext cx="1965960" cy="594360"/>
          </a:xfrm>
          <a:prstGeom prst="roundRect">
            <a:avLst>
              <a:gd name="adj" fmla="val 1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400" b="1">
                <a:solidFill>
                  <a:srgbClr val="075E63"/>
                </a:solidFill>
                <a:latin typeface="Malgun Gothic"/>
                <a:ea typeface="Malgun Gothic"/>
              </a:rPr>
              <a:t>AI 독립 판정</a:t>
            </a:r>
          </a:p>
        </p:txBody>
      </p:sp>
      <p:cxnSp>
        <p:nvCxnSpPr>
          <p:cNvPr id="12" name="Connector 11"/>
          <p:cNvCxnSpPr/>
          <p:nvPr/>
        </p:nvCxnSpPr>
        <p:spPr>
          <a:xfrm>
            <a:off x="7114032" y="2103120"/>
            <a:ext cx="219456" cy="0"/>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13" name="Rounded Rectangle 12"/>
          <p:cNvSpPr/>
          <p:nvPr/>
        </p:nvSpPr>
        <p:spPr>
          <a:xfrm>
            <a:off x="7351776" y="1810512"/>
            <a:ext cx="1965960" cy="594360"/>
          </a:xfrm>
          <a:prstGeom prst="roundRect">
            <a:avLst>
              <a:gd name="adj" fmla="val 1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400" b="1">
                <a:solidFill>
                  <a:srgbClr val="075E63"/>
                </a:solidFill>
                <a:latin typeface="Malgun Gothic"/>
                <a:ea typeface="Malgun Gothic"/>
              </a:rPr>
              <a:t>원문 경계 검토</a:t>
            </a:r>
          </a:p>
        </p:txBody>
      </p:sp>
      <p:cxnSp>
        <p:nvCxnSpPr>
          <p:cNvPr id="14" name="Connector 13"/>
          <p:cNvCxnSpPr/>
          <p:nvPr/>
        </p:nvCxnSpPr>
        <p:spPr>
          <a:xfrm>
            <a:off x="9336024" y="2103120"/>
            <a:ext cx="219456" cy="0"/>
          </a:xfrm>
          <a:prstGeom prst="line">
            <a:avLst/>
          </a:prstGeom>
          <a:ln w="17780">
            <a:solidFill>
              <a:srgbClr val="5B6B7C"/>
            </a:solidFill>
            <a:tailEnd type="triangle"/>
          </a:ln>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9573768" y="1810512"/>
            <a:ext cx="1965960" cy="594360"/>
          </a:xfrm>
          <a:prstGeom prst="roundRect">
            <a:avLst>
              <a:gd name="adj" fmla="val 10000"/>
            </a:avLst>
          </a:prstGeom>
          <a:solidFill>
            <a:srgbClr val="13263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400" b="1">
                <a:solidFill>
                  <a:srgbClr val="FFFFFF"/>
                </a:solidFill>
                <a:latin typeface="Malgun Gothic"/>
                <a:ea typeface="Malgun Gothic"/>
              </a:rPr>
              <a:t>최종 집계</a:t>
            </a:r>
          </a:p>
        </p:txBody>
      </p:sp>
      <p:sp>
        <p:nvSpPr>
          <p:cNvPr id="16" name="Rounded Rectangle 15"/>
          <p:cNvSpPr/>
          <p:nvPr/>
        </p:nvSpPr>
        <p:spPr>
          <a:xfrm>
            <a:off x="685800" y="2816352"/>
            <a:ext cx="3429000" cy="1508760"/>
          </a:xfrm>
          <a:prstGeom prst="roundRect">
            <a:avLst>
              <a:gd name="adj" fmla="val 6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14400" y="2999232"/>
            <a:ext cx="2971800" cy="320040"/>
          </a:xfrm>
          <a:prstGeom prst="rect">
            <a:avLst/>
          </a:prstGeom>
          <a:noFill/>
        </p:spPr>
        <p:txBody>
          <a:bodyPr wrap="square" lIns="0" rIns="0" tIns="0" bIns="0">
            <a:spAutoFit/>
          </a:bodyPr>
          <a:lstStyle/>
          <a:p>
            <a:pPr>
              <a:lnSpc>
                <a:spcPct val="110000"/>
              </a:lnSpc>
              <a:spcAft>
                <a:spcPts val="400"/>
              </a:spcAft>
            </a:pPr>
            <a:r>
              <a:rPr sz="1800" b="1">
                <a:solidFill>
                  <a:srgbClr val="075E63"/>
                </a:solidFill>
                <a:latin typeface="Malgun Gothic"/>
                <a:ea typeface="Malgun Gothic"/>
              </a:rPr>
              <a:t>통과</a:t>
            </a:r>
          </a:p>
        </p:txBody>
      </p:sp>
      <p:sp>
        <p:nvSpPr>
          <p:cNvPr id="18" name="TextBox 17"/>
          <p:cNvSpPr txBox="1"/>
          <p:nvPr/>
        </p:nvSpPr>
        <p:spPr>
          <a:xfrm>
            <a:off x="914400" y="3538728"/>
            <a:ext cx="2971800" cy="594360"/>
          </a:xfrm>
          <a:prstGeom prst="rect">
            <a:avLst/>
          </a:prstGeom>
          <a:noFill/>
        </p:spPr>
        <p:txBody>
          <a:bodyPr wrap="square" lIns="0" rIns="0" tIns="0" bIns="0">
            <a:spAutoFit/>
          </a:bodyPr>
          <a:lstStyle/>
          <a:p>
            <a:pPr>
              <a:lnSpc>
                <a:spcPct val="120000"/>
              </a:lnSpc>
              <a:spcAft>
                <a:spcPts val="400"/>
              </a:spcAft>
            </a:pPr>
            <a:r>
              <a:rPr sz="1400" b="0">
                <a:solidFill>
                  <a:srgbClr val="1B2A3A"/>
                </a:solidFill>
                <a:latin typeface="Malgun Gothic"/>
                <a:ea typeface="Malgun Gothic"/>
              </a:rPr>
              <a:t>해당 평가 차원 충족</a:t>
            </a:r>
          </a:p>
          <a:p>
            <a:pPr>
              <a:lnSpc>
                <a:spcPct val="120000"/>
              </a:lnSpc>
              <a:spcAft>
                <a:spcPts val="400"/>
              </a:spcAft>
            </a:pPr>
            <a:r>
              <a:rPr sz="1400" b="0">
                <a:solidFill>
                  <a:srgbClr val="1B2A3A"/>
                </a:solidFill>
                <a:latin typeface="Malgun Gothic"/>
                <a:ea typeface="Malgun Gothic"/>
              </a:rPr>
              <a:t>필수 주장 모두 포함</a:t>
            </a:r>
          </a:p>
        </p:txBody>
      </p:sp>
      <p:sp>
        <p:nvSpPr>
          <p:cNvPr id="19" name="Rounded Rectangle 18"/>
          <p:cNvSpPr/>
          <p:nvPr/>
        </p:nvSpPr>
        <p:spPr>
          <a:xfrm>
            <a:off x="4389120" y="2816352"/>
            <a:ext cx="3429000" cy="1508760"/>
          </a:xfrm>
          <a:prstGeom prst="roundRect">
            <a:avLst>
              <a:gd name="adj" fmla="val 6000"/>
            </a:avLst>
          </a:prstGeom>
          <a:solidFill>
            <a:srgbClr val="FBF1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617720" y="2999232"/>
            <a:ext cx="2971800" cy="320040"/>
          </a:xfrm>
          <a:prstGeom prst="rect">
            <a:avLst/>
          </a:prstGeom>
          <a:noFill/>
        </p:spPr>
        <p:txBody>
          <a:bodyPr wrap="square" lIns="0" rIns="0" tIns="0" bIns="0">
            <a:spAutoFit/>
          </a:bodyPr>
          <a:lstStyle/>
          <a:p>
            <a:pPr>
              <a:lnSpc>
                <a:spcPct val="110000"/>
              </a:lnSpc>
              <a:spcAft>
                <a:spcPts val="400"/>
              </a:spcAft>
            </a:pPr>
            <a:r>
              <a:rPr sz="1800" b="1">
                <a:solidFill>
                  <a:srgbClr val="B9822A"/>
                </a:solidFill>
                <a:latin typeface="Malgun Gothic"/>
                <a:ea typeface="Malgun Gothic"/>
              </a:rPr>
              <a:t>부분 충족</a:t>
            </a:r>
          </a:p>
        </p:txBody>
      </p:sp>
      <p:sp>
        <p:nvSpPr>
          <p:cNvPr id="21" name="TextBox 20"/>
          <p:cNvSpPr txBox="1"/>
          <p:nvPr/>
        </p:nvSpPr>
        <p:spPr>
          <a:xfrm>
            <a:off x="4617720" y="3538728"/>
            <a:ext cx="2971800" cy="594360"/>
          </a:xfrm>
          <a:prstGeom prst="rect">
            <a:avLst/>
          </a:prstGeom>
          <a:noFill/>
        </p:spPr>
        <p:txBody>
          <a:bodyPr wrap="square" lIns="0" rIns="0" tIns="0" bIns="0">
            <a:spAutoFit/>
          </a:bodyPr>
          <a:lstStyle/>
          <a:p>
            <a:pPr>
              <a:lnSpc>
                <a:spcPct val="120000"/>
              </a:lnSpc>
              <a:spcAft>
                <a:spcPts val="400"/>
              </a:spcAft>
            </a:pPr>
            <a:r>
              <a:rPr sz="1400" b="0">
                <a:solidFill>
                  <a:srgbClr val="1B2A3A"/>
                </a:solidFill>
                <a:latin typeface="Malgun Gothic"/>
                <a:ea typeface="Malgun Gothic"/>
              </a:rPr>
              <a:t>중요한 사실 오류는 없지만</a:t>
            </a:r>
          </a:p>
          <a:p>
            <a:pPr>
              <a:lnSpc>
                <a:spcPct val="120000"/>
              </a:lnSpc>
              <a:spcAft>
                <a:spcPts val="400"/>
              </a:spcAft>
            </a:pPr>
            <a:r>
              <a:rPr sz="1400" b="0">
                <a:solidFill>
                  <a:srgbClr val="1B2A3A"/>
                </a:solidFill>
                <a:latin typeface="Malgun Gothic"/>
                <a:ea typeface="Malgun Gothic"/>
              </a:rPr>
              <a:t>필요한 안내가 빠짐</a:t>
            </a:r>
          </a:p>
        </p:txBody>
      </p:sp>
      <p:sp>
        <p:nvSpPr>
          <p:cNvPr id="22" name="Rounded Rectangle 21"/>
          <p:cNvSpPr/>
          <p:nvPr/>
        </p:nvSpPr>
        <p:spPr>
          <a:xfrm>
            <a:off x="8092440" y="2816352"/>
            <a:ext cx="3429000" cy="1508760"/>
          </a:xfrm>
          <a:prstGeom prst="roundRect">
            <a:avLst>
              <a:gd name="adj" fmla="val 6000"/>
            </a:avLst>
          </a:prstGeom>
          <a:solidFill>
            <a:srgbClr val="FBE9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21040" y="2999232"/>
            <a:ext cx="2971800" cy="320040"/>
          </a:xfrm>
          <a:prstGeom prst="rect">
            <a:avLst/>
          </a:prstGeom>
          <a:noFill/>
        </p:spPr>
        <p:txBody>
          <a:bodyPr wrap="square" lIns="0" rIns="0" tIns="0" bIns="0">
            <a:spAutoFit/>
          </a:bodyPr>
          <a:lstStyle/>
          <a:p>
            <a:pPr>
              <a:lnSpc>
                <a:spcPct val="110000"/>
              </a:lnSpc>
              <a:spcAft>
                <a:spcPts val="400"/>
              </a:spcAft>
            </a:pPr>
            <a:r>
              <a:rPr sz="1800" b="1">
                <a:solidFill>
                  <a:srgbClr val="C2553F"/>
                </a:solidFill>
                <a:latin typeface="Malgun Gothic"/>
                <a:ea typeface="Malgun Gothic"/>
              </a:rPr>
              <a:t>실패</a:t>
            </a:r>
          </a:p>
        </p:txBody>
      </p:sp>
      <p:sp>
        <p:nvSpPr>
          <p:cNvPr id="24" name="TextBox 23"/>
          <p:cNvSpPr txBox="1"/>
          <p:nvPr/>
        </p:nvSpPr>
        <p:spPr>
          <a:xfrm>
            <a:off x="8321040" y="3538728"/>
            <a:ext cx="2971800" cy="594360"/>
          </a:xfrm>
          <a:prstGeom prst="rect">
            <a:avLst/>
          </a:prstGeom>
          <a:noFill/>
        </p:spPr>
        <p:txBody>
          <a:bodyPr wrap="square" lIns="0" rIns="0" tIns="0" bIns="0">
            <a:spAutoFit/>
          </a:bodyPr>
          <a:lstStyle/>
          <a:p>
            <a:pPr>
              <a:lnSpc>
                <a:spcPct val="120000"/>
              </a:lnSpc>
              <a:spcAft>
                <a:spcPts val="400"/>
              </a:spcAft>
            </a:pPr>
            <a:r>
              <a:rPr sz="1400" b="0">
                <a:solidFill>
                  <a:srgbClr val="1B2A3A"/>
                </a:solidFill>
                <a:latin typeface="Malgun Gothic"/>
                <a:ea typeface="Malgun Gothic"/>
              </a:rPr>
              <a:t>중요한 정책·권한·조건 오류</a:t>
            </a:r>
          </a:p>
          <a:p>
            <a:pPr>
              <a:lnSpc>
                <a:spcPct val="120000"/>
              </a:lnSpc>
              <a:spcAft>
                <a:spcPts val="400"/>
              </a:spcAft>
            </a:pPr>
            <a:r>
              <a:rPr sz="1400" b="0">
                <a:solidFill>
                  <a:srgbClr val="1B2A3A"/>
                </a:solidFill>
                <a:latin typeface="Malgun Gothic"/>
                <a:ea typeface="Malgun Gothic"/>
              </a:rPr>
              <a:t>또는 생성·출력 형식 실패</a:t>
            </a:r>
          </a:p>
        </p:txBody>
      </p:sp>
      <p:sp>
        <p:nvSpPr>
          <p:cNvPr id="25" name="TextBox 24"/>
          <p:cNvSpPr txBox="1"/>
          <p:nvPr/>
        </p:nvSpPr>
        <p:spPr>
          <a:xfrm>
            <a:off x="731520" y="4718304"/>
            <a:ext cx="10789920" cy="365760"/>
          </a:xfrm>
          <a:prstGeom prst="rect">
            <a:avLst/>
          </a:prstGeom>
          <a:noFill/>
        </p:spPr>
        <p:txBody>
          <a:bodyPr wrap="square" lIns="0" rIns="0" tIns="0" bIns="0">
            <a:spAutoFit/>
          </a:bodyPr>
          <a:lstStyle/>
          <a:p>
            <a:pPr>
              <a:lnSpc>
                <a:spcPct val="110000"/>
              </a:lnSpc>
              <a:spcAft>
                <a:spcPts val="400"/>
              </a:spcAft>
            </a:pPr>
            <a:r>
              <a:rPr sz="1700" b="1">
                <a:solidFill>
                  <a:srgbClr val="075E63"/>
                </a:solidFill>
                <a:latin typeface="Malgun Gothic"/>
                <a:ea typeface="Malgun Gothic"/>
              </a:rPr>
              <a:t>80응답 판정 + 경계 재판정 10건 · 수정 전후와 이유 보존</a:t>
            </a:r>
          </a:p>
        </p:txBody>
      </p:sp>
      <p:sp>
        <p:nvSpPr>
          <p:cNvPr id="26" name="TextBox 25"/>
          <p:cNvSpPr txBox="1"/>
          <p:nvPr/>
        </p:nvSpPr>
        <p:spPr>
          <a:xfrm>
            <a:off x="731520" y="5330952"/>
            <a:ext cx="10789920" cy="566928"/>
          </a:xfrm>
          <a:prstGeom prst="rect">
            <a:avLst/>
          </a:prstGeom>
          <a:noFill/>
        </p:spPr>
        <p:txBody>
          <a:bodyPr wrap="square" lIns="0" rIns="0" tIns="0" bIns="0">
            <a:spAutoFit/>
          </a:bodyPr>
          <a:lstStyle/>
          <a:p>
            <a:pPr>
              <a:lnSpc>
                <a:spcPct val="120000"/>
              </a:lnSpc>
              <a:spcAft>
                <a:spcPts val="400"/>
              </a:spcAft>
            </a:pPr>
            <a:r>
              <a:rPr sz="1400" b="0">
                <a:solidFill>
                  <a:srgbClr val="1B2A3A"/>
                </a:solidFill>
                <a:latin typeface="Malgun Gothic"/>
                <a:ea typeface="Malgun Gothic"/>
              </a:rPr>
              <a:t>불확실은 통과로 합산하지 않음 · 실패 응답도 분모에 포함</a:t>
            </a:r>
          </a:p>
          <a:p>
            <a:pPr>
              <a:lnSpc>
                <a:spcPct val="120000"/>
              </a:lnSpc>
              <a:spcAft>
                <a:spcPts val="400"/>
              </a:spcAft>
            </a:pPr>
            <a:r>
              <a:rPr sz="1400" b="0">
                <a:solidFill>
                  <a:srgbClr val="1B2A3A"/>
                </a:solidFill>
                <a:latin typeface="Malgun Gothic"/>
                <a:ea typeface="Malgun Gothic"/>
              </a:rPr>
              <a:t>동일 문항의 두 반복 통과를 별도로 집계해 한 번의 우연한 성공과 구분</a:t>
            </a:r>
          </a:p>
        </p:txBody>
      </p:sp>
      <p:sp>
        <p:nvSpPr>
          <p:cNvPr id="27" name="TextBox 26"/>
          <p:cNvSpPr txBox="1"/>
          <p:nvPr/>
        </p:nvSpPr>
        <p:spPr>
          <a:xfrm>
            <a:off x="685800" y="6053328"/>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합성 문항·AI 판정에 대한 개발 비교 · 사람 평가·실사용 정확도·통계적 우월성 증명이 아님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사내비는 어떤 답변을 제공하나?</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업무 질문에는 문서 기반 안내 · 업무와 무관한 질문에는 지원 범위 안내</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A11</a:t>
            </a:r>
          </a:p>
        </p:txBody>
      </p:sp>
      <p:sp>
        <p:nvSpPr>
          <p:cNvPr id="7" name="Rounded Rectangle 6"/>
          <p:cNvSpPr/>
          <p:nvPr/>
        </p:nvSpPr>
        <p:spPr>
          <a:xfrm>
            <a:off x="685800" y="1783080"/>
            <a:ext cx="5349240" cy="3383280"/>
          </a:xfrm>
          <a:prstGeom prst="roundRect">
            <a:avLst>
              <a:gd name="adj" fmla="val 4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60120" y="1938528"/>
            <a:ext cx="4846320" cy="411480"/>
          </a:xfrm>
          <a:prstGeom prst="rect">
            <a:avLst/>
          </a:prstGeom>
          <a:noFill/>
        </p:spPr>
        <p:txBody>
          <a:bodyPr wrap="square" lIns="0" rIns="0" tIns="0" bIns="0">
            <a:spAutoFit/>
          </a:bodyPr>
          <a:lstStyle/>
          <a:p>
            <a:pPr>
              <a:lnSpc>
                <a:spcPct val="110000"/>
              </a:lnSpc>
              <a:spcAft>
                <a:spcPts val="400"/>
              </a:spcAft>
            </a:pPr>
            <a:r>
              <a:rPr sz="1600" b="1">
                <a:solidFill>
                  <a:srgbClr val="13263C"/>
                </a:solidFill>
                <a:latin typeface="Malgun Gothic"/>
                <a:ea typeface="Malgun Gothic"/>
              </a:rPr>
              <a:t>“우리 회사 연차 규정에 대해 알려줘”</a:t>
            </a:r>
          </a:p>
        </p:txBody>
      </p:sp>
      <p:sp>
        <p:nvSpPr>
          <p:cNvPr id="9" name="Rounded Rectangle 8"/>
          <p:cNvSpPr/>
          <p:nvPr/>
        </p:nvSpPr>
        <p:spPr>
          <a:xfrm>
            <a:off x="960120" y="2450592"/>
            <a:ext cx="4800600" cy="329184"/>
          </a:xfrm>
          <a:prstGeom prst="roundRect">
            <a:avLst>
              <a:gd name="adj" fmla="val 5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100" b="1">
                <a:solidFill>
                  <a:srgbClr val="075E63"/>
                </a:solidFill>
                <a:latin typeface="Malgun Gothic"/>
                <a:ea typeface="Malgun Gothic"/>
              </a:rPr>
              <a:t>분류가 범위 밖으로 예측했지만 문서 기준으로 안내</a:t>
            </a:r>
          </a:p>
        </p:txBody>
      </p:sp>
      <p:sp>
        <p:nvSpPr>
          <p:cNvPr id="10" name="TextBox 9"/>
          <p:cNvSpPr txBox="1"/>
          <p:nvPr/>
        </p:nvSpPr>
        <p:spPr>
          <a:xfrm>
            <a:off x="960120" y="2971800"/>
            <a:ext cx="4846320" cy="2743200"/>
          </a:xfrm>
          <a:prstGeom prst="rect">
            <a:avLst/>
          </a:prstGeom>
          <a:noFill/>
        </p:spPr>
        <p:txBody>
          <a:bodyPr wrap="square" lIns="0" rIns="0" tIns="0" bIns="0">
            <a:spAutoFit/>
          </a:bodyPr>
          <a:lstStyle/>
          <a:p>
            <a:pPr>
              <a:lnSpc>
                <a:spcPct val="115000"/>
              </a:lnSpc>
              <a:spcAft>
                <a:spcPts val="400"/>
              </a:spcAft>
            </a:pPr>
            <a:r>
              <a:rPr sz="1400" b="0">
                <a:solidFill>
                  <a:srgbClr val="1B2A3A"/>
                </a:solidFill>
                <a:latin typeface="Malgun Gothic"/>
                <a:ea typeface="Malgun Gothic"/>
              </a:rPr>
              <a:t>예정된 연차: 사용 시작일 기준 3영업일 전까지 이음 포털 인사 &gt; 휴가에서 신청합니다. … 신청 후: 포털에서 접수 상태를 확인합니다. 팀장은 접수 후 1영업일 안에 승인하거나 People팀 확인 필요 상태를 남깁니다. …</a:t>
            </a:r>
          </a:p>
        </p:txBody>
      </p:sp>
      <p:sp>
        <p:nvSpPr>
          <p:cNvPr id="11" name="Rounded Rectangle 10"/>
          <p:cNvSpPr/>
          <p:nvPr/>
        </p:nvSpPr>
        <p:spPr>
          <a:xfrm>
            <a:off x="6172200" y="1783080"/>
            <a:ext cx="5349240" cy="3383280"/>
          </a:xfrm>
          <a:prstGeom prst="roundRect">
            <a:avLst>
              <a:gd name="adj" fmla="val 4000"/>
            </a:avLst>
          </a:prstGeom>
          <a:solidFill>
            <a:srgbClr val="FFFFFF"/>
          </a:solidFill>
          <a:ln w="9525">
            <a:solidFill>
              <a:srgbClr val="E2E8E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46520" y="1938528"/>
            <a:ext cx="4846320" cy="411480"/>
          </a:xfrm>
          <a:prstGeom prst="rect">
            <a:avLst/>
          </a:prstGeom>
          <a:noFill/>
        </p:spPr>
        <p:txBody>
          <a:bodyPr wrap="square" lIns="0" rIns="0" tIns="0" bIns="0">
            <a:spAutoFit/>
          </a:bodyPr>
          <a:lstStyle/>
          <a:p>
            <a:pPr>
              <a:lnSpc>
                <a:spcPct val="110000"/>
              </a:lnSpc>
              <a:spcAft>
                <a:spcPts val="400"/>
              </a:spcAft>
            </a:pPr>
            <a:r>
              <a:rPr sz="1600" b="1">
                <a:solidFill>
                  <a:srgbClr val="13263C"/>
                </a:solidFill>
                <a:latin typeface="Malgun Gothic"/>
                <a:ea typeface="Malgun Gothic"/>
              </a:rPr>
              <a:t>“세그먼트 트리에 대해 설명해줘”</a:t>
            </a:r>
          </a:p>
        </p:txBody>
      </p:sp>
      <p:sp>
        <p:nvSpPr>
          <p:cNvPr id="13" name="Rounded Rectangle 12"/>
          <p:cNvSpPr/>
          <p:nvPr/>
        </p:nvSpPr>
        <p:spPr>
          <a:xfrm>
            <a:off x="6446520" y="2450592"/>
            <a:ext cx="4800600" cy="329184"/>
          </a:xfrm>
          <a:prstGeom prst="roundRect">
            <a:avLst>
              <a:gd name="adj" fmla="val 50000"/>
            </a:avLst>
          </a:prstGeom>
          <a:solidFill>
            <a:srgbClr val="DDF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18288" bIns="18288"/>
          <a:lstStyle/>
          <a:p>
            <a:pPr algn="ctr">
              <a:lnSpc>
                <a:spcPct val="105000"/>
              </a:lnSpc>
            </a:pPr>
            <a:r>
              <a:rPr sz="1100" b="1">
                <a:solidFill>
                  <a:srgbClr val="075E63"/>
                </a:solidFill>
                <a:latin typeface="Malgun Gothic"/>
                <a:ea typeface="Malgun Gothic"/>
              </a:rPr>
              <a:t>업무와 무관한 질문에 서비스의 지원 범위를 안내</a:t>
            </a:r>
          </a:p>
        </p:txBody>
      </p:sp>
      <p:sp>
        <p:nvSpPr>
          <p:cNvPr id="14" name="TextBox 13"/>
          <p:cNvSpPr txBox="1"/>
          <p:nvPr/>
        </p:nvSpPr>
        <p:spPr>
          <a:xfrm>
            <a:off x="6446520" y="2971800"/>
            <a:ext cx="4846320" cy="2743200"/>
          </a:xfrm>
          <a:prstGeom prst="rect">
            <a:avLst/>
          </a:prstGeom>
          <a:noFill/>
        </p:spPr>
        <p:txBody>
          <a:bodyPr wrap="square" lIns="0" rIns="0" tIns="0" bIns="0">
            <a:spAutoFit/>
          </a:bodyPr>
          <a:lstStyle/>
          <a:p>
            <a:pPr>
              <a:lnSpc>
                <a:spcPct val="115000"/>
              </a:lnSpc>
              <a:spcAft>
                <a:spcPts val="400"/>
              </a:spcAft>
            </a:pPr>
            <a:r>
              <a:rPr sz="1400" b="0">
                <a:solidFill>
                  <a:srgbClr val="1B2A3A"/>
                </a:solidFill>
                <a:latin typeface="Malgun Gothic"/>
                <a:ea typeface="Malgun Gothic"/>
              </a:rPr>
              <a:t>사내비는 이음웍스의 사내 업무 정보와 절차를 안내하는 서비스라, 세그먼트 트리 같은 일반 지식 설명은 도와드리기 어렵습니다. 회사 업무나 시스템에서 세그먼트 트리를 어떻게 사용하는지 궁금하신 경우에는 그 맥락을 알려 주세요.</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56616"/>
            <a:ext cx="4572000" cy="274320"/>
          </a:xfrm>
          <a:prstGeom prst="rect">
            <a:avLst/>
          </a:prstGeom>
          <a:noFill/>
        </p:spPr>
        <p:txBody>
          <a:bodyPr wrap="square" lIns="0" rIns="0" tIns="0" bIns="0">
            <a:spAutoFit/>
          </a:bodyPr>
          <a:lstStyle/>
          <a:p>
            <a:pPr>
              <a:lnSpc>
                <a:spcPct val="110000"/>
              </a:lnSpc>
              <a:spcAft>
                <a:spcPts val="400"/>
              </a:spcAft>
            </a:pPr>
            <a:r>
              <a:rPr sz="1200" b="1">
                <a:solidFill>
                  <a:srgbClr val="0A7E85"/>
                </a:solidFill>
                <a:latin typeface="Malgun Gothic"/>
                <a:ea typeface="Malgun Gothic"/>
              </a:rPr>
              <a:t>부록 · Q&amp;A</a:t>
            </a:r>
          </a:p>
        </p:txBody>
      </p:sp>
      <p:sp>
        <p:nvSpPr>
          <p:cNvPr id="3" name="TextBox 2"/>
          <p:cNvSpPr txBox="1"/>
          <p:nvPr/>
        </p:nvSpPr>
        <p:spPr>
          <a:xfrm>
            <a:off x="685800" y="713232"/>
            <a:ext cx="10835640" cy="548640"/>
          </a:xfrm>
          <a:prstGeom prst="rect">
            <a:avLst/>
          </a:prstGeom>
          <a:noFill/>
        </p:spPr>
        <p:txBody>
          <a:bodyPr wrap="square" lIns="0" rIns="0" tIns="0" bIns="0">
            <a:spAutoFit/>
          </a:bodyPr>
          <a:lstStyle/>
          <a:p>
            <a:pPr>
              <a:lnSpc>
                <a:spcPct val="110000"/>
              </a:lnSpc>
              <a:spcAft>
                <a:spcPts val="400"/>
              </a:spcAft>
            </a:pPr>
            <a:r>
              <a:rPr sz="2800" b="1">
                <a:solidFill>
                  <a:srgbClr val="13263C"/>
                </a:solidFill>
                <a:latin typeface="Malgun Gothic"/>
                <a:ea typeface="Malgun Gothic"/>
              </a:rPr>
              <a:t>어떤 자료와 기록을 참고했나?</a:t>
            </a:r>
          </a:p>
        </p:txBody>
      </p:sp>
      <p:sp>
        <p:nvSpPr>
          <p:cNvPr id="4" name="TextBox 3"/>
          <p:cNvSpPr txBox="1"/>
          <p:nvPr/>
        </p:nvSpPr>
        <p:spPr>
          <a:xfrm>
            <a:off x="704088" y="1298448"/>
            <a:ext cx="10789920" cy="347472"/>
          </a:xfrm>
          <a:prstGeom prst="rect">
            <a:avLst/>
          </a:prstGeom>
          <a:noFill/>
        </p:spPr>
        <p:txBody>
          <a:bodyPr wrap="square" lIns="0" rIns="0" tIns="0" bIns="0">
            <a:spAutoFit/>
          </a:bodyPr>
          <a:lstStyle/>
          <a:p>
            <a:pPr>
              <a:lnSpc>
                <a:spcPct val="110000"/>
              </a:lnSpc>
              <a:spcAft>
                <a:spcPts val="400"/>
              </a:spcAft>
            </a:pPr>
            <a:r>
              <a:rPr sz="1500" b="0">
                <a:solidFill>
                  <a:srgbClr val="5B6B7C"/>
                </a:solidFill>
                <a:latin typeface="Malgun Gothic"/>
                <a:ea typeface="Malgun Gothic"/>
              </a:rPr>
              <a:t>외부 자료, 회사 고유 결정, 실제 실험 기록을 구분했습니다</a:t>
            </a:r>
          </a:p>
        </p:txBody>
      </p:sp>
      <p:sp>
        <p:nvSpPr>
          <p:cNvPr id="5" name="TextBox 4"/>
          <p:cNvSpPr txBox="1"/>
          <p:nvPr/>
        </p:nvSpPr>
        <p:spPr>
          <a:xfrm>
            <a:off x="685800" y="6464808"/>
            <a:ext cx="5486400" cy="228600"/>
          </a:xfrm>
          <a:prstGeom prst="rect">
            <a:avLst/>
          </a:prstGeom>
          <a:noFill/>
        </p:spPr>
        <p:txBody>
          <a:bodyPr wrap="square" lIns="0" rIns="0" tIns="0" bIns="0">
            <a:spAutoFit/>
          </a:bodyPr>
          <a:lstStyle/>
          <a:p>
            <a:pPr>
              <a:lnSpc>
                <a:spcPct val="110000"/>
              </a:lnSpc>
              <a:spcAft>
                <a:spcPts val="400"/>
              </a:spcAft>
            </a:pPr>
            <a:r>
              <a:rPr sz="1000" b="0">
                <a:solidFill>
                  <a:srgbClr val="5B6B7C"/>
                </a:solidFill>
                <a:latin typeface="Malgun Gothic"/>
                <a:ea typeface="Malgun Gothic"/>
              </a:rPr>
              <a:t>LinkUp · 사내비 프로젝트</a:t>
            </a:r>
          </a:p>
        </p:txBody>
      </p:sp>
      <p:sp>
        <p:nvSpPr>
          <p:cNvPr id="6" name="TextBox 5"/>
          <p:cNvSpPr txBox="1"/>
          <p:nvPr/>
        </p:nvSpPr>
        <p:spPr>
          <a:xfrm>
            <a:off x="10881360" y="6437376"/>
            <a:ext cx="640080" cy="274320"/>
          </a:xfrm>
          <a:prstGeom prst="rect">
            <a:avLst/>
          </a:prstGeom>
          <a:noFill/>
        </p:spPr>
        <p:txBody>
          <a:bodyPr wrap="square" lIns="0" rIns="0" tIns="0" bIns="0">
            <a:spAutoFit/>
          </a:bodyPr>
          <a:lstStyle/>
          <a:p>
            <a:pPr algn="r">
              <a:lnSpc>
                <a:spcPct val="110000"/>
              </a:lnSpc>
              <a:spcAft>
                <a:spcPts val="400"/>
              </a:spcAft>
            </a:pPr>
            <a:r>
              <a:rPr sz="1100" b="1">
                <a:solidFill>
                  <a:srgbClr val="0A7E85"/>
                </a:solidFill>
                <a:latin typeface="Malgun Gothic"/>
                <a:ea typeface="Malgun Gothic"/>
              </a:rPr>
              <a:t>A12</a:t>
            </a:r>
          </a:p>
        </p:txBody>
      </p:sp>
      <p:graphicFrame>
        <p:nvGraphicFramePr>
          <p:cNvPr id="7" name="Table 6"/>
          <p:cNvGraphicFramePr>
            <a:graphicFrameLocks noGrp="1"/>
          </p:cNvGraphicFramePr>
          <p:nvPr/>
        </p:nvGraphicFramePr>
        <p:xfrm>
          <a:off x="685800" y="1783080"/>
          <a:ext cx="10835640" cy="3291840"/>
        </p:xfrm>
        <a:graphic>
          <a:graphicData uri="http://schemas.openxmlformats.org/drawingml/2006/table">
            <a:tbl>
              <a:tblPr firstRow="1" bandRow="1">
                <a:tableStyleId>{5C22544A-7EE6-4342-B048-85BDC9FD1C3A}</a:tableStyleId>
              </a:tblPr>
              <a:tblGrid>
                <a:gridCol w="2011680"/>
                <a:gridCol w="4160520"/>
                <a:gridCol w="4663440"/>
              </a:tblGrid>
              <a:tr h="548640">
                <a:tc>
                  <a:txBody>
                    <a:bodyPr/>
                    <a:lstStyle/>
                    <a:p>
                      <a:pPr>
                        <a:lnSpc>
                          <a:spcPct val="100000"/>
                        </a:lnSpc>
                      </a:pPr>
                      <a:r>
                        <a:rPr sz="1400" b="1">
                          <a:solidFill>
                            <a:srgbClr val="FFFFFF"/>
                          </a:solidFill>
                          <a:latin typeface="Malgun Gothic"/>
                          <a:ea typeface="Malgun Gothic"/>
                        </a:rPr>
                        <a:t>설계</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1">
                          <a:solidFill>
                            <a:srgbClr val="FFFFFF"/>
                          </a:solidFill>
                          <a:latin typeface="Malgun Gothic"/>
                          <a:ea typeface="Malgun Gothic"/>
                        </a:rPr>
                        <a:t>출처</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1">
                          <a:solidFill>
                            <a:srgbClr val="FFFFFF"/>
                          </a:solidFill>
                          <a:latin typeface="Malgun Gothic"/>
                          <a:ea typeface="Malgun Gothic"/>
                        </a:rPr>
                        <a:t>사내비에 적용한 점</a:t>
                      </a:r>
                    </a:p>
                  </a:txBody>
                  <a:tcPr marL="128016" marR="91440" marT="36576" marB="27432" anchor="ctr">
                    <a:solidFill>
                      <a:srgbClr val="13263C"/>
                    </a:solidFill>
                    <a:lnL w="6350">
                      <a:solidFill>
                        <a:srgbClr val="E2E8EE"/>
                      </a:solidFill>
                    </a:lnL>
                    <a:lnR w="6350">
                      <a:solidFill>
                        <a:srgbClr val="E2E8EE"/>
                      </a:solidFill>
                    </a:lnR>
                    <a:lnT w="6350">
                      <a:solidFill>
                        <a:srgbClr val="E2E8EE"/>
                      </a:solidFill>
                    </a:lnT>
                    <a:lnB w="6350">
                      <a:solidFill>
                        <a:srgbClr val="E2E8EE"/>
                      </a:solidFill>
                    </a:lnB>
                  </a:tcPr>
                </a:tc>
              </a:tr>
              <a:tr h="548640">
                <a:tc>
                  <a:txBody>
                    <a:bodyPr/>
                    <a:lstStyle/>
                    <a:p>
                      <a:pPr>
                        <a:lnSpc>
                          <a:spcPct val="100000"/>
                        </a:lnSpc>
                      </a:pPr>
                      <a:r>
                        <a:rPr sz="1400" b="0">
                          <a:solidFill>
                            <a:srgbClr val="1B2A3A"/>
                          </a:solidFill>
                          <a:latin typeface="Malgun Gothic"/>
                          <a:ea typeface="Malgun Gothic"/>
                        </a:rPr>
                        <a:t>Routing</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Anthropic “Building Effective Agents” · LangChain Workflows</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질문 분류 단계 · 처리가 다른 요청을 먼저 나눔</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48640">
                <a:tc>
                  <a:txBody>
                    <a:bodyPr/>
                    <a:lstStyle/>
                    <a:p>
                      <a:pPr>
                        <a:lnSpc>
                          <a:spcPct val="100000"/>
                        </a:lnSpc>
                      </a:pPr>
                      <a:r>
                        <a:rPr sz="1400" b="0">
                          <a:solidFill>
                            <a:srgbClr val="1B2A3A"/>
                          </a:solidFill>
                          <a:latin typeface="Malgun Gothic"/>
                          <a:ea typeface="Malgun Gothic"/>
                        </a:rPr>
                        <a:t>전체 문서 입력</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Anthropic “Contextual Retrieval”</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작은 지식 집합은 전체 입력 가능 → 초기 설계</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48640">
                <a:tc>
                  <a:txBody>
                    <a:bodyPr/>
                    <a:lstStyle/>
                    <a:p>
                      <a:pPr>
                        <a:lnSpc>
                          <a:spcPct val="100000"/>
                        </a:lnSpc>
                      </a:pPr>
                      <a:r>
                        <a:rPr sz="1400" b="0">
                          <a:solidFill>
                            <a:srgbClr val="1B2A3A"/>
                          </a:solidFill>
                          <a:latin typeface="Malgun Gothic"/>
                          <a:ea typeface="Malgun Gothic"/>
                        </a:rPr>
                        <a:t>긴 입력의 한계</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Liu et al. “Lost in the Middle” (TACL 2024)</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정보 위치에 따른 성능 차이 → RAG 전환 근거</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48640">
                <a:tc>
                  <a:txBody>
                    <a:bodyPr/>
                    <a:lstStyle/>
                    <a:p>
                      <a:pPr>
                        <a:lnSpc>
                          <a:spcPct val="100000"/>
                        </a:lnSpc>
                      </a:pPr>
                      <a:r>
                        <a:rPr sz="1400" b="0">
                          <a:solidFill>
                            <a:srgbClr val="1B2A3A"/>
                          </a:solidFill>
                          <a:latin typeface="Malgun Gothic"/>
                          <a:ea typeface="Malgun Gothic"/>
                        </a:rPr>
                        <a:t>RAG · 근거 한정</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Microsoft RAG 안내 · Azure·AWS·NVIDIA 공개 참조</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근거와 지침 분리 · 검색 → 근거 한정 생성</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r h="548640">
                <a:tc>
                  <a:txBody>
                    <a:bodyPr/>
                    <a:lstStyle/>
                    <a:p>
                      <a:pPr>
                        <a:lnSpc>
                          <a:spcPct val="100000"/>
                        </a:lnSpc>
                      </a:pPr>
                      <a:r>
                        <a:rPr sz="1400" b="0">
                          <a:solidFill>
                            <a:srgbClr val="1B2A3A"/>
                          </a:solidFill>
                          <a:latin typeface="Malgun Gothic"/>
                          <a:ea typeface="Malgun Gothic"/>
                        </a:rPr>
                        <a:t>문서 작성</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GitLab·PostHog 공개 핸드북 · 국내 공식 자료</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c>
                  <a:txBody>
                    <a:bodyPr/>
                    <a:lstStyle/>
                    <a:p>
                      <a:pPr>
                        <a:lnSpc>
                          <a:spcPct val="100000"/>
                        </a:lnSpc>
                      </a:pPr>
                      <a:r>
                        <a:rPr sz="1400" b="0">
                          <a:solidFill>
                            <a:srgbClr val="1B2A3A"/>
                          </a:solidFill>
                          <a:latin typeface="Malgun Gothic"/>
                          <a:ea typeface="Malgun Gothic"/>
                        </a:rPr>
                        <a:t>가상 회사 결정 → LLM 작성 → 별도 AI 검수</a:t>
                      </a:r>
                    </a:p>
                  </a:txBody>
                  <a:tcPr marL="128016" marR="91440" marT="36576" marB="27432" anchor="ctr">
                    <a:solidFill>
                      <a:srgbClr val="FFFFFF"/>
                    </a:solidFill>
                    <a:lnL w="6350">
                      <a:solidFill>
                        <a:srgbClr val="E2E8EE"/>
                      </a:solidFill>
                    </a:lnL>
                    <a:lnR w="6350">
                      <a:solidFill>
                        <a:srgbClr val="E2E8EE"/>
                      </a:solidFill>
                    </a:lnR>
                    <a:lnT w="6350">
                      <a:solidFill>
                        <a:srgbClr val="E2E8EE"/>
                      </a:solidFill>
                    </a:lnT>
                    <a:lnB w="6350">
                      <a:solidFill>
                        <a:srgbClr val="E2E8EE"/>
                      </a:solidFill>
                    </a:lnB>
                  </a:tcPr>
                </a:tc>
              </a:tr>
            </a:tbl>
          </a:graphicData>
        </a:graphic>
      </p:graphicFrame>
      <p:sp>
        <p:nvSpPr>
          <p:cNvPr id="8" name="TextBox 7"/>
          <p:cNvSpPr txBox="1"/>
          <p:nvPr/>
        </p:nvSpPr>
        <p:spPr>
          <a:xfrm>
            <a:off x="685800" y="5349240"/>
            <a:ext cx="10835640" cy="274320"/>
          </a:xfrm>
          <a:prstGeom prst="rect">
            <a:avLst/>
          </a:prstGeom>
          <a:noFill/>
        </p:spPr>
        <p:txBody>
          <a:bodyPr wrap="square" lIns="0" rIns="0" tIns="0" bIns="0">
            <a:spAutoFit/>
          </a:bodyPr>
          <a:lstStyle/>
          <a:p>
            <a:pPr>
              <a:lnSpc>
                <a:spcPct val="110000"/>
              </a:lnSpc>
              <a:spcAft>
                <a:spcPts val="400"/>
              </a:spcAft>
            </a:pPr>
            <a:r>
              <a:rPr sz="1100" b="0">
                <a:solidFill>
                  <a:srgbClr val="5B6B7C"/>
                </a:solidFill>
                <a:latin typeface="Malgun Gothic"/>
                <a:ea typeface="Malgun Gothic"/>
              </a:rPr>
              <a:t>외부 자료는 설계의 출처이며 서비스 성능의 입증 자료가 아님 · 세 라벨이나 문서 작성 과정을 기업 공통 표준으로 소개하지 않음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A7E85"/>
      </a:hlink>
      <a:folHlink>
        <a:srgbClr val="0A7E8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사내비 프로젝트 결과 발표 — 개정3</dc:title>
  <dc:subject>가상 회사 이음웍스의 서비스 출시를 콘셉트로 한 프로젝트 결과 발표</dc:subject>
  <dc:creator>LinkUp</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